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7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D2"/>
    <a:srgbClr val="CC3300"/>
    <a:srgbClr val="B17E79"/>
    <a:srgbClr val="AD60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482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0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543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IAFMNet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008222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39C12"/>
                </a:solidFill>
                <a:cs typeface="+mj-cs"/>
              </a:rPr>
              <a:t>Information-Aware Feature Modulation</a:t>
            </a:r>
            <a:endParaRPr lang="en-US" sz="2400" dirty="0">
              <a:cs typeface="+mj-cs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F39C12"/>
                </a:solidFill>
                <a:cs typeface="+mj-cs"/>
              </a:rPr>
              <a:t>for Efficient Super-Resolution</a:t>
            </a:r>
            <a:endParaRPr lang="en-US" sz="2400" dirty="0"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59324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</a:rPr>
              <a:t>Digital Image Processing| Dr. </a:t>
            </a:r>
            <a:r>
              <a:rPr lang="en-US" sz="1400" dirty="0" err="1">
                <a:solidFill>
                  <a:srgbClr val="BBBBBB"/>
                </a:solidFill>
              </a:rPr>
              <a:t>Gheiasi</a:t>
            </a:r>
            <a:r>
              <a:rPr lang="en-US" sz="1400" dirty="0">
                <a:solidFill>
                  <a:srgbClr val="BBBBBB"/>
                </a:solidFill>
              </a:rPr>
              <a:t> Rad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4187415"/>
            <a:ext cx="27432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2984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</a:rPr>
              <a:t>Mahboobeh</a:t>
            </a:r>
            <a:r>
              <a:rPr lang="en-US" sz="1600" dirty="0">
                <a:solidFill>
                  <a:srgbClr val="FFFFFF"/>
                </a:solidFill>
              </a:rPr>
              <a:t> Karimi| 40412634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9A8048-0BF7-FCBD-5D77-988AF4D3B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22" y="151489"/>
            <a:ext cx="1745581" cy="602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D5DE3F-8507-593A-10EE-C89B3F037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8675"/>
            <a:ext cx="9144000" cy="122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59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بیان مسئله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9929" y="1292454"/>
            <a:ext cx="8076687" cy="29368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r" rtl="1">
              <a:lnSpc>
                <a:spcPct val="130000"/>
              </a:lnSpc>
              <a:buFont typeface="Wingdings" panose="05000000000000000000" pitchFamily="2" charset="2"/>
              <a:buChar char="q"/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B5755-06FC-CEF3-F72F-D441F794540D}"/>
              </a:ext>
            </a:extLst>
          </p:cNvPr>
          <p:cNvSpPr txBox="1"/>
          <p:nvPr/>
        </p:nvSpPr>
        <p:spPr>
          <a:xfrm>
            <a:off x="976448" y="1694587"/>
            <a:ext cx="7191103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اکثر مواقع عکس‌های واقعی کیفیت پایینی دارند.</a:t>
            </a: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dirty="0">
                <a:cs typeface="B Nazanin" panose="00000400000000000000" pitchFamily="2" charset="-78"/>
              </a:rPr>
              <a:t>عکس قدیمی از دوربین ۲ مگاپیکسلی</a:t>
            </a: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dirty="0">
                <a:cs typeface="B Nazanin" panose="00000400000000000000" pitchFamily="2" charset="-78"/>
              </a:rPr>
              <a:t>فریم از ویدیوی کیفیت پایین</a:t>
            </a: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dirty="0">
                <a:cs typeface="B Nazanin" panose="00000400000000000000" pitchFamily="2" charset="-78"/>
              </a:rPr>
              <a:t>عکس دانلود شده از اینترنت</a:t>
            </a: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7E5BFC-706A-9EAC-7B47-DE4936E32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4051" y="1201782"/>
            <a:ext cx="7680960" cy="33440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CC2EC-2508-4ED9-D916-BE27B469994A}"/>
              </a:ext>
            </a:extLst>
          </p:cNvPr>
          <p:cNvSpPr txBox="1"/>
          <p:nvPr/>
        </p:nvSpPr>
        <p:spPr>
          <a:xfrm>
            <a:off x="4225835" y="1955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800" dirty="0">
                <a:solidFill>
                  <a:schemeClr val="bg1">
                    <a:lumMod val="95000"/>
                  </a:schemeClr>
                </a:solidFill>
                <a:cs typeface="+mj-cs"/>
              </a:rPr>
              <a:t>Super-Resolution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cs typeface="B Titr" panose="00000700000000000000" pitchFamily="2" charset="-78"/>
              </a:rPr>
              <a:t> </a:t>
            </a:r>
            <a:r>
              <a:rPr lang="fa-IR" sz="2800" dirty="0">
                <a:solidFill>
                  <a:schemeClr val="bg1">
                    <a:lumMod val="95000"/>
                  </a:schemeClr>
                </a:solidFill>
                <a:cs typeface="B Titr" panose="00000700000000000000" pitchFamily="2" charset="-78"/>
              </a:rPr>
              <a:t> چیست؟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D14829-D756-6879-75E0-F22A635AEB9F}"/>
              </a:ext>
            </a:extLst>
          </p:cNvPr>
          <p:cNvSpPr txBox="1"/>
          <p:nvPr/>
        </p:nvSpPr>
        <p:spPr>
          <a:xfrm>
            <a:off x="938989" y="1469571"/>
            <a:ext cx="74197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chemeClr val="accent2"/>
                </a:solidFill>
                <a:cs typeface="B Nazanin" panose="00000400000000000000" pitchFamily="2" charset="-78"/>
              </a:rPr>
              <a:t> Super-Resolution = </a:t>
            </a:r>
            <a:r>
              <a:rPr lang="fa-IR" sz="2000" b="1" dirty="0">
                <a:solidFill>
                  <a:schemeClr val="accent2"/>
                </a:solidFill>
                <a:cs typeface="B Nazanin" panose="00000400000000000000" pitchFamily="2" charset="-78"/>
              </a:rPr>
              <a:t>گرفتن عکس کوچیک + ساختن عکس بزرگ‌تر و واضح‌تر</a:t>
            </a:r>
          </a:p>
          <a:p>
            <a:pPr algn="just" rtl="1"/>
            <a:endParaRPr lang="fa-IR" sz="2000" dirty="0">
              <a:cs typeface="B Nazanin" panose="00000400000000000000" pitchFamily="2" charset="-78"/>
            </a:endParaRPr>
          </a:p>
          <a:p>
            <a:pPr algn="just" rtl="1"/>
            <a:r>
              <a:rPr lang="fa-IR" sz="2000" dirty="0">
                <a:cs typeface="B Nazanin" panose="00000400000000000000" pitchFamily="2" charset="-78"/>
              </a:rPr>
              <a:t>مثال:</a:t>
            </a:r>
          </a:p>
          <a:p>
            <a:pPr marL="342900" indent="-342900" algn="just" rtl="1">
              <a:buFont typeface="Wingdings" panose="05000000000000000000" pitchFamily="2" charset="2"/>
              <a:buChar char="§"/>
            </a:pPr>
            <a:r>
              <a:rPr lang="fa-IR" sz="2000" dirty="0">
                <a:cs typeface="B Nazanin" panose="00000400000000000000" pitchFamily="2" charset="-78"/>
              </a:rPr>
              <a:t>ورودی:  100×100 پیکسل  (تار و کوچیک)  </a:t>
            </a:r>
          </a:p>
          <a:p>
            <a:pPr marL="342900" indent="-342900" algn="just" rtl="1">
              <a:buFont typeface="Wingdings" panose="05000000000000000000" pitchFamily="2" charset="2"/>
              <a:buChar char="§"/>
            </a:pPr>
            <a:r>
              <a:rPr lang="fa-IR" sz="2000" dirty="0">
                <a:cs typeface="B Nazanin" panose="00000400000000000000" pitchFamily="2" charset="-78"/>
              </a:rPr>
              <a:t>خروجی:  400×400 پیکسل  (واضح و بزرگ)</a:t>
            </a:r>
          </a:p>
          <a:p>
            <a:pPr algn="just" rtl="1"/>
            <a:endParaRPr lang="fa-IR" sz="2000" dirty="0">
              <a:cs typeface="B Nazanin" panose="00000400000000000000" pitchFamily="2" charset="-78"/>
            </a:endParaRPr>
          </a:p>
          <a:p>
            <a:pPr algn="just" rtl="1"/>
            <a:r>
              <a:rPr lang="fa-IR" sz="2000" dirty="0">
                <a:cs typeface="B Nazanin" panose="00000400000000000000" pitchFamily="2" charset="-78"/>
              </a:rPr>
              <a:t>مقیاس </a:t>
            </a:r>
            <a:r>
              <a:rPr lang="en-US" sz="2000" dirty="0">
                <a:cs typeface="B Nazanin" panose="00000400000000000000" pitchFamily="2" charset="-78"/>
              </a:rPr>
              <a:t> x4 </a:t>
            </a:r>
            <a:r>
              <a:rPr lang="fa-IR" sz="2000" dirty="0">
                <a:cs typeface="B Nazanin" panose="00000400000000000000" pitchFamily="2" charset="-78"/>
              </a:rPr>
              <a:t>یعنی:  هر بعد تصویر ۴ برابر بزرگ‌تر میشه  مساحت کل ۱۶ برابر بزرگ‌تر میشه  تعداد پیکسل‌ها ۱۶ برابر بیشتر میشه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ECFCAC-9525-06C4-2D48-8D98EF249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روش‌های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سادهvs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هوش مصنوعی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20164" y="51175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38503"/>
            <a:ext cx="3840480" cy="1745815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035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</a:rPr>
              <a:t>KNN / Bilinear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cs typeface="B Titr" panose="00000700000000000000" pitchFamily="2" charset="-78"/>
              </a:rPr>
              <a:t>(روش ریاضی ساده)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623269"/>
            <a:ext cx="3474720" cy="103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Calibri" panose="020F0502020204030204" pitchFamily="34" charset="0"/>
              <a:buChar char="×"/>
            </a:pP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پیکسل‌های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موجود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رو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تکرار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rgbClr val="555555"/>
                </a:solidFill>
                <a:cs typeface="B Nazanin" panose="00000400000000000000" pitchFamily="2" charset="-78"/>
              </a:rPr>
              <a:t>و یا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میانگین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rgbClr val="555555"/>
                </a:solidFill>
                <a:cs typeface="B Nazanin" panose="00000400000000000000" pitchFamily="2" charset="-78"/>
              </a:rPr>
              <a:t>گیری می کند.</a:t>
            </a:r>
            <a:endParaRPr lang="en-US" sz="16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Calibri" panose="020F0502020204030204" pitchFamily="34" charset="0"/>
              <a:buChar char="×"/>
            </a:pP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اطلاعات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جدیدی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rgbClr val="555555"/>
                </a:solidFill>
                <a:cs typeface="B Nazanin" panose="00000400000000000000" pitchFamily="2" charset="-78"/>
              </a:rPr>
              <a:t>تولید نمی کند.</a:t>
            </a:r>
            <a:endParaRPr lang="en-US" sz="16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Calibri" panose="020F0502020204030204" pitchFamily="34" charset="0"/>
              <a:buChar char="×"/>
            </a:pP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نتیجهs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: تار و بی‌کیفیت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1038504"/>
            <a:ext cx="3840480" cy="1758872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1035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Super-Resolution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cs typeface="B Titr" panose="00000700000000000000" pitchFamily="2" charset="-78"/>
              </a:rPr>
              <a:t>(شبکه عصبی)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626535"/>
            <a:ext cx="3474720" cy="933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با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rgbClr val="555555"/>
                </a:solidFill>
                <a:cs typeface="B Nazanin" panose="00000400000000000000" pitchFamily="2" charset="-78"/>
              </a:rPr>
              <a:t>شبکه های عصبی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پیکسل‌های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جدید رو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حدس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می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rgbClr val="555555"/>
                </a:solidFill>
                <a:cs typeface="B Nazanin" panose="00000400000000000000" pitchFamily="2" charset="-78"/>
              </a:rPr>
              <a:t>زند.</a:t>
            </a:r>
            <a:endParaRPr lang="en-US" sz="16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از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داده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یاد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می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rgbClr val="555555"/>
                </a:solidFill>
                <a:cs typeface="B Nazanin" panose="00000400000000000000" pitchFamily="2" charset="-78"/>
              </a:rPr>
              <a:t>گیرد.</a:t>
            </a:r>
            <a:endParaRPr lang="en-US" sz="16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dirty="0" err="1">
                <a:solidFill>
                  <a:srgbClr val="555555"/>
                </a:solidFill>
                <a:cs typeface="B Nazanin" panose="00000400000000000000" pitchFamily="2" charset="-78"/>
              </a:rPr>
              <a:t>نتیجه</a:t>
            </a:r>
            <a:r>
              <a:rPr lang="en-US" sz="1600" dirty="0">
                <a:solidFill>
                  <a:srgbClr val="555555"/>
                </a:solidFill>
                <a:cs typeface="B Nazanin" panose="00000400000000000000" pitchFamily="2" charset="-78"/>
              </a:rPr>
              <a:t>: واضح و باکیفیت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92147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>
              <a:cs typeface="B Nazanin" panose="00000400000000000000" pitchFamily="2" charset="-78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759151"/>
              </p:ext>
            </p:extLst>
          </p:nvPr>
        </p:nvGraphicFramePr>
        <p:xfrm>
          <a:off x="1922930" y="3318559"/>
          <a:ext cx="5298140" cy="1645920"/>
        </p:xfrm>
        <a:graphic>
          <a:graphicData uri="http://schemas.openxmlformats.org/drawingml/2006/table">
            <a:tbl>
              <a:tblPr rtl="1"/>
              <a:tblGrid>
                <a:gridCol w="1324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روش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سایز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کیفیت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یادگیری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KNN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بزرگ‌تر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تار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Bilinear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بزرگ‌تر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کمی بهتر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Super-Resolution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بزرگ‌تر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واضح</a:t>
                      </a:r>
                      <a:endParaRPr lang="en-US" sz="11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6100174-855B-A3E4-F30B-1D9AC31315DB}"/>
              </a:ext>
            </a:extLst>
          </p:cNvPr>
          <p:cNvSpPr txBox="1"/>
          <p:nvPr/>
        </p:nvSpPr>
        <p:spPr>
          <a:xfrm>
            <a:off x="1829375" y="2927180"/>
            <a:ext cx="5485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b="1" dirty="0">
                <a:solidFill>
                  <a:srgbClr val="C00000"/>
                </a:solidFill>
                <a:cs typeface="B Titr" panose="00000700000000000000" pitchFamily="2" charset="-78"/>
              </a:rPr>
              <a:t>تفاوت کلیدی: </a:t>
            </a:r>
            <a:r>
              <a:rPr lang="en-US" b="1" dirty="0">
                <a:solidFill>
                  <a:srgbClr val="C00000"/>
                </a:solidFill>
                <a:cs typeface="B Titr" panose="00000700000000000000" pitchFamily="2" charset="-78"/>
              </a:rPr>
              <a:t>KNN </a:t>
            </a:r>
            <a:r>
              <a:rPr lang="fa-IR" b="1" dirty="0">
                <a:solidFill>
                  <a:srgbClr val="C00000"/>
                </a:solidFill>
                <a:cs typeface="B Titr" panose="00000700000000000000" pitchFamily="2" charset="-78"/>
              </a:rPr>
              <a:t> فقط بازآرایی می کند، </a:t>
            </a:r>
            <a:r>
              <a:rPr lang="en-US" b="1" dirty="0">
                <a:solidFill>
                  <a:srgbClr val="C00000"/>
                </a:solidFill>
                <a:cs typeface="B Titr" panose="00000700000000000000" pitchFamily="2" charset="-78"/>
              </a:rPr>
              <a:t>SR </a:t>
            </a:r>
            <a:r>
              <a:rPr lang="fa-IR" b="1" dirty="0">
                <a:solidFill>
                  <a:srgbClr val="C00000"/>
                </a:solidFill>
                <a:cs typeface="B Titr" panose="00000700000000000000" pitchFamily="2" charset="-78"/>
              </a:rPr>
              <a:t> تولید می کند.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53D749-E366-97C8-3329-CEA825145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5245" y="38133"/>
            <a:ext cx="40610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9785" y="1074421"/>
            <a:ext cx="821269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30000"/>
              </a:lnSpc>
              <a:buNone/>
            </a:pP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F2B08-6F1F-620E-FFEF-6C86EE81EFAB}"/>
              </a:ext>
            </a:extLst>
          </p:cNvPr>
          <p:cNvSpPr txBox="1"/>
          <p:nvPr/>
        </p:nvSpPr>
        <p:spPr>
          <a:xfrm>
            <a:off x="731520" y="1148919"/>
            <a:ext cx="7543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000" b="1" i="1" u="sng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IAFMNet</a:t>
            </a:r>
            <a:r>
              <a:rPr lang="en-US" sz="2000" b="1" i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Information-Aware Feature </a:t>
            </a:r>
            <a:r>
              <a:rPr lang="en-US" sz="2000" b="1" i="1" u="sng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Modulationfor</a:t>
            </a:r>
            <a:r>
              <a:rPr lang="en-US" sz="2000" b="1" i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Efficient Super-Resolution</a:t>
            </a:r>
          </a:p>
          <a:p>
            <a:pPr algn="r" rtl="1"/>
            <a:r>
              <a:rPr lang="fa-IR" sz="2000" dirty="0"/>
              <a:t> </a:t>
            </a:r>
          </a:p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مشکل: مدل‌های </a:t>
            </a:r>
            <a:r>
              <a:rPr lang="en-US" sz="2000" dirty="0">
                <a:solidFill>
                  <a:schemeClr val="bg1"/>
                </a:solidFill>
                <a:cs typeface="B Nazanin" panose="00000400000000000000" pitchFamily="2" charset="-78"/>
              </a:rPr>
              <a:t>SR </a:t>
            </a: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 همه پیکسل‌ها رو یکسان پردازش میکنند.</a:t>
            </a:r>
          </a:p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 هدر رفتن منابع روی پیکسل‌های ساده (مثل پس‌زمینه).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>
                <a:solidFill>
                  <a:schemeClr val="accent2"/>
                </a:solidFill>
                <a:cs typeface="B Titr" panose="00000700000000000000" pitchFamily="2" charset="-78"/>
              </a:rPr>
              <a:t>راه‌حل: تخصیص هوشمند منابع</a:t>
            </a:r>
          </a:p>
          <a:p>
            <a:pPr algn="r" rtl="1"/>
            <a:endParaRPr lang="fa-IR" sz="2000" dirty="0"/>
          </a:p>
          <a:p>
            <a:pPr marL="800100" lvl="1" indent="-342900" algn="r" rtl="1">
              <a:buFont typeface="Wingdings" panose="05000000000000000000" pitchFamily="2" charset="2"/>
              <a:buChar char="q"/>
            </a:pPr>
            <a:r>
              <a:rPr lang="fa-IR" sz="2000" dirty="0">
                <a:solidFill>
                  <a:srgbClr val="0070C0"/>
                </a:solidFill>
                <a:cs typeface="B Nazanin" panose="00000400000000000000" pitchFamily="2" charset="-78"/>
              </a:rPr>
              <a:t> پیکسل‌های مهم لبه‌ها، جزئیات(پردازش بیشتر)</a:t>
            </a:r>
          </a:p>
          <a:p>
            <a:pPr marL="800100" lvl="1" indent="-342900" algn="r" rtl="1">
              <a:buFont typeface="Wingdings" panose="05000000000000000000" pitchFamily="2" charset="2"/>
              <a:buChar char="q"/>
            </a:pPr>
            <a:r>
              <a:rPr lang="fa-IR" sz="2000" dirty="0">
                <a:solidFill>
                  <a:srgbClr val="0070C0"/>
                </a:solidFill>
                <a:cs typeface="B Nazanin" panose="00000400000000000000" pitchFamily="2" charset="-78"/>
              </a:rPr>
              <a:t> پیکسل‌های ساده پس‌زمینه (پردازش کمتر)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dirty="0">
                <a:solidFill>
                  <a:srgbClr val="00B050"/>
                </a:solidFill>
                <a:cs typeface="B Titr" panose="00000700000000000000" pitchFamily="2" charset="-78"/>
              </a:rPr>
              <a:t>نتیجه: کیفیت بالاتر + سرعت بیشتر + مصرف کمتر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9EDE3-4448-AFD4-FB6A-BF5B69CD6194}"/>
              </a:ext>
            </a:extLst>
          </p:cNvPr>
          <p:cNvSpPr txBox="1"/>
          <p:nvPr/>
        </p:nvSpPr>
        <p:spPr>
          <a:xfrm>
            <a:off x="3860074" y="58646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مقاله انتخابی پروژه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32A4AF-A131-18AE-505F-D7A9AE68C0F5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F07D90-25E7-A0D2-EDFC-C557FC2DB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8">
            <a:extLst>
              <a:ext uri="{FF2B5EF4-FFF2-40B4-BE49-F238E27FC236}">
                <a16:creationId xmlns:a16="http://schemas.microsoft.com/office/drawing/2014/main" id="{368BB88C-867F-A26C-2CBF-6FADCE272A7F}"/>
              </a:ext>
            </a:extLst>
          </p:cNvPr>
          <p:cNvSpPr/>
          <p:nvPr/>
        </p:nvSpPr>
        <p:spPr>
          <a:xfrm>
            <a:off x="302034" y="4032017"/>
            <a:ext cx="4180110" cy="9605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3DA53AB7-FD6E-E9AF-1684-7C7313ADA54A}"/>
              </a:ext>
            </a:extLst>
          </p:cNvPr>
          <p:cNvSpPr/>
          <p:nvPr/>
        </p:nvSpPr>
        <p:spPr>
          <a:xfrm>
            <a:off x="4574948" y="4045816"/>
            <a:ext cx="4180110" cy="9605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2B26FED3-6F5B-2FAE-0B31-AC5879CF2D7D}"/>
              </a:ext>
            </a:extLst>
          </p:cNvPr>
          <p:cNvSpPr/>
          <p:nvPr/>
        </p:nvSpPr>
        <p:spPr>
          <a:xfrm>
            <a:off x="302034" y="2601714"/>
            <a:ext cx="4180110" cy="13426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0" y="1371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79821" y="51892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16785" y="1227909"/>
            <a:ext cx="1692000" cy="12240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6924665" y="1295223"/>
            <a:ext cx="1683757" cy="648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</a:rPr>
              <a:t> ①</a:t>
            </a:r>
            <a:r>
              <a:rPr lang="en-US" sz="1300" b="1" dirty="0" err="1">
                <a:solidFill>
                  <a:srgbClr val="FFFFFF"/>
                </a:solidFill>
                <a:cs typeface="B Titr" panose="00000700000000000000" pitchFamily="2" charset="-78"/>
              </a:rPr>
              <a:t>استخراج</a:t>
            </a:r>
            <a:endParaRPr lang="en-US" sz="1300" dirty="0">
              <a:cs typeface="B Titr" panose="00000700000000000000" pitchFamily="2" charset="-7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cs typeface="B Titr" panose="00000700000000000000" pitchFamily="2" charset="-78"/>
              </a:rPr>
              <a:t>ویژگی</a:t>
            </a:r>
            <a:endParaRPr lang="en-US" sz="1300" dirty="0">
              <a:cs typeface="B Titr" panose="000007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31197" y="1920236"/>
            <a:ext cx="16772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Shallow 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Extractor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flipV="1">
            <a:off x="222069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74C3C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778354" y="1194430"/>
            <a:ext cx="1692000" cy="1224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715694" y="1221377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cs typeface="B Titr" panose="00000700000000000000" pitchFamily="2" charset="-78"/>
              </a:rPr>
              <a:t> ②</a:t>
            </a:r>
            <a:r>
              <a:rPr lang="en-US" sz="13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تخمین</a:t>
            </a:r>
            <a:endParaRPr lang="en-US" sz="1300" dirty="0">
              <a:cs typeface="B Titr" panose="00000700000000000000" pitchFamily="2" charset="-7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cs typeface="B Titr" panose="00000700000000000000" pitchFamily="2" charset="-78"/>
              </a:rPr>
              <a:t>چگالی</a:t>
            </a:r>
            <a:endParaRPr lang="en-US" sz="1300" dirty="0">
              <a:cs typeface="B Titr" panose="000007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22225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Information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Density Estimator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 flipV="1">
            <a:off x="4428312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74C3C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639923" y="1199160"/>
            <a:ext cx="1692000" cy="1224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2639923" y="1227909"/>
            <a:ext cx="1692000" cy="692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cs typeface="B Titr" panose="00000700000000000000" pitchFamily="2" charset="-78"/>
              </a:rPr>
              <a:t> ③ </a:t>
            </a:r>
            <a:r>
              <a:rPr lang="en-US" sz="13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تقویت</a:t>
            </a:r>
            <a:endParaRPr lang="en-US" sz="1300" dirty="0">
              <a:cs typeface="B Titr" panose="00000700000000000000" pitchFamily="2" charset="-7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cs typeface="B Titr" panose="00000700000000000000" pitchFamily="2" charset="-78"/>
              </a:rPr>
              <a:t>ویژگی</a:t>
            </a:r>
            <a:endParaRPr lang="en-US" sz="1300" dirty="0">
              <a:cs typeface="B Titr" panose="00000700000000000000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33392" y="1920240"/>
            <a:ext cx="169853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IFEB Blocks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(IGRA + ARM)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flipV="1">
            <a:off x="6635934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74C3C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32301" y="1199160"/>
            <a:ext cx="1692000" cy="1224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432301" y="1221377"/>
            <a:ext cx="1692000" cy="698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cs typeface="B Titr" panose="00000700000000000000" pitchFamily="2" charset="-78"/>
              </a:rPr>
              <a:t> ④</a:t>
            </a:r>
            <a:r>
              <a:rPr lang="en-US" sz="1300" b="1" dirty="0" err="1">
                <a:solidFill>
                  <a:srgbClr val="FFFFFF"/>
                </a:solidFill>
                <a:cs typeface="B Titr" panose="00000700000000000000" pitchFamily="2" charset="-78"/>
              </a:rPr>
              <a:t>بازسازی</a:t>
            </a:r>
            <a:endParaRPr lang="en-US" sz="1300" dirty="0">
              <a:cs typeface="B Titr" panose="00000700000000000000" pitchFamily="2" charset="-78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تصویر</a:t>
            </a:r>
            <a:endParaRPr lang="en-US" sz="1300" dirty="0">
              <a:cs typeface="B Titr" panose="00000700000000000000" pitchFamily="2" charset="-7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2301" y="1879051"/>
            <a:ext cx="16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PixelShuffle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</a:rPr>
              <a:t>Reconstruction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8533" y="2601714"/>
            <a:ext cx="4180110" cy="13426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4A2DBB-04EA-6805-BBA2-E3CEB7A1EFB2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2C8CE4-3EB3-C195-3F4B-949B8A5A7F6E}"/>
              </a:ext>
            </a:extLst>
          </p:cNvPr>
          <p:cNvSpPr txBox="1"/>
          <p:nvPr/>
        </p:nvSpPr>
        <p:spPr>
          <a:xfrm>
            <a:off x="4364339" y="2754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solidFill>
                  <a:schemeClr val="bg1">
                    <a:lumMod val="95000"/>
                  </a:schemeClr>
                </a:solidFill>
                <a:cs typeface="B Titr" panose="00000700000000000000" pitchFamily="2" charset="-78"/>
              </a:rPr>
              <a:t>معماری کلی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5A9F2-AC2E-6285-AD10-00C9DA73A208}"/>
              </a:ext>
            </a:extLst>
          </p:cNvPr>
          <p:cNvSpPr txBox="1"/>
          <p:nvPr/>
        </p:nvSpPr>
        <p:spPr>
          <a:xfrm>
            <a:off x="4674921" y="2703190"/>
            <a:ext cx="39458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1" dirty="0">
                <a:solidFill>
                  <a:srgbClr val="CC3300"/>
                </a:solidFill>
                <a:cs typeface="B Nazanin" panose="00000400000000000000" pitchFamily="2" charset="-78"/>
              </a:rPr>
              <a:t>ورودی: تصویر </a:t>
            </a:r>
            <a:r>
              <a:rPr lang="en-US" sz="1600" b="1" dirty="0">
                <a:solidFill>
                  <a:srgbClr val="CC3300"/>
                </a:solidFill>
                <a:cs typeface="B Nazanin" panose="00000400000000000000" pitchFamily="2" charset="-78"/>
              </a:rPr>
              <a:t>LR</a:t>
            </a:r>
            <a:r>
              <a:rPr lang="fa-IR" sz="1600" b="1" dirty="0">
                <a:solidFill>
                  <a:srgbClr val="CC3300"/>
                </a:solidFill>
                <a:cs typeface="B Nazanin" panose="00000400000000000000" pitchFamily="2" charset="-78"/>
              </a:rPr>
              <a:t> (کم‌کیفیت)</a:t>
            </a:r>
          </a:p>
          <a:p>
            <a:pPr algn="r" rtl="1"/>
            <a:endParaRPr lang="fa-IR" sz="1600" b="1" dirty="0">
              <a:solidFill>
                <a:srgbClr val="CC3300"/>
              </a:solidFill>
              <a:cs typeface="B Nazanin" panose="00000400000000000000" pitchFamily="2" charset="-78"/>
            </a:endParaRPr>
          </a:p>
          <a:p>
            <a:pPr algn="r" rtl="1"/>
            <a:r>
              <a:rPr lang="fa-IR" sz="1600" b="1" dirty="0">
                <a:solidFill>
                  <a:srgbClr val="00B0F0"/>
                </a:solidFill>
              </a:rPr>
              <a:t>① </a:t>
            </a:r>
            <a:r>
              <a:rPr lang="en-US" sz="1600" b="1" dirty="0">
                <a:solidFill>
                  <a:srgbClr val="00B0F0"/>
                </a:solidFill>
              </a:rPr>
              <a:t>Shallow Feature Extractor   </a:t>
            </a:r>
            <a:endParaRPr lang="fa-IR" sz="1600" b="1" dirty="0">
              <a:solidFill>
                <a:srgbClr val="00B0F0"/>
              </a:solidFill>
            </a:endParaRP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sz="1600" dirty="0">
                <a:cs typeface="B Nazanin" panose="00000400000000000000" pitchFamily="2" charset="-78"/>
              </a:rPr>
              <a:t>تبدیل ۳ کانال </a:t>
            </a:r>
            <a:r>
              <a:rPr lang="en-US" sz="1600" dirty="0">
                <a:cs typeface="B Nazanin" panose="00000400000000000000" pitchFamily="2" charset="-78"/>
              </a:rPr>
              <a:t> RGB</a:t>
            </a:r>
            <a:r>
              <a:rPr lang="fa-IR" sz="1600" dirty="0"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sz="1600" dirty="0">
                <a:cs typeface="B Nazanin" panose="00000400000000000000" pitchFamily="2" charset="-78"/>
              </a:rPr>
              <a:t>۲۴ کانال ویژگی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B58BE6-F751-E884-E981-781AC2E408CE}"/>
              </a:ext>
            </a:extLst>
          </p:cNvPr>
          <p:cNvSpPr txBox="1"/>
          <p:nvPr/>
        </p:nvSpPr>
        <p:spPr>
          <a:xfrm>
            <a:off x="4990684" y="4096781"/>
            <a:ext cx="35909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600" b="1" dirty="0">
                <a:solidFill>
                  <a:srgbClr val="00B050"/>
                </a:solidFill>
              </a:rPr>
              <a:t>Information Density Estimator (IDE) ②</a:t>
            </a: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sz="1600" dirty="0">
                <a:cs typeface="B Nazanin" panose="00000400000000000000" pitchFamily="2" charset="-78"/>
              </a:rPr>
              <a:t>تخمین نقشه چگالی اطلاعات (</a:t>
            </a:r>
            <a:r>
              <a:rPr lang="en-US" sz="1600" dirty="0">
                <a:cs typeface="B Nazanin" panose="00000400000000000000" pitchFamily="2" charset="-78"/>
              </a:rPr>
              <a:t>IDM</a:t>
            </a:r>
            <a:r>
              <a:rPr lang="fa-IR" sz="1600" dirty="0">
                <a:cs typeface="B Nazanin" panose="00000400000000000000" pitchFamily="2" charset="-78"/>
              </a:rPr>
              <a:t>)</a:t>
            </a:r>
            <a:endParaRPr lang="en-US" sz="1600" dirty="0">
              <a:cs typeface="B Nazanin" panose="00000400000000000000" pitchFamily="2" charset="-78"/>
            </a:endParaRP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sz="1600" dirty="0">
                <a:cs typeface="B Nazanin" panose="00000400000000000000" pitchFamily="2" charset="-78"/>
              </a:rPr>
              <a:t>هر پیکسل: چقدر اطلاعات دارد؟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4695E1-DC24-9C52-2291-B54BC24141CD}"/>
              </a:ext>
            </a:extLst>
          </p:cNvPr>
          <p:cNvSpPr txBox="1"/>
          <p:nvPr/>
        </p:nvSpPr>
        <p:spPr>
          <a:xfrm>
            <a:off x="517480" y="2784594"/>
            <a:ext cx="3910832" cy="105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600" b="1" kern="100" dirty="0">
                <a:solidFill>
                  <a:srgbClr val="FFC000"/>
                </a:solidFill>
                <a:effectLst/>
                <a:ea typeface="Calibri" panose="020F0502020204030204" pitchFamily="34" charset="0"/>
                <a:cs typeface="B Nazanin" panose="00000400000000000000" pitchFamily="2" charset="-78"/>
              </a:rPr>
              <a:t>) IFEB Blocks ③ </a:t>
            </a:r>
            <a:r>
              <a:rPr lang="fa-IR" sz="1600" b="1" kern="100" dirty="0">
                <a:solidFill>
                  <a:srgbClr val="FFC000"/>
                </a:solidFill>
                <a:effectLst/>
                <a:ea typeface="Calibri" panose="020F0502020204030204" pitchFamily="34" charset="0"/>
                <a:cs typeface="B Nazanin" panose="00000400000000000000" pitchFamily="2" charset="-78"/>
              </a:rPr>
              <a:t>بلوک</a:t>
            </a:r>
            <a:r>
              <a:rPr lang="en-US" sz="1600" b="1" kern="100" dirty="0">
                <a:solidFill>
                  <a:srgbClr val="FFC000"/>
                </a:solidFill>
                <a:effectLst/>
                <a:ea typeface="Calibri" panose="020F0502020204030204" pitchFamily="34" charset="0"/>
                <a:cs typeface="B Nazanin" panose="00000400000000000000" pitchFamily="2" charset="-78"/>
              </a:rPr>
              <a:t> (N</a:t>
            </a:r>
            <a:r>
              <a:rPr lang="fa-IR" sz="1600" b="1" kern="100" dirty="0">
                <a:solidFill>
                  <a:srgbClr val="FFC000"/>
                </a:solidFill>
                <a:effectLst/>
                <a:ea typeface="Calibri" panose="020F0502020204030204" pitchFamily="34" charset="0"/>
                <a:cs typeface="B Nazanin" panose="00000400000000000000" pitchFamily="2" charset="-78"/>
              </a:rPr>
              <a:t>   </a:t>
            </a:r>
            <a:endParaRPr lang="en-US" sz="1600" b="1" kern="100" dirty="0">
              <a:solidFill>
                <a:srgbClr val="FFC000"/>
              </a:solidFill>
              <a:effectLst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lvl="1" indent="-285750" algn="r" rt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(IGRA)</a:t>
            </a:r>
            <a:r>
              <a:rPr lang="fa-I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شاخه سخت: فقط نواحی مهم   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lvl="1" indent="-285750" algn="r" rt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ARM)</a:t>
            </a:r>
            <a:r>
              <a:rPr lang="fa-I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)شاخه نرم: تقویت تطبیقی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4F2D46-59DA-7FB2-E9FB-D45DBD780468}"/>
              </a:ext>
            </a:extLst>
          </p:cNvPr>
          <p:cNvSpPr txBox="1"/>
          <p:nvPr/>
        </p:nvSpPr>
        <p:spPr>
          <a:xfrm>
            <a:off x="181789" y="4095073"/>
            <a:ext cx="42465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600" b="1" dirty="0" err="1">
                <a:solidFill>
                  <a:srgbClr val="CC3300"/>
                </a:solidFill>
              </a:rPr>
              <a:t>PixelShuffle</a:t>
            </a:r>
            <a:r>
              <a:rPr lang="en-US" sz="1600" b="1" dirty="0">
                <a:solidFill>
                  <a:srgbClr val="CC3300"/>
                </a:solidFill>
              </a:rPr>
              <a:t> Reconstruction ④ </a:t>
            </a:r>
            <a:endParaRPr lang="fa-IR" sz="1600" b="1" dirty="0">
              <a:solidFill>
                <a:srgbClr val="CC3300"/>
              </a:solidFill>
            </a:endParaRP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sz="1600" dirty="0">
                <a:cs typeface="B Nazanin" panose="00000400000000000000" pitchFamily="2" charset="-78"/>
              </a:rPr>
              <a:t>تبدیل ویژگی </a:t>
            </a:r>
            <a:r>
              <a:rPr lang="fa-IR" sz="1600" dirty="0">
                <a:cs typeface="B Nazanin" panose="00000400000000000000" pitchFamily="2" charset="-78"/>
                <a:sym typeface="Wingdings" panose="05000000000000000000" pitchFamily="2" charset="2"/>
              </a:rPr>
              <a:t> </a:t>
            </a:r>
            <a:r>
              <a:rPr lang="fa-IR" sz="1600" dirty="0">
                <a:cs typeface="B Nazanin" panose="00000400000000000000" pitchFamily="2" charset="-78"/>
              </a:rPr>
              <a:t>تصویر</a:t>
            </a:r>
            <a:r>
              <a:rPr lang="en-US" sz="1600" dirty="0">
                <a:cs typeface="B Nazanin" panose="00000400000000000000" pitchFamily="2" charset="-78"/>
              </a:rPr>
              <a:t> SR</a:t>
            </a:r>
            <a:r>
              <a:rPr lang="fa-IR" sz="1600" dirty="0">
                <a:cs typeface="B Nazanin" panose="00000400000000000000" pitchFamily="2" charset="-78"/>
              </a:rPr>
              <a:t> </a:t>
            </a:r>
            <a:r>
              <a:rPr lang="en-US" sz="1600" dirty="0">
                <a:cs typeface="B Nazanin" panose="00000400000000000000" pitchFamily="2" charset="-78"/>
              </a:rPr>
              <a:t> + </a:t>
            </a:r>
            <a:r>
              <a:rPr lang="fa-IR" sz="1600" dirty="0">
                <a:cs typeface="B Nazanin" panose="00000400000000000000" pitchFamily="2" charset="-78"/>
              </a:rPr>
              <a:t>باقیمانده بای‌کیوبیک</a:t>
            </a:r>
          </a:p>
          <a:p>
            <a:pPr marL="742950" lvl="1" indent="-285750" algn="r" rtl="1">
              <a:buFont typeface="Wingdings" panose="05000000000000000000" pitchFamily="2" charset="2"/>
              <a:buChar char="q"/>
            </a:pPr>
            <a:r>
              <a:rPr lang="fa-IR" sz="1600" dirty="0">
                <a:cs typeface="B Nazanin" panose="00000400000000000000" pitchFamily="2" charset="-78"/>
              </a:rPr>
              <a:t>خروجی: تصویر</a:t>
            </a:r>
            <a:r>
              <a:rPr lang="en-US" sz="1600" dirty="0">
                <a:cs typeface="B Nazanin" panose="00000400000000000000" pitchFamily="2" charset="-78"/>
              </a:rPr>
              <a:t>SR </a:t>
            </a:r>
            <a:r>
              <a:rPr lang="fa-IR" sz="1600" dirty="0">
                <a:cs typeface="B Nazanin" panose="00000400000000000000" pitchFamily="2" charset="-78"/>
              </a:rPr>
              <a:t> (باکیفیت) + نقشه </a:t>
            </a:r>
            <a:r>
              <a:rPr lang="en-US" sz="1600" dirty="0">
                <a:cs typeface="B Nazanin" panose="00000400000000000000" pitchFamily="2" charset="-78"/>
              </a:rPr>
              <a:t>IDM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98761B-E67B-36DD-1D1D-C7A1090EA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C01E4-BE7C-5338-403C-820142418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337"/>
            <a:ext cx="9144000" cy="3878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9FEDF7-78B0-B73E-3679-AE08C00DBBE8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975E3-51C5-6B45-A373-2632781D8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87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8">
            <a:extLst>
              <a:ext uri="{FF2B5EF4-FFF2-40B4-BE49-F238E27FC236}">
                <a16:creationId xmlns:a16="http://schemas.microsoft.com/office/drawing/2014/main" id="{1A27EF45-F8F8-7EC3-1331-601A7034F7BD}"/>
              </a:ext>
            </a:extLst>
          </p:cNvPr>
          <p:cNvSpPr/>
          <p:nvPr/>
        </p:nvSpPr>
        <p:spPr>
          <a:xfrm>
            <a:off x="1120140" y="1183387"/>
            <a:ext cx="6903717" cy="3670437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مرحله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۱Shallow Feature Extractor :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79DFC-CDAA-06A1-52BE-8F17D3F1CB0D}"/>
              </a:ext>
            </a:extLst>
          </p:cNvPr>
          <p:cNvSpPr txBox="1"/>
          <p:nvPr/>
        </p:nvSpPr>
        <p:spPr>
          <a:xfrm>
            <a:off x="2339339" y="1299005"/>
            <a:ext cx="4465321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solidFill>
                  <a:srgbClr val="CC3300"/>
                </a:solidFill>
                <a:cs typeface="B Titr" panose="00000700000000000000" pitchFamily="2" charset="-78"/>
              </a:rPr>
              <a:t>ورودی: تصویر </a:t>
            </a:r>
            <a:r>
              <a:rPr lang="en-US" dirty="0">
                <a:solidFill>
                  <a:srgbClr val="CC3300"/>
                </a:solidFill>
                <a:cs typeface="B Titr" panose="00000700000000000000" pitchFamily="2" charset="-78"/>
              </a:rPr>
              <a:t>LR </a:t>
            </a:r>
            <a:r>
              <a:rPr lang="fa-IR" dirty="0">
                <a:solidFill>
                  <a:srgbClr val="CC3300"/>
                </a:solidFill>
                <a:cs typeface="B Titr" panose="00000700000000000000" pitchFamily="2" charset="-78"/>
              </a:rPr>
              <a:t>با ۳ کانال (</a:t>
            </a:r>
            <a:r>
              <a:rPr lang="en-US" dirty="0">
                <a:solidFill>
                  <a:srgbClr val="CC3300"/>
                </a:solidFill>
                <a:cs typeface="B Titr" panose="00000700000000000000" pitchFamily="2" charset="-78"/>
              </a:rPr>
              <a:t>RGB</a:t>
            </a:r>
            <a:r>
              <a:rPr lang="fa-IR" dirty="0">
                <a:solidFill>
                  <a:srgbClr val="CC3300"/>
                </a:solidFill>
                <a:cs typeface="B Titr" panose="00000700000000000000" pitchFamily="2" charset="-78"/>
              </a:rPr>
              <a:t>)</a:t>
            </a:r>
          </a:p>
          <a:p>
            <a:pPr algn="ctr" rtl="1"/>
            <a:endParaRPr lang="en-US" dirty="0">
              <a:cs typeface="B Nazanin" panose="00000400000000000000" pitchFamily="2" charset="-78"/>
            </a:endParaRPr>
          </a:p>
          <a:p>
            <a:pPr algn="ctr" rtl="1"/>
            <a:r>
              <a:rPr lang="en-US" dirty="0">
                <a:cs typeface="B Nazanin" panose="00000400000000000000" pitchFamily="2" charset="-78"/>
              </a:rPr>
              <a:t>1× Conv2d(3→24, 3×3)</a:t>
            </a:r>
            <a:r>
              <a:rPr lang="en-US" dirty="0"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en-US" dirty="0">
                <a:cs typeface="B Nazanin" panose="00000400000000000000" pitchFamily="2" charset="-78"/>
              </a:rPr>
              <a:t> </a:t>
            </a:r>
          </a:p>
          <a:p>
            <a:pPr algn="ctr" rtl="1"/>
            <a:r>
              <a:rPr lang="fa-IR" dirty="0"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cs typeface="B Nazanin" panose="00000400000000000000" pitchFamily="2" charset="-78"/>
              </a:rPr>
              <a:t>خروجی: ویژگی با ۲۴ کانال</a:t>
            </a:r>
          </a:p>
          <a:p>
            <a:pPr algn="ctr" rtl="1"/>
            <a:endParaRPr lang="fa-IR" dirty="0"/>
          </a:p>
          <a:p>
            <a:pPr algn="ctr" rtl="1"/>
            <a:r>
              <a:rPr lang="fa-IR" dirty="0">
                <a:solidFill>
                  <a:srgbClr val="009BD2"/>
                </a:solidFill>
                <a:cs typeface="B Titr" panose="00000700000000000000" pitchFamily="2" charset="-78"/>
              </a:rPr>
              <a:t>چرا این مرحله لازم است؟ </a:t>
            </a:r>
            <a:endParaRPr lang="fa-IR" dirty="0"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</a:rPr>
              <a:t>  تصویر </a:t>
            </a:r>
            <a:r>
              <a:rPr lang="en-US" dirty="0">
                <a:cs typeface="B Nazanin" panose="00000400000000000000" pitchFamily="2" charset="-78"/>
              </a:rPr>
              <a:t>RGB </a:t>
            </a:r>
            <a:r>
              <a:rPr lang="fa-IR" dirty="0">
                <a:cs typeface="B Nazanin" panose="00000400000000000000" pitchFamily="2" charset="-78"/>
              </a:rPr>
              <a:t> فقط ۳ عدد برای هر پیکسل دارد. 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</a:rPr>
              <a:t>  ولی ویژگی‌های پیچیده‌تری لازم است:   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  <a:sym typeface="Wingdings" panose="05000000000000000000" pitchFamily="2" charset="2"/>
              </a:rPr>
              <a:t> </a:t>
            </a:r>
            <a:r>
              <a:rPr lang="fa-IR" dirty="0">
                <a:cs typeface="B Nazanin" panose="00000400000000000000" pitchFamily="2" charset="-78"/>
              </a:rPr>
              <a:t>لبه‌ها، بافت‌ها، رنگ‌های نزدیک، الگوها</a:t>
            </a:r>
          </a:p>
          <a:p>
            <a:pPr algn="ctr" rtl="1"/>
            <a:endParaRPr lang="fa-IR" dirty="0">
              <a:cs typeface="B Nazanin" panose="00000400000000000000" pitchFamily="2" charset="-78"/>
            </a:endParaRPr>
          </a:p>
          <a:p>
            <a:pPr algn="ctr" rtl="1"/>
            <a:r>
              <a:rPr lang="fa-IR" dirty="0">
                <a:solidFill>
                  <a:srgbClr val="00B050"/>
                </a:solidFill>
                <a:cs typeface="B Nazanin" panose="00000400000000000000" pitchFamily="2" charset="-78"/>
              </a:rPr>
              <a:t>تعداد پارامتر: 672 =3×24×3×3 + 24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3E643-3060-10BB-66A4-A6C7311F1C59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0F1A9-1966-937E-21AC-D78C75344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8">
            <a:extLst>
              <a:ext uri="{FF2B5EF4-FFF2-40B4-BE49-F238E27FC236}">
                <a16:creationId xmlns:a16="http://schemas.microsoft.com/office/drawing/2014/main" id="{18D4BB59-2786-789F-FEB0-E96B0DD3CA31}"/>
              </a:ext>
            </a:extLst>
          </p:cNvPr>
          <p:cNvSpPr/>
          <p:nvPr/>
        </p:nvSpPr>
        <p:spPr>
          <a:xfrm>
            <a:off x="2481943" y="3663714"/>
            <a:ext cx="4180110" cy="13426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مرحله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۲Information Density Estimator (IDE):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20194" y="1234440"/>
            <a:ext cx="3931920" cy="2305594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6" name="Text 4"/>
          <p:cNvSpPr/>
          <p:nvPr/>
        </p:nvSpPr>
        <p:spPr>
          <a:xfrm>
            <a:off x="4820194" y="120831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27AE60"/>
                </a:solidFill>
                <a:cs typeface="B Titr" panose="00000700000000000000" pitchFamily="2" charset="-78"/>
              </a:rPr>
              <a:t> </a:t>
            </a:r>
            <a:r>
              <a:rPr lang="en-US" sz="1500" b="1" dirty="0" err="1">
                <a:solidFill>
                  <a:srgbClr val="27AE60"/>
                </a:solidFill>
                <a:cs typeface="B Titr" panose="00000700000000000000" pitchFamily="2" charset="-78"/>
              </a:rPr>
              <a:t>ساختار</a:t>
            </a:r>
            <a:r>
              <a:rPr lang="en-US" sz="1500" b="1" dirty="0">
                <a:solidFill>
                  <a:srgbClr val="27AE60"/>
                </a:solidFill>
                <a:cs typeface="B Titr" panose="00000700000000000000" pitchFamily="2" charset="-78"/>
              </a:rPr>
              <a:t> IDE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91886" y="1234440"/>
            <a:ext cx="3931920" cy="2305594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9" name="Text 7"/>
          <p:cNvSpPr/>
          <p:nvPr/>
        </p:nvSpPr>
        <p:spPr>
          <a:xfrm>
            <a:off x="424542" y="1298002"/>
            <a:ext cx="38666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 err="1">
                <a:solidFill>
                  <a:srgbClr val="F39C12"/>
                </a:solidFill>
                <a:cs typeface="B Titr" panose="00000700000000000000" pitchFamily="2" charset="-78"/>
              </a:rPr>
              <a:t>خروجی</a:t>
            </a:r>
            <a:r>
              <a:rPr lang="en-US" sz="1500" b="1" dirty="0">
                <a:solidFill>
                  <a:srgbClr val="F39C12"/>
                </a:solidFill>
                <a:cs typeface="B Titr" panose="00000700000000000000" pitchFamily="2" charset="-78"/>
              </a:rPr>
              <a:t> IDM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81943" y="3951147"/>
            <a:ext cx="41801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E74C3C"/>
                </a:solidFill>
                <a:cs typeface="B Titr" panose="00000700000000000000" pitchFamily="2" charset="-78"/>
              </a:rPr>
              <a:t>مهم‌ترین </a:t>
            </a:r>
            <a:r>
              <a:rPr lang="en-US" sz="2000" b="1" dirty="0" err="1">
                <a:solidFill>
                  <a:srgbClr val="E74C3C"/>
                </a:solidFill>
                <a:cs typeface="B Titr" panose="00000700000000000000" pitchFamily="2" charset="-78"/>
              </a:rPr>
              <a:t>نوآوری</a:t>
            </a:r>
            <a:r>
              <a:rPr lang="en-US" sz="2000" b="1" dirty="0">
                <a:solidFill>
                  <a:srgbClr val="E74C3C"/>
                </a:solidFill>
                <a:cs typeface="B Titr" panose="00000700000000000000" pitchFamily="2" charset="-78"/>
              </a:rPr>
              <a:t> </a:t>
            </a:r>
            <a:r>
              <a:rPr lang="en-US" sz="2000" b="1" dirty="0" err="1">
                <a:solidFill>
                  <a:srgbClr val="E74C3C"/>
                </a:solidFill>
                <a:cs typeface="B Titr" panose="00000700000000000000" pitchFamily="2" charset="-78"/>
              </a:rPr>
              <a:t>مقاله</a:t>
            </a:r>
            <a:endParaRPr lang="en-US" sz="2000" b="1" dirty="0">
              <a:solidFill>
                <a:srgbClr val="E74C3C"/>
              </a:solidFill>
              <a:cs typeface="B Titr" panose="00000700000000000000" pitchFamily="2" charset="-78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cs typeface="B Titr" panose="00000700000000000000" pitchFamily="2" charset="-78"/>
              </a:rPr>
              <a:t>: IDM به مدل میگه کجا بیشتر </a:t>
            </a:r>
            <a:r>
              <a:rPr lang="en-US" sz="1600" b="1" dirty="0" err="1">
                <a:solidFill>
                  <a:srgbClr val="00B050"/>
                </a:solidFill>
                <a:cs typeface="B Titr" panose="00000700000000000000" pitchFamily="2" charset="-78"/>
              </a:rPr>
              <a:t>کار</a:t>
            </a:r>
            <a:r>
              <a:rPr lang="en-US" sz="1600" b="1" dirty="0">
                <a:solidFill>
                  <a:srgbClr val="00B050"/>
                </a:solidFill>
                <a:cs typeface="B Titr" panose="00000700000000000000" pitchFamily="2" charset="-78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cs typeface="B Titr" panose="00000700000000000000" pitchFamily="2" charset="-78"/>
              </a:rPr>
              <a:t>کن</a:t>
            </a:r>
            <a:r>
              <a:rPr lang="fa-IR" sz="1600" b="1" dirty="0">
                <a:solidFill>
                  <a:srgbClr val="00B050"/>
                </a:solidFill>
                <a:cs typeface="B Titr" panose="00000700000000000000" pitchFamily="2" charset="-78"/>
              </a:rPr>
              <a:t>د.</a:t>
            </a:r>
            <a:endParaRPr lang="en-US" sz="1600" dirty="0">
              <a:solidFill>
                <a:srgbClr val="00B050"/>
              </a:solidFill>
              <a:cs typeface="B Titr" panose="000007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8BA5E-E91E-39A2-8469-3EB16CA98BEF}"/>
              </a:ext>
            </a:extLst>
          </p:cNvPr>
          <p:cNvSpPr txBox="1"/>
          <p:nvPr/>
        </p:nvSpPr>
        <p:spPr>
          <a:xfrm>
            <a:off x="643346" y="1755202"/>
            <a:ext cx="34289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sz="1400" dirty="0">
                <a:cs typeface="B Nazanin" panose="00000400000000000000" pitchFamily="2" charset="-78"/>
              </a:rPr>
              <a:t>هر پیکسل یک عدد [0, 1]</a:t>
            </a:r>
          </a:p>
          <a:p>
            <a:pPr algn="ctr" rtl="1"/>
            <a:r>
              <a:rPr lang="fa-IR" sz="1400" dirty="0">
                <a:cs typeface="B Nazanin" panose="00000400000000000000" pitchFamily="2" charset="-78"/>
              </a:rPr>
              <a:t>مقدار بالا = ناحیه مهم</a:t>
            </a:r>
          </a:p>
          <a:p>
            <a:pPr algn="ctr" rtl="1"/>
            <a:r>
              <a:rPr lang="fa-IR" sz="1400" dirty="0">
                <a:cs typeface="B Nazanin" panose="00000400000000000000" pitchFamily="2" charset="-78"/>
              </a:rPr>
              <a:t>مقدار پایین = پس‌زمینه ساده</a:t>
            </a:r>
          </a:p>
          <a:p>
            <a:pPr algn="ctr" rtl="1"/>
            <a:endParaRPr lang="fa-IR" sz="1400" dirty="0">
              <a:cs typeface="B Nazanin" panose="00000400000000000000" pitchFamily="2" charset="-78"/>
            </a:endParaRPr>
          </a:p>
          <a:p>
            <a:pPr algn="ctr" rtl="1"/>
            <a:r>
              <a:rPr lang="fa-IR" sz="1400" dirty="0">
                <a:cs typeface="B Nazanin" panose="00000400000000000000" pitchFamily="2" charset="-78"/>
              </a:rPr>
              <a:t>مثال:</a:t>
            </a:r>
          </a:p>
          <a:p>
            <a:pPr algn="ctr" rtl="1"/>
            <a:r>
              <a:rPr lang="fa-IR" sz="1400" dirty="0">
                <a:cs typeface="B Nazanin" panose="00000400000000000000" pitchFamily="2" charset="-78"/>
              </a:rPr>
              <a:t>  لبه ساختمان</a:t>
            </a:r>
            <a:r>
              <a:rPr lang="en-US" sz="1400" dirty="0">
                <a:cs typeface="B Nazanin" panose="00000400000000000000" pitchFamily="2" charset="-78"/>
              </a:rPr>
              <a:t>IDM ≈ 0.8 :</a:t>
            </a:r>
          </a:p>
          <a:p>
            <a:pPr algn="ctr" rtl="1"/>
            <a:r>
              <a:rPr lang="en-US" sz="1400" dirty="0">
                <a:cs typeface="B Nazanin" panose="00000400000000000000" pitchFamily="2" charset="-78"/>
              </a:rPr>
              <a:t>  </a:t>
            </a:r>
            <a:r>
              <a:rPr lang="fa-IR" sz="1400" dirty="0">
                <a:cs typeface="B Nazanin" panose="00000400000000000000" pitchFamily="2" charset="-78"/>
              </a:rPr>
              <a:t>آسمان صاف: </a:t>
            </a:r>
            <a:r>
              <a:rPr lang="en-US" sz="1400" dirty="0">
                <a:cs typeface="B Nazanin" panose="00000400000000000000" pitchFamily="2" charset="-78"/>
              </a:rPr>
              <a:t>IDM ≈ 0.1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0B2205-F351-E1FD-9A23-888518B7E4E8}"/>
              </a:ext>
            </a:extLst>
          </p:cNvPr>
          <p:cNvSpPr txBox="1"/>
          <p:nvPr/>
        </p:nvSpPr>
        <p:spPr>
          <a:xfrm>
            <a:off x="5130845" y="1648420"/>
            <a:ext cx="331061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600" dirty="0"/>
              <a:t>Conv2d(24→24, 3×3)</a:t>
            </a:r>
          </a:p>
          <a:p>
            <a:pPr algn="ctr" rtl="1"/>
            <a:r>
              <a:rPr lang="en-US" sz="1600" dirty="0"/>
              <a:t>    ↓</a:t>
            </a:r>
          </a:p>
          <a:p>
            <a:pPr algn="ctr" rtl="1"/>
            <a:r>
              <a:rPr lang="en-US" sz="1600" dirty="0" err="1"/>
              <a:t>ReLU</a:t>
            </a:r>
            <a:endParaRPr lang="en-US" sz="1600" dirty="0"/>
          </a:p>
          <a:p>
            <a:pPr algn="ctr" rtl="1"/>
            <a:r>
              <a:rPr lang="en-US" sz="1600" dirty="0"/>
              <a:t>    ↓</a:t>
            </a:r>
          </a:p>
          <a:p>
            <a:pPr algn="ctr" rtl="1"/>
            <a:r>
              <a:rPr lang="en-US" sz="1600" dirty="0"/>
              <a:t>Conv2d(24→1, 1×1)</a:t>
            </a:r>
          </a:p>
          <a:p>
            <a:pPr algn="ctr" rtl="1"/>
            <a:r>
              <a:rPr lang="en-US" sz="1600" dirty="0"/>
              <a:t>    ↓</a:t>
            </a:r>
          </a:p>
          <a:p>
            <a:pPr algn="ctr" rtl="1"/>
            <a:r>
              <a:rPr lang="en-US" sz="1600" dirty="0"/>
              <a:t>Sigmoid → IDM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0AAF7-341D-060F-86B8-F6121A0E929A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CB96F4-1E1C-5F5C-6AC7-26814A480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8">
            <a:extLst>
              <a:ext uri="{FF2B5EF4-FFF2-40B4-BE49-F238E27FC236}">
                <a16:creationId xmlns:a16="http://schemas.microsoft.com/office/drawing/2014/main" id="{1AABF0C8-21F5-A9D1-F4F7-B2F3F1D23AAC}"/>
              </a:ext>
            </a:extLst>
          </p:cNvPr>
          <p:cNvSpPr/>
          <p:nvPr/>
        </p:nvSpPr>
        <p:spPr>
          <a:xfrm>
            <a:off x="235132" y="1962685"/>
            <a:ext cx="4007031" cy="13426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843A4185-664E-D2E5-7BDD-DC5306AA0FD4}"/>
              </a:ext>
            </a:extLst>
          </p:cNvPr>
          <p:cNvSpPr/>
          <p:nvPr/>
        </p:nvSpPr>
        <p:spPr>
          <a:xfrm>
            <a:off x="4382589" y="1229123"/>
            <a:ext cx="4369521" cy="36498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تابع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هزینه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ویژه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Information Entropy Loss — 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9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F616A-EED8-9CEB-4C66-5E9DDAEC4B8C}"/>
              </a:ext>
            </a:extLst>
          </p:cNvPr>
          <p:cNvSpPr txBox="1"/>
          <p:nvPr/>
        </p:nvSpPr>
        <p:spPr>
          <a:xfrm>
            <a:off x="235133" y="2259794"/>
            <a:ext cx="38666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مقاله یک تابع هزینه خاص برای </a:t>
            </a:r>
            <a:r>
              <a:rPr lang="en-US" dirty="0">
                <a:cs typeface="B Nazanin" panose="00000400000000000000" pitchFamily="2" charset="-78"/>
              </a:rPr>
              <a:t>IDM </a:t>
            </a:r>
            <a:r>
              <a:rPr lang="fa-IR" dirty="0">
                <a:cs typeface="B Nazanin" panose="00000400000000000000" pitchFamily="2" charset="-78"/>
              </a:rPr>
              <a:t> معرفی کرده:</a:t>
            </a: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algn="r" rtl="1"/>
            <a:endParaRPr lang="en-US" dirty="0">
              <a:cs typeface="B Nazanin" panose="00000400000000000000" pitchFamily="2" charset="-78"/>
            </a:endParaRPr>
          </a:p>
          <a:p>
            <a:pPr algn="r" rtl="1"/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DC960-62F4-2EBB-779D-51BAC7BF3EA1}"/>
              </a:ext>
            </a:extLst>
          </p:cNvPr>
          <p:cNvSpPr txBox="1"/>
          <p:nvPr/>
        </p:nvSpPr>
        <p:spPr>
          <a:xfrm>
            <a:off x="4434840" y="1546536"/>
            <a:ext cx="425196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solidFill>
                  <a:srgbClr val="009BD2"/>
                </a:solidFill>
                <a:cs typeface="B Nazanin" panose="00000400000000000000" pitchFamily="2" charset="-78"/>
              </a:rPr>
              <a:t>مرحله ۱: کوانتیزه کردن ویژگی‌ها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sz="1800" dirty="0">
                <a:cs typeface="B Nazanin" panose="00000400000000000000" pitchFamily="2" charset="-78"/>
              </a:rPr>
              <a:t>اضافه کردن نویز </a:t>
            </a: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solidFill>
                  <a:srgbClr val="00B050"/>
                </a:solidFill>
                <a:cs typeface="B Nazanin" panose="00000400000000000000" pitchFamily="2" charset="-78"/>
              </a:rPr>
              <a:t>یکنواخت)مرحله ۲: مدل‌سازی گاوسی 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sz="1600" dirty="0">
                <a:cs typeface="B Nazanin" panose="00000400000000000000" pitchFamily="2" charset="-78"/>
              </a:rPr>
              <a:t>توزیع گاوسی با پارامترهای </a:t>
            </a:r>
            <a:r>
              <a:rPr lang="el-GR" sz="1600" dirty="0">
                <a:cs typeface="B Nazanin" panose="00000400000000000000" pitchFamily="2" charset="-78"/>
              </a:rPr>
              <a:t>μ </a:t>
            </a:r>
            <a:r>
              <a:rPr lang="fa-IR" sz="1600" dirty="0">
                <a:cs typeface="B Nazanin" panose="00000400000000000000" pitchFamily="2" charset="-78"/>
              </a:rPr>
              <a:t> و </a:t>
            </a:r>
            <a:r>
              <a:rPr lang="el-GR" sz="1600" dirty="0">
                <a:cs typeface="B Nazanin" panose="00000400000000000000" pitchFamily="2" charset="-78"/>
              </a:rPr>
              <a:t>θ</a:t>
            </a:r>
            <a:endParaRPr lang="fa-IR" sz="1600" dirty="0">
              <a:cs typeface="B Nazanin" panose="00000400000000000000" pitchFamily="2" charset="-78"/>
            </a:endParaRP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solidFill>
                  <a:schemeClr val="accent2"/>
                </a:solidFill>
                <a:cs typeface="B Nazanin" panose="00000400000000000000" pitchFamily="2" charset="-78"/>
              </a:rPr>
              <a:t>مرحله ۳: محاسبه انتروپی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sz="1600" dirty="0">
                <a:cs typeface="B Nazanin" panose="00000400000000000000" pitchFamily="2" charset="-78"/>
              </a:rPr>
              <a:t>   منفی لاگ احتمال → هرچی </a:t>
            </a:r>
            <a:r>
              <a:rPr lang="en-US" sz="1600" dirty="0">
                <a:cs typeface="B Nazanin" panose="00000400000000000000" pitchFamily="2" charset="-78"/>
              </a:rPr>
              <a:t>IDM </a:t>
            </a:r>
            <a:r>
              <a:rPr lang="fa-IR" sz="1600" dirty="0">
                <a:cs typeface="B Nazanin" panose="00000400000000000000" pitchFamily="2" charset="-78"/>
              </a:rPr>
              <a:t> دقیق‌تر باشد، </a:t>
            </a:r>
            <a:r>
              <a:rPr lang="en-US" sz="1600" dirty="0">
                <a:cs typeface="B Nazanin" panose="00000400000000000000" pitchFamily="2" charset="-78"/>
              </a:rPr>
              <a:t>loss </a:t>
            </a:r>
            <a:r>
              <a:rPr lang="fa-IR" sz="1600" dirty="0">
                <a:cs typeface="B Nazanin" panose="00000400000000000000" pitchFamily="2" charset="-78"/>
              </a:rPr>
              <a:t> کمتر.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861C36-D8CB-517C-F555-7404C8B8CF88}"/>
              </a:ext>
            </a:extLst>
          </p:cNvPr>
          <p:cNvSpPr txBox="1"/>
          <p:nvPr/>
        </p:nvSpPr>
        <p:spPr>
          <a:xfrm>
            <a:off x="4101738" y="43535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solidFill>
                  <a:srgbClr val="C00000"/>
                </a:solidFill>
                <a:cs typeface="B Nazanin" panose="00000400000000000000" pitchFamily="2" charset="-78"/>
              </a:rPr>
              <a:t>نتیجه: </a:t>
            </a:r>
            <a:r>
              <a:rPr lang="en-US" dirty="0">
                <a:solidFill>
                  <a:srgbClr val="C00000"/>
                </a:solidFill>
                <a:cs typeface="B Nazanin" panose="00000400000000000000" pitchFamily="2" charset="-78"/>
              </a:rPr>
              <a:t>IDM </a:t>
            </a:r>
            <a:r>
              <a:rPr lang="fa-IR" dirty="0">
                <a:solidFill>
                  <a:srgbClr val="C00000"/>
                </a:solidFill>
                <a:cs typeface="B Nazanin" panose="00000400000000000000" pitchFamily="2" charset="-78"/>
              </a:rPr>
              <a:t> یاد میگیرد نواحی واقعاً مهم رو شناسایی کند.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F22CFC-77CB-D31C-394F-A3547A051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17" y="2680091"/>
            <a:ext cx="2943636" cy="485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92EF4B-98AC-CD10-2962-C463F3CAC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333" y="1938362"/>
            <a:ext cx="1879999" cy="1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35018B-7968-0B7F-5E20-F475B70813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400" b="28755"/>
          <a:stretch/>
        </p:blipFill>
        <p:spPr>
          <a:xfrm>
            <a:off x="4758428" y="2633998"/>
            <a:ext cx="1217830" cy="3331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9C570A-6814-D1CA-2D99-BDA6E3BD5918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BAFB94-EA4F-B913-C7FC-91081B716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8">
            <a:extLst>
              <a:ext uri="{FF2B5EF4-FFF2-40B4-BE49-F238E27FC236}">
                <a16:creationId xmlns:a16="http://schemas.microsoft.com/office/drawing/2014/main" id="{EBAF5731-9C49-EC4D-D4FC-2BEF0A7F2510}"/>
              </a:ext>
            </a:extLst>
          </p:cNvPr>
          <p:cNvSpPr/>
          <p:nvPr/>
        </p:nvSpPr>
        <p:spPr>
          <a:xfrm>
            <a:off x="1120140" y="1103811"/>
            <a:ext cx="6903717" cy="382741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مرحله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۳: Top-k Mask —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انتخاب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نواحی مهم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985C4-62BD-29A6-907A-2AA1AAAAAC54}"/>
              </a:ext>
            </a:extLst>
          </p:cNvPr>
          <p:cNvSpPr txBox="1"/>
          <p:nvPr/>
        </p:nvSpPr>
        <p:spPr>
          <a:xfrm>
            <a:off x="1164228" y="2273459"/>
            <a:ext cx="34877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b="1" dirty="0">
                <a:solidFill>
                  <a:srgbClr val="009BD2"/>
                </a:solidFill>
                <a:cs typeface="B Nazanin" panose="00000400000000000000" pitchFamily="2" charset="-78"/>
              </a:rPr>
              <a:t>مثال با </a:t>
            </a:r>
            <a:r>
              <a:rPr lang="en-US" b="1" dirty="0">
                <a:solidFill>
                  <a:srgbClr val="009BD2"/>
                </a:solidFill>
                <a:cs typeface="B Nazanin" panose="00000400000000000000" pitchFamily="2" charset="-78"/>
              </a:rPr>
              <a:t>:k=5%</a:t>
            </a:r>
            <a:endParaRPr lang="fa-IR" b="1" dirty="0">
              <a:solidFill>
                <a:srgbClr val="009BD2"/>
              </a:solidFill>
              <a:cs typeface="B Nazanin" panose="00000400000000000000" pitchFamily="2" charset="-78"/>
            </a:endParaRPr>
          </a:p>
          <a:p>
            <a:pPr algn="ctr" rtl="1"/>
            <a:endParaRPr lang="en-US" b="1" dirty="0">
              <a:solidFill>
                <a:srgbClr val="009BD2"/>
              </a:solidFill>
              <a:cs typeface="B Nazanin" panose="00000400000000000000" pitchFamily="2" charset="-78"/>
            </a:endParaRPr>
          </a:p>
          <a:p>
            <a:pPr algn="ctr" rtl="1"/>
            <a:r>
              <a:rPr lang="en-US" dirty="0">
                <a:cs typeface="B Nazanin" panose="00000400000000000000" pitchFamily="2" charset="-78"/>
              </a:rPr>
              <a:t>  </a:t>
            </a:r>
            <a:r>
              <a:rPr lang="fa-IR" dirty="0">
                <a:cs typeface="B Nazanin" panose="00000400000000000000" pitchFamily="2" charset="-78"/>
              </a:rPr>
              <a:t>تصویر 64×64 = 4096 پیکسل.</a:t>
            </a:r>
          </a:p>
          <a:p>
            <a:pPr algn="ctr" rtl="1"/>
            <a:r>
              <a:rPr lang="fa-IR" dirty="0">
                <a:cs typeface="B Nazanin" panose="00000400000000000000" pitchFamily="2" charset="-78"/>
              </a:rPr>
              <a:t>  فقط 205 پیکسل (5%) انتخاب میشوند.</a:t>
            </a:r>
          </a:p>
          <a:p>
            <a:pPr algn="ctr" rtl="1"/>
            <a:r>
              <a:rPr lang="fa-IR" dirty="0">
                <a:cs typeface="B Nazanin" panose="00000400000000000000" pitchFamily="2" charset="-78"/>
              </a:rPr>
              <a:t>  بقیه 3891 پیکسل = 0 (پردازش نمی شوند)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AF486-948C-D0C5-5735-87BE54A3ADBB}"/>
              </a:ext>
            </a:extLst>
          </p:cNvPr>
          <p:cNvSpPr txBox="1"/>
          <p:nvPr/>
        </p:nvSpPr>
        <p:spPr>
          <a:xfrm>
            <a:off x="4491991" y="2019785"/>
            <a:ext cx="34877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endParaRPr lang="en-US" dirty="0">
              <a:cs typeface="B Nazanin" panose="00000400000000000000" pitchFamily="2" charset="-78"/>
            </a:endParaRPr>
          </a:p>
          <a:p>
            <a:pPr algn="ctr" rtl="1"/>
            <a:r>
              <a:rPr lang="en-US" b="1" dirty="0">
                <a:solidFill>
                  <a:srgbClr val="C00000"/>
                </a:solidFill>
                <a:cs typeface="B Nazanin" panose="00000400000000000000" pitchFamily="2" charset="-78"/>
              </a:rPr>
              <a:t>Top-k Mask:</a:t>
            </a:r>
          </a:p>
          <a:p>
            <a:pPr algn="ctr" rtl="1"/>
            <a:endParaRPr lang="en-US" b="1" dirty="0">
              <a:solidFill>
                <a:srgbClr val="C00000"/>
              </a:solidFill>
              <a:cs typeface="B Nazanin" panose="00000400000000000000" pitchFamily="2" charset="-78"/>
            </a:endParaRPr>
          </a:p>
          <a:p>
            <a:pPr algn="ctr" rtl="1"/>
            <a:r>
              <a:rPr lang="en-US" dirty="0">
                <a:cs typeface="B Nazanin" panose="00000400000000000000" pitchFamily="2" charset="-78"/>
              </a:rPr>
              <a:t>  </a:t>
            </a:r>
            <a:r>
              <a:rPr lang="fa-IR" dirty="0">
                <a:cs typeface="B Nazanin" panose="00000400000000000000" pitchFamily="2" charset="-78"/>
              </a:rPr>
              <a:t>۱. </a:t>
            </a:r>
            <a:r>
              <a:rPr lang="en-US" dirty="0">
                <a:cs typeface="B Nazanin" panose="00000400000000000000" pitchFamily="2" charset="-78"/>
              </a:rPr>
              <a:t> IDM </a:t>
            </a:r>
            <a:r>
              <a:rPr lang="fa-IR" dirty="0">
                <a:cs typeface="B Nazanin" panose="00000400000000000000" pitchFamily="2" charset="-78"/>
              </a:rPr>
              <a:t>رو صاف کن (</a:t>
            </a:r>
            <a:r>
              <a:rPr lang="en-US" sz="1600" dirty="0">
                <a:cs typeface="B Nazanin" panose="00000400000000000000" pitchFamily="2" charset="-78"/>
              </a:rPr>
              <a:t>flatten</a:t>
            </a:r>
            <a:r>
              <a:rPr lang="fa-IR" dirty="0">
                <a:cs typeface="B Nazanin" panose="00000400000000000000" pitchFamily="2" charset="-78"/>
              </a:rPr>
              <a:t>)</a:t>
            </a:r>
            <a:endParaRPr lang="en-US" dirty="0">
              <a:cs typeface="B Nazanin" panose="00000400000000000000" pitchFamily="2" charset="-78"/>
            </a:endParaRPr>
          </a:p>
          <a:p>
            <a:pPr algn="ctr" rtl="1"/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۲. </a:t>
            </a:r>
            <a:r>
              <a:rPr lang="en-US" dirty="0">
                <a:cs typeface="B Nazanin" panose="00000400000000000000" pitchFamily="2" charset="-78"/>
              </a:rPr>
              <a:t>k </a:t>
            </a:r>
            <a:r>
              <a:rPr lang="fa-IR" dirty="0">
                <a:cs typeface="B Nazanin" panose="00000400000000000000" pitchFamily="2" charset="-78"/>
              </a:rPr>
              <a:t> تا بزرگ‌ترین مقدار رو پیدا کن.</a:t>
            </a:r>
          </a:p>
          <a:p>
            <a:pPr algn="ctr" rtl="1"/>
            <a:r>
              <a:rPr lang="fa-IR" dirty="0">
                <a:cs typeface="B Nazanin" panose="00000400000000000000" pitchFamily="2" charset="-78"/>
              </a:rPr>
              <a:t>  ۳. فقط اون نواحی = 1، بقیه =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777F1-C82C-B54D-7A59-91A6AA9E29B8}"/>
              </a:ext>
            </a:extLst>
          </p:cNvPr>
          <p:cNvSpPr txBox="1"/>
          <p:nvPr/>
        </p:nvSpPr>
        <p:spPr>
          <a:xfrm>
            <a:off x="2225585" y="1442754"/>
            <a:ext cx="4532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dirty="0">
                <a:cs typeface="B Nazanin" panose="00000400000000000000" pitchFamily="2" charset="-78"/>
              </a:rPr>
              <a:t>IDM </a:t>
            </a:r>
            <a:r>
              <a:rPr lang="fa-IR" dirty="0">
                <a:cs typeface="B Nazanin" panose="00000400000000000000" pitchFamily="2" charset="-78"/>
              </a:rPr>
              <a:t> رو داریم </a:t>
            </a:r>
            <a:r>
              <a:rPr lang="fa-IR" dirty="0">
                <a:cs typeface="B Nazanin" panose="00000400000000000000" pitchFamily="2" charset="-78"/>
                <a:sym typeface="Wingdings" panose="05000000000000000000" pitchFamily="2" charset="2"/>
              </a:rPr>
              <a:t> </a:t>
            </a:r>
            <a:r>
              <a:rPr lang="fa-IR" dirty="0">
                <a:cs typeface="B Nazanin" panose="00000400000000000000" pitchFamily="2" charset="-78"/>
              </a:rPr>
              <a:t>حالا کدوم نواحی مهم‌ترهستند؟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FC4FD1-591C-54A3-56E4-87883EB9A405}"/>
              </a:ext>
            </a:extLst>
          </p:cNvPr>
          <p:cNvSpPr txBox="1"/>
          <p:nvPr/>
        </p:nvSpPr>
        <p:spPr>
          <a:xfrm>
            <a:off x="2908118" y="4342497"/>
            <a:ext cx="348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solidFill>
                  <a:srgbClr val="00B050"/>
                </a:solidFill>
                <a:cs typeface="B Nazanin" panose="00000400000000000000" pitchFamily="2" charset="-78"/>
              </a:rPr>
              <a:t>صرفه‌جویی در محاسبات: تا 95% کمتر!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33425-625B-19AE-CC85-8A993854283D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160E31-6C3A-9DCE-63E7-F1562FD7B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مرحله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۴: IGRA —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تخصیص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منابع هدایت‌شده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E74C3C"/>
                </a:solidFill>
                <a:cs typeface="B Titr" panose="00000700000000000000" pitchFamily="2" charset="-78"/>
              </a:rPr>
              <a:t>شاخه سخت (Hard Path)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 err="1">
                <a:solidFill>
                  <a:srgbClr val="333333"/>
                </a:solidFill>
                <a:cs typeface="B Nazanin" panose="00000400000000000000" pitchFamily="2" charset="-78"/>
              </a:rPr>
              <a:t>ورودی</a:t>
            </a:r>
            <a:r>
              <a:rPr lang="fa-IR" sz="1400" dirty="0">
                <a:solidFill>
                  <a:srgbClr val="333333"/>
                </a:solidFill>
                <a:cs typeface="B Nazanin" panose="00000400000000000000" pitchFamily="2" charset="-78"/>
              </a:rPr>
              <a:t>: </a:t>
            </a:r>
            <a:r>
              <a:rPr lang="en-US" sz="1400" dirty="0" err="1">
                <a:solidFill>
                  <a:srgbClr val="333333"/>
                </a:solidFill>
                <a:cs typeface="B Nazanin" panose="00000400000000000000" pitchFamily="2" charset="-78"/>
              </a:rPr>
              <a:t>ویژگی</a:t>
            </a: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 f + نقشه IDM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ساختن ماسک Top-k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اعمال ماسک روی f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پردازش فقط نواحی مهم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400" dirty="0" err="1">
                <a:solidFill>
                  <a:srgbClr val="333333"/>
                </a:solidFill>
                <a:cs typeface="B Nazanin" panose="00000400000000000000" pitchFamily="2" charset="-78"/>
              </a:rPr>
              <a:t>خروجی</a:t>
            </a:r>
            <a:r>
              <a:rPr lang="fa-IR" sz="1400" dirty="0">
                <a:solidFill>
                  <a:srgbClr val="333333"/>
                </a:solidFill>
                <a:cs typeface="B Nazanin" panose="00000400000000000000" pitchFamily="2" charset="-78"/>
              </a:rPr>
              <a:t>: </a:t>
            </a:r>
            <a:r>
              <a:rPr lang="en-US" sz="1400" dirty="0">
                <a:solidFill>
                  <a:srgbClr val="333333"/>
                </a:solidFill>
                <a:cs typeface="B Nazanin" panose="00000400000000000000" pitchFamily="2" charset="-78"/>
              </a:rPr>
              <a:t>f + mask × branch(f)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27AE60"/>
                </a:solidFill>
                <a:cs typeface="B Titr" panose="00000700000000000000" pitchFamily="2" charset="-78"/>
              </a:rPr>
              <a:t>چرا Hard Path؟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r" rtl="1"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فقط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نواحی مهم پردازش میشن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95%=0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پیکسل‌ها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</a:p>
          <a:p>
            <a:pPr marL="171450" indent="-171450" algn="r" rtl="1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محاسبات خیلی کمتر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هیچ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منابعی هدر نمیره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400" b="1" dirty="0" err="1">
                <a:solidFill>
                  <a:srgbClr val="555555"/>
                </a:solidFill>
                <a:cs typeface="B Nazanin" panose="00000400000000000000" pitchFamily="2" charset="-78"/>
              </a:rPr>
              <a:t>نتیجه</a:t>
            </a:r>
            <a:r>
              <a:rPr lang="fa-IR" sz="1400" b="1" dirty="0">
                <a:solidFill>
                  <a:srgbClr val="555555"/>
                </a:solidFill>
                <a:cs typeface="B Nazanin" panose="00000400000000000000" pitchFamily="2" charset="-78"/>
              </a:rPr>
              <a:t>:</a:t>
            </a:r>
            <a:r>
              <a:rPr lang="en-US" sz="1400" b="1" dirty="0">
                <a:solidFill>
                  <a:srgbClr val="555555"/>
                </a:solidFill>
                <a:cs typeface="B Nazanin" panose="00000400000000000000" pitchFamily="2" charset="-78"/>
              </a:rPr>
              <a:t> سرعت بالا + </a:t>
            </a:r>
            <a:r>
              <a:rPr lang="fa-IR" sz="1400" b="1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b="1" dirty="0" err="1">
                <a:solidFill>
                  <a:srgbClr val="555555"/>
                </a:solidFill>
                <a:cs typeface="B Nazanin" panose="00000400000000000000" pitchFamily="2" charset="-78"/>
              </a:rPr>
              <a:t>حفظ</a:t>
            </a:r>
            <a:r>
              <a:rPr lang="en-US" sz="1400" b="1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b="1" dirty="0" err="1">
                <a:solidFill>
                  <a:srgbClr val="555555"/>
                </a:solidFill>
                <a:cs typeface="B Nazanin" panose="00000400000000000000" pitchFamily="2" charset="-78"/>
              </a:rPr>
              <a:t>کیفیت</a:t>
            </a:r>
            <a:endParaRPr lang="en-US" sz="1400" b="1" dirty="0">
              <a:cs typeface="B Nazanin" panose="000004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E74C3C"/>
                </a:solidFill>
                <a:cs typeface="B Nazanin" panose="00000400000000000000" pitchFamily="2" charset="-78"/>
              </a:rPr>
              <a:t> = IGRA = Hard Path </a:t>
            </a:r>
            <a:r>
              <a:rPr lang="en-US" sz="1400" b="1" dirty="0" err="1">
                <a:solidFill>
                  <a:srgbClr val="E74C3C"/>
                </a:solidFill>
                <a:cs typeface="B Nazanin" panose="00000400000000000000" pitchFamily="2" charset="-78"/>
              </a:rPr>
              <a:t>فقط</a:t>
            </a:r>
            <a:r>
              <a:rPr lang="en-US" sz="1400" b="1" dirty="0">
                <a:solidFill>
                  <a:srgbClr val="E74C3C"/>
                </a:solidFill>
                <a:cs typeface="B Nazanin" panose="00000400000000000000" pitchFamily="2" charset="-78"/>
              </a:rPr>
              <a:t> پیکسل‌های مهم رو </a:t>
            </a:r>
            <a:r>
              <a:rPr lang="en-US" sz="1400" b="1" dirty="0" err="1">
                <a:solidFill>
                  <a:srgbClr val="E74C3C"/>
                </a:solidFill>
                <a:cs typeface="B Nazanin" panose="00000400000000000000" pitchFamily="2" charset="-78"/>
              </a:rPr>
              <a:t>پردازش</a:t>
            </a:r>
            <a:r>
              <a:rPr lang="en-US" sz="1400" b="1" dirty="0">
                <a:solidFill>
                  <a:srgbClr val="E74C3C"/>
                </a:solidFill>
                <a:cs typeface="B Nazanin" panose="00000400000000000000" pitchFamily="2" charset="-78"/>
              </a:rPr>
              <a:t> </a:t>
            </a:r>
            <a:r>
              <a:rPr lang="fa-IR" sz="1400" b="1" dirty="0">
                <a:solidFill>
                  <a:srgbClr val="E74C3C"/>
                </a:solidFill>
                <a:cs typeface="B Nazanin" panose="00000400000000000000" pitchFamily="2" charset="-78"/>
              </a:rPr>
              <a:t>میکند.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298B5-3744-88EF-ADF1-8C83DDD72057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76F4F4-FB20-BDFE-C1F8-F2A974E7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مرحله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۵: ARM —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بازتنظیم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تطبیقی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3498DB"/>
                </a:solidFill>
                <a:cs typeface="B Titr" panose="00000700000000000000" pitchFamily="2" charset="-78"/>
              </a:rPr>
              <a:t>شاخه نرم (Soft Path)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 err="1">
                <a:solidFill>
                  <a:srgbClr val="333333"/>
                </a:solidFill>
                <a:cs typeface="B Nazanin" panose="00000400000000000000" pitchFamily="2" charset="-78"/>
              </a:rPr>
              <a:t>ورودی</a:t>
            </a:r>
            <a:r>
              <a:rPr lang="fa-IR" sz="1100" dirty="0">
                <a:solidFill>
                  <a:srgbClr val="333333"/>
                </a:solidFill>
                <a:cs typeface="B Nazanin" panose="00000400000000000000" pitchFamily="2" charset="-78"/>
              </a:rPr>
              <a:t>:</a:t>
            </a: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ویژگی f + نقشه IDM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Depthwise Conv </a:t>
            </a:r>
            <a:r>
              <a:rPr lang="fa-IR" sz="1100" dirty="0">
                <a:solidFill>
                  <a:srgbClr val="333333"/>
                </a:solidFill>
                <a:cs typeface="B Nazanin" panose="00000400000000000000" pitchFamily="2" charset="-78"/>
              </a:rPr>
              <a:t> (</a:t>
            </a:r>
            <a:r>
              <a:rPr lang="en-US" sz="1100" dirty="0" err="1">
                <a:solidFill>
                  <a:srgbClr val="333333"/>
                </a:solidFill>
                <a:cs typeface="B Nazanin" panose="00000400000000000000" pitchFamily="2" charset="-78"/>
              </a:rPr>
              <a:t>استخراج</a:t>
            </a: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</a:t>
            </a:r>
            <a:r>
              <a:rPr lang="en-US" sz="1100" dirty="0" err="1">
                <a:solidFill>
                  <a:srgbClr val="333333"/>
                </a:solidFill>
                <a:cs typeface="B Nazanin" panose="00000400000000000000" pitchFamily="2" charset="-78"/>
              </a:rPr>
              <a:t>محلی</a:t>
            </a:r>
            <a:r>
              <a:rPr lang="fa-IR" sz="1100" dirty="0">
                <a:solidFill>
                  <a:srgbClr val="333333"/>
                </a:solidFill>
                <a:cs typeface="B Nazanin" panose="00000400000000000000" pitchFamily="2" charset="-78"/>
              </a:rPr>
              <a:t>)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1×1 Conv + ReLU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 err="1">
                <a:solidFill>
                  <a:srgbClr val="333333"/>
                </a:solidFill>
                <a:cs typeface="B Nazanin" panose="00000400000000000000" pitchFamily="2" charset="-78"/>
              </a:rPr>
              <a:t>اتصال</a:t>
            </a: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f </a:t>
            </a:r>
            <a:r>
              <a:rPr lang="fa-IR" sz="1100" dirty="0">
                <a:solidFill>
                  <a:srgbClr val="333333"/>
                </a:solidFill>
                <a:cs typeface="B Nazanin" panose="00000400000000000000" pitchFamily="2" charset="-78"/>
              </a:rPr>
              <a:t> </a:t>
            </a: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و IDM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→ Sigmoid  </a:t>
            </a:r>
            <a:r>
              <a:rPr lang="en-US" sz="1100" dirty="0" err="1">
                <a:solidFill>
                  <a:srgbClr val="333333"/>
                </a:solidFill>
                <a:cs typeface="B Nazanin" panose="00000400000000000000" pitchFamily="2" charset="-78"/>
              </a:rPr>
              <a:t>ضریب</a:t>
            </a: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مقیاس s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   ↓</a:t>
            </a:r>
            <a:endParaRPr lang="en-US" sz="110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00" dirty="0" err="1">
                <a:solidFill>
                  <a:srgbClr val="333333"/>
                </a:solidFill>
                <a:cs typeface="B Nazanin" panose="00000400000000000000" pitchFamily="2" charset="-78"/>
              </a:rPr>
              <a:t>خروجی</a:t>
            </a:r>
            <a:r>
              <a:rPr lang="fa-IR" sz="1100" dirty="0">
                <a:solidFill>
                  <a:srgbClr val="333333"/>
                </a:solidFill>
                <a:cs typeface="B Nazanin" panose="00000400000000000000" pitchFamily="2" charset="-78"/>
              </a:rPr>
              <a:t>: </a:t>
            </a:r>
            <a:r>
              <a:rPr lang="en-US" sz="1100" dirty="0">
                <a:solidFill>
                  <a:srgbClr val="333333"/>
                </a:solidFill>
                <a:cs typeface="B Nazanin" panose="00000400000000000000" pitchFamily="2" charset="-78"/>
              </a:rPr>
              <a:t> local × (1 + s)</a:t>
            </a:r>
            <a:endParaRPr lang="en-US" sz="1100" dirty="0">
              <a:cs typeface="B Nazanin" panose="00000400000000000000" pitchFamily="2" charset="-7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39C12"/>
                </a:solidFill>
                <a:cs typeface="B Titr" panose="00000700000000000000" pitchFamily="2" charset="-78"/>
              </a:rPr>
              <a:t>چرا Soft Path؟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همه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پیکسل‌ها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پردازش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می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ش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و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ن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د.</a:t>
            </a:r>
            <a:endParaRPr lang="en-US" sz="14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ولی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با شدت متفاوت</a:t>
            </a:r>
            <a:endParaRPr lang="en-US" sz="14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IDM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ضریب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مقیاس رو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تعیین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میکن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د.</a:t>
            </a:r>
            <a:endParaRPr lang="en-US" sz="14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نواحی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مهم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مقیاس بالاتر</a:t>
            </a:r>
            <a:endParaRPr lang="en-US" sz="14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نواحی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ساده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مقیاس پایین‌تر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نتیجه: تقویت هوشمند و یکپارچه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3498DB"/>
                </a:solidFill>
                <a:cs typeface="B Titr" panose="00000700000000000000" pitchFamily="2" charset="-78"/>
              </a:rPr>
              <a:t>= ARM = Soft Path </a:t>
            </a:r>
            <a:r>
              <a:rPr lang="fa-IR" sz="1400" b="1" dirty="0">
                <a:solidFill>
                  <a:srgbClr val="3498DB"/>
                </a:solidFill>
                <a:cs typeface="B Titr" panose="00000700000000000000" pitchFamily="2" charset="-78"/>
              </a:rPr>
              <a:t> </a:t>
            </a:r>
            <a:r>
              <a:rPr lang="en-US" sz="1400" b="1" dirty="0" err="1">
                <a:solidFill>
                  <a:srgbClr val="3498DB"/>
                </a:solidFill>
                <a:cs typeface="B Titr" panose="00000700000000000000" pitchFamily="2" charset="-78"/>
              </a:rPr>
              <a:t>همه</a:t>
            </a:r>
            <a:r>
              <a:rPr lang="en-US" sz="1400" b="1" dirty="0">
                <a:solidFill>
                  <a:srgbClr val="3498DB"/>
                </a:solidFill>
                <a:cs typeface="B Titr" panose="00000700000000000000" pitchFamily="2" charset="-78"/>
              </a:rPr>
              <a:t> پیکسل‌ها ولی با شدت متفاوت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7DBF5-882C-E921-273A-4A2E9BBDDB5F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0A3D85-4D25-4575-9DE6-063B4B4E3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مقایسهHard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Path (IGRA) vs Soft Path (ARM)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074207"/>
              </p:ext>
            </p:extLst>
          </p:nvPr>
        </p:nvGraphicFramePr>
        <p:xfrm>
          <a:off x="731520" y="1188720"/>
          <a:ext cx="7680960" cy="2743202"/>
        </p:xfrm>
        <a:graphic>
          <a:graphicData uri="http://schemas.openxmlformats.org/drawingml/2006/table">
            <a:tbl>
              <a:tblPr rtl="1"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ویژگی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IGRA (Hard)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ARM (Soft)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پردازش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فقط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k%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fa-IR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پیکسل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همه پیکسل‌ها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ماسک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باینری (0/1)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پیوسته (0~1)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سرعت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خیلی سریع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کمی کندتر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دقت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بالا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fa-IR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فقط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مهم‌ها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(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خوب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)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همه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ولی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هوشمند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(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منبع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صرفه‌جویی 95%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صرفه‌جویی کمتر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استفاده در مقاله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شاخه سخت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شاخه نرم</a:t>
                      </a:r>
                      <a:endParaRPr lang="en-US" sz="1200" dirty="0">
                        <a:cs typeface="B Titr" panose="000007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27AE60"/>
                </a:solidFill>
                <a:cs typeface="B Titr" panose="00000700000000000000" pitchFamily="2" charset="-78"/>
              </a:rPr>
              <a:t>هر دو شاخه در بلوک IFEB </a:t>
            </a:r>
            <a:r>
              <a:rPr lang="fa-IR" sz="1400" b="1" dirty="0">
                <a:solidFill>
                  <a:srgbClr val="27AE60"/>
                </a:solidFill>
                <a:cs typeface="B Titr" panose="00000700000000000000" pitchFamily="2" charset="-78"/>
              </a:rPr>
              <a:t> </a:t>
            </a:r>
            <a:r>
              <a:rPr lang="en-US" sz="1400" b="1" dirty="0" err="1">
                <a:solidFill>
                  <a:srgbClr val="27AE60"/>
                </a:solidFill>
                <a:cs typeface="B Titr" panose="00000700000000000000" pitchFamily="2" charset="-78"/>
              </a:rPr>
              <a:t>ترکیب</a:t>
            </a:r>
            <a:r>
              <a:rPr lang="en-US" sz="1400" b="1" dirty="0">
                <a:solidFill>
                  <a:srgbClr val="27AE60"/>
                </a:solidFill>
                <a:cs typeface="B Titr" panose="00000700000000000000" pitchFamily="2" charset="-78"/>
              </a:rPr>
              <a:t> میشن → بهترین نتیجه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366F4-5E72-F5C2-CEF7-359F194DB344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AA2414-D101-B6D7-895F-B0B522FAF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8">
            <a:extLst>
              <a:ext uri="{FF2B5EF4-FFF2-40B4-BE49-F238E27FC236}">
                <a16:creationId xmlns:a16="http://schemas.microsoft.com/office/drawing/2014/main" id="{BD2442FE-FA66-6504-47E0-320D61D22B2D}"/>
              </a:ext>
            </a:extLst>
          </p:cNvPr>
          <p:cNvSpPr/>
          <p:nvPr/>
        </p:nvSpPr>
        <p:spPr>
          <a:xfrm>
            <a:off x="1120140" y="1103811"/>
            <a:ext cx="6903717" cy="382741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مرحله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۶: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بلوک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IFEB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-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ترکیب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دو شاخه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14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FE3C0-AC46-7659-18FE-2086AF00E3F9}"/>
              </a:ext>
            </a:extLst>
          </p:cNvPr>
          <p:cNvSpPr txBox="1"/>
          <p:nvPr/>
        </p:nvSpPr>
        <p:spPr>
          <a:xfrm>
            <a:off x="1918902" y="1103811"/>
            <a:ext cx="54563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b="1" dirty="0">
                <a:solidFill>
                  <a:srgbClr val="C00000"/>
                </a:solidFill>
                <a:cs typeface="B Titr" panose="00000700000000000000" pitchFamily="2" charset="-78"/>
              </a:rPr>
              <a:t>IFEB = Information-guided Feature Enhancement Block</a:t>
            </a:r>
          </a:p>
          <a:p>
            <a:pPr algn="ctr" rtl="1"/>
            <a:endParaRPr lang="en-US" dirty="0">
              <a:solidFill>
                <a:srgbClr val="C00000"/>
              </a:solidFill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ساختار داخلی: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   1. 1×1 </a:t>
            </a:r>
            <a:r>
              <a:rPr lang="en-US" sz="1600" dirty="0">
                <a:cs typeface="B Nazanin" panose="00000400000000000000" pitchFamily="2" charset="-78"/>
              </a:rPr>
              <a:t>Conv</a:t>
            </a:r>
            <a:r>
              <a:rPr lang="fa-IR" sz="1600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  <a:sym typeface="Wingdings" panose="05000000000000000000" pitchFamily="2" charset="2"/>
              </a:rPr>
              <a:t> </a:t>
            </a:r>
            <a:r>
              <a:rPr lang="fa-IR" dirty="0">
                <a:cs typeface="B Nazanin" panose="00000400000000000000" pitchFamily="2" charset="-78"/>
              </a:rPr>
              <a:t>تقسیم ویژگی به 2 بخش.</a:t>
            </a:r>
          </a:p>
          <a:p>
            <a:pPr algn="r" rtl="1"/>
            <a:r>
              <a:rPr lang="fa-IR" dirty="0">
                <a:solidFill>
                  <a:srgbClr val="C00000"/>
                </a:solidFill>
                <a:cs typeface="B Nazanin" panose="00000400000000000000" pitchFamily="2" charset="-78"/>
              </a:rPr>
              <a:t>   2. چپ </a:t>
            </a:r>
            <a:r>
              <a:rPr lang="fa-IR" dirty="0">
                <a:solidFill>
                  <a:srgbClr val="C00000"/>
                </a:solidFill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solidFill>
                  <a:srgbClr val="C00000"/>
                </a:solidFill>
                <a:cs typeface="B Nazanin" panose="00000400000000000000" pitchFamily="2" charset="-78"/>
              </a:rPr>
              <a:t> </a:t>
            </a:r>
            <a:r>
              <a:rPr lang="en-US" sz="1600" b="1" dirty="0">
                <a:solidFill>
                  <a:srgbClr val="C00000"/>
                </a:solidFill>
                <a:cs typeface="B Nazanin" panose="00000400000000000000" pitchFamily="2" charset="-78"/>
              </a:rPr>
              <a:t>IGRA (Hard Path)  </a:t>
            </a:r>
          </a:p>
          <a:p>
            <a:pPr algn="r" rtl="1"/>
            <a:r>
              <a:rPr lang="fa-IR" dirty="0">
                <a:solidFill>
                  <a:srgbClr val="009BD2"/>
                </a:solidFill>
                <a:cs typeface="B Nazanin" panose="00000400000000000000" pitchFamily="2" charset="-78"/>
              </a:rPr>
              <a:t>   ۳.</a:t>
            </a:r>
            <a:r>
              <a:rPr lang="en-US" dirty="0">
                <a:solidFill>
                  <a:srgbClr val="009BD2"/>
                </a:solidFill>
                <a:cs typeface="B Nazanin" panose="00000400000000000000" pitchFamily="2" charset="-78"/>
              </a:rPr>
              <a:t> </a:t>
            </a:r>
            <a:r>
              <a:rPr lang="fa-IR" dirty="0">
                <a:solidFill>
                  <a:srgbClr val="009BD2"/>
                </a:solidFill>
                <a:cs typeface="B Nazanin" panose="00000400000000000000" pitchFamily="2" charset="-78"/>
              </a:rPr>
              <a:t>راست </a:t>
            </a:r>
            <a:r>
              <a:rPr lang="fa-IR" dirty="0">
                <a:solidFill>
                  <a:srgbClr val="009BD2"/>
                </a:solidFill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solidFill>
                  <a:srgbClr val="009BD2"/>
                </a:solidFill>
                <a:cs typeface="B Nazanin" panose="00000400000000000000" pitchFamily="2" charset="-78"/>
              </a:rPr>
              <a:t> </a:t>
            </a:r>
            <a:r>
              <a:rPr lang="en-US" sz="1600" b="1" dirty="0">
                <a:solidFill>
                  <a:srgbClr val="009BD2"/>
                </a:solidFill>
                <a:cs typeface="B Nazanin" panose="00000400000000000000" pitchFamily="2" charset="-78"/>
              </a:rPr>
              <a:t>ARM (Soft Path)  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   4. ترکیب: </a:t>
            </a:r>
            <a:r>
              <a:rPr lang="en-US" b="1" dirty="0">
                <a:cs typeface="B Nazanin" panose="00000400000000000000" pitchFamily="2" charset="-78"/>
              </a:rPr>
              <a:t>IGRA + ARM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   ۵.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۱</a:t>
            </a:r>
            <a:r>
              <a:rPr lang="en-US" sz="1600" dirty="0">
                <a:cs typeface="B Nazanin" panose="00000400000000000000" pitchFamily="2" charset="-78"/>
              </a:rPr>
              <a:t>×</a:t>
            </a:r>
            <a:r>
              <a:rPr lang="fa-IR" sz="1600" dirty="0">
                <a:cs typeface="B Nazanin" panose="00000400000000000000" pitchFamily="2" charset="-78"/>
              </a:rPr>
              <a:t>۱</a:t>
            </a:r>
            <a:r>
              <a:rPr lang="en-US" sz="1600" dirty="0">
                <a:cs typeface="B Nazanin" panose="00000400000000000000" pitchFamily="2" charset="-78"/>
              </a:rPr>
              <a:t> Conv </a:t>
            </a:r>
            <a:r>
              <a:rPr lang="fa-IR" sz="1600" dirty="0"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cs typeface="B Nazanin" panose="00000400000000000000" pitchFamily="2" charset="-78"/>
              </a:rPr>
              <a:t>ادغام نهایی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   6. باقیمانده: </a:t>
            </a:r>
            <a:r>
              <a:rPr lang="en-US" dirty="0">
                <a:cs typeface="B Nazanin" panose="00000400000000000000" pitchFamily="2" charset="-78"/>
              </a:rPr>
              <a:t> f + </a:t>
            </a:r>
            <a:r>
              <a:rPr lang="fa-IR" dirty="0">
                <a:cs typeface="B Nazanin" panose="00000400000000000000" pitchFamily="2" charset="-78"/>
              </a:rPr>
              <a:t>خروجی</a:t>
            </a:r>
          </a:p>
          <a:p>
            <a:pPr algn="ctr" rtl="1"/>
            <a:endParaRPr lang="fa-IR" dirty="0"/>
          </a:p>
          <a:p>
            <a:pPr algn="ctr" rtl="1"/>
            <a:r>
              <a:rPr lang="fa-IR" sz="1600" dirty="0">
                <a:solidFill>
                  <a:srgbClr val="00B050"/>
                </a:solidFill>
                <a:cs typeface="B Titr" panose="00000700000000000000" pitchFamily="2" charset="-78"/>
              </a:rPr>
              <a:t>تعداد </a:t>
            </a:r>
            <a:r>
              <a:rPr lang="en-US" sz="1600" dirty="0">
                <a:solidFill>
                  <a:srgbClr val="00B050"/>
                </a:solidFill>
                <a:cs typeface="B Titr" panose="00000700000000000000" pitchFamily="2" charset="-78"/>
              </a:rPr>
              <a:t>IFEB: 3 </a:t>
            </a:r>
            <a:r>
              <a:rPr lang="fa-IR" sz="1600" dirty="0">
                <a:solidFill>
                  <a:srgbClr val="00B050"/>
                </a:solidFill>
                <a:cs typeface="B Titr" panose="00000700000000000000" pitchFamily="2" charset="-78"/>
              </a:rPr>
              <a:t> بلوک در مدل ساده‌شده</a:t>
            </a:r>
          </a:p>
          <a:p>
            <a:pPr algn="ctr" rtl="1"/>
            <a:r>
              <a:rPr lang="fa-IR" sz="1600" dirty="0">
                <a:solidFill>
                  <a:srgbClr val="00B050"/>
                </a:solidFill>
                <a:cs typeface="B Titr" panose="00000700000000000000" pitchFamily="2" charset="-78"/>
              </a:rPr>
              <a:t>تعداد </a:t>
            </a:r>
            <a:r>
              <a:rPr lang="en-US" sz="1600" dirty="0">
                <a:solidFill>
                  <a:srgbClr val="00B050"/>
                </a:solidFill>
                <a:cs typeface="B Titr" panose="00000700000000000000" pitchFamily="2" charset="-78"/>
              </a:rPr>
              <a:t>IFEB: 6 </a:t>
            </a:r>
            <a:r>
              <a:rPr lang="fa-IR" sz="1600" dirty="0">
                <a:solidFill>
                  <a:srgbClr val="00B050"/>
                </a:solidFill>
                <a:cs typeface="B Titr" panose="00000700000000000000" pitchFamily="2" charset="-78"/>
              </a:rPr>
              <a:t> بلوک در مقاله اصلی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12890-7393-C08C-6E3A-A84A9F59FB03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6A4A01-4BC2-F216-CC2D-63472FE54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8">
            <a:extLst>
              <a:ext uri="{FF2B5EF4-FFF2-40B4-BE49-F238E27FC236}">
                <a16:creationId xmlns:a16="http://schemas.microsoft.com/office/drawing/2014/main" id="{4F07AA58-9D82-702E-D17F-AB42C7742632}"/>
              </a:ext>
            </a:extLst>
          </p:cNvPr>
          <p:cNvSpPr/>
          <p:nvPr/>
        </p:nvSpPr>
        <p:spPr>
          <a:xfrm>
            <a:off x="1120140" y="1103811"/>
            <a:ext cx="6903717" cy="382741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مرحله ۷: PixelShuffle — بازسازی تصویر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15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F50F7-DAFE-F407-7D2C-F54404EEF6BE}"/>
              </a:ext>
            </a:extLst>
          </p:cNvPr>
          <p:cNvSpPr txBox="1"/>
          <p:nvPr/>
        </p:nvSpPr>
        <p:spPr>
          <a:xfrm>
            <a:off x="2053751" y="1201782"/>
            <a:ext cx="503649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b="1" dirty="0" err="1">
                <a:solidFill>
                  <a:srgbClr val="C00000"/>
                </a:solidFill>
                <a:cs typeface="B Titr" panose="00000700000000000000" pitchFamily="2" charset="-78"/>
              </a:rPr>
              <a:t>PixelShuffle</a:t>
            </a:r>
            <a:r>
              <a:rPr lang="en-US" sz="1400" dirty="0">
                <a:solidFill>
                  <a:srgbClr val="C00000"/>
                </a:solidFill>
                <a:cs typeface="B Titr" panose="00000700000000000000" pitchFamily="2" charset="-78"/>
              </a:rPr>
              <a:t> </a:t>
            </a:r>
            <a:r>
              <a:rPr lang="fa-IR" sz="1400" dirty="0">
                <a:solidFill>
                  <a:srgbClr val="C00000"/>
                </a:solidFill>
                <a:cs typeface="B Titr" panose="00000700000000000000" pitchFamily="2" charset="-78"/>
              </a:rPr>
              <a:t>(پیکسل‌درهم‌ریزی)</a:t>
            </a:r>
          </a:p>
          <a:p>
            <a:pPr algn="ctr" rtl="1"/>
            <a:endParaRPr lang="fa-IR" sz="1600" dirty="0"/>
          </a:p>
          <a:p>
            <a:pPr algn="r" rtl="1"/>
            <a:r>
              <a:rPr lang="fa-IR" sz="1600" dirty="0">
                <a:cs typeface="B Nazanin" panose="00000400000000000000" pitchFamily="2" charset="-78"/>
              </a:rPr>
              <a:t>ورودی: ویژگی با 48 کانال (24 × 4)  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400" dirty="0" err="1">
                <a:cs typeface="B Nazanin" panose="00000400000000000000" pitchFamily="2" charset="-78"/>
              </a:rPr>
              <a:t>PixelShuffle</a:t>
            </a:r>
            <a:r>
              <a:rPr lang="en-US" sz="1400" dirty="0">
                <a:cs typeface="B Nazanin" panose="00000400000000000000" pitchFamily="2" charset="-78"/>
              </a:rPr>
              <a:t>(4)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cs typeface="B Nazanin" panose="00000400000000000000" pitchFamily="2" charset="-78"/>
              </a:rPr>
              <a:t>تصویر 3 کانال با 4 برابر اندازه</a:t>
            </a:r>
          </a:p>
          <a:p>
            <a:pPr algn="ctr" rtl="1"/>
            <a:endParaRPr lang="fa-IR" sz="1600" dirty="0">
              <a:cs typeface="B Nazanin" panose="00000400000000000000" pitchFamily="2" charset="-78"/>
            </a:endParaRPr>
          </a:p>
          <a:p>
            <a:pPr rtl="1"/>
            <a:r>
              <a:rPr lang="fa-IR" sz="1600" dirty="0">
                <a:solidFill>
                  <a:srgbClr val="009BD2"/>
                </a:solidFill>
                <a:cs typeface="B Nazanin" panose="00000400000000000000" pitchFamily="2" charset="-78"/>
              </a:rPr>
              <a:t>مثال:</a:t>
            </a:r>
          </a:p>
          <a:p>
            <a:pPr rtl="1"/>
            <a:r>
              <a:rPr lang="fa-IR" sz="1600" dirty="0">
                <a:cs typeface="B Nazanin" panose="00000400000000000000" pitchFamily="2" charset="-78"/>
              </a:rPr>
              <a:t>ورودی:  [1, 48, 16, 16] </a:t>
            </a:r>
          </a:p>
          <a:p>
            <a:pPr rtl="1"/>
            <a:r>
              <a:rPr lang="fa-IR" sz="1600" dirty="0">
                <a:cs typeface="B Nazanin" panose="00000400000000000000" pitchFamily="2" charset="-78"/>
              </a:rPr>
              <a:t>  خروجی: [1, 3, 64, 64]</a:t>
            </a:r>
          </a:p>
          <a:p>
            <a:pPr algn="ctr" rtl="1"/>
            <a:endParaRPr lang="fa-IR" sz="1600" dirty="0">
              <a:cs typeface="B Nazanin" panose="00000400000000000000" pitchFamily="2" charset="-78"/>
            </a:endParaRPr>
          </a:p>
          <a:p>
            <a:pPr algn="r" rtl="1"/>
            <a:r>
              <a:rPr lang="fa-IR" sz="1600" dirty="0">
                <a:solidFill>
                  <a:srgbClr val="00B050"/>
                </a:solidFill>
                <a:cs typeface="B Nazanin" panose="00000400000000000000" pitchFamily="2" charset="-78"/>
              </a:rPr>
              <a:t>باقیمانده بای‌کیوبیک:</a:t>
            </a:r>
          </a:p>
          <a:p>
            <a:pPr algn="r" rtl="1"/>
            <a:r>
              <a:rPr lang="en-US" sz="1400" dirty="0">
                <a:cs typeface="B Nazanin" panose="00000400000000000000" pitchFamily="2" charset="-78"/>
              </a:rPr>
              <a:t>SR = </a:t>
            </a:r>
            <a:r>
              <a:rPr lang="en-US" sz="1400" dirty="0" err="1">
                <a:cs typeface="B Nazanin" panose="00000400000000000000" pitchFamily="2" charset="-78"/>
              </a:rPr>
              <a:t>PixelShuffle</a:t>
            </a:r>
            <a:r>
              <a:rPr lang="en-US" sz="1400" dirty="0">
                <a:cs typeface="B Nazanin" panose="00000400000000000000" pitchFamily="2" charset="-78"/>
              </a:rPr>
              <a:t>(f) + Bicubic(LR)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cs typeface="B Nazanin" panose="00000400000000000000" pitchFamily="2" charset="-78"/>
              </a:rPr>
              <a:t>یادگیری فقط تفاوت (</a:t>
            </a:r>
            <a:r>
              <a:rPr lang="en-US" sz="1400" dirty="0">
                <a:cs typeface="B Nazanin" panose="00000400000000000000" pitchFamily="2" charset="-78"/>
              </a:rPr>
              <a:t>residual</a:t>
            </a:r>
            <a:r>
              <a:rPr lang="fa-IR" sz="1600" dirty="0">
                <a:cs typeface="B Nazanin" panose="00000400000000000000" pitchFamily="2" charset="-78"/>
              </a:rPr>
              <a:t>)</a:t>
            </a:r>
            <a:endParaRPr lang="en-US" sz="16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cs typeface="B Nazanin" panose="00000400000000000000" pitchFamily="2" charset="-78"/>
              </a:rPr>
              <a:t>آموزش سریع‌تر و پایدارتر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6FC5B-C12A-5005-A62B-853EF045A74B}"/>
              </a:ext>
            </a:extLst>
          </p:cNvPr>
          <p:cNvSpPr txBox="1"/>
          <p:nvPr/>
        </p:nvSpPr>
        <p:spPr>
          <a:xfrm>
            <a:off x="207661" y="247912"/>
            <a:ext cx="1047717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IAFMNet</a:t>
            </a:r>
            <a:endParaRPr 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696B3C-158D-6D61-C328-CF745B68C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پیاده‌سازی —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جزئیات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فنی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255533"/>
              </p:ext>
            </p:extLst>
          </p:nvPr>
        </p:nvGraphicFramePr>
        <p:xfrm>
          <a:off x="457200" y="1028700"/>
          <a:ext cx="8229600" cy="3657600"/>
        </p:xfrm>
        <a:graphic>
          <a:graphicData uri="http://schemas.openxmlformats.org/drawingml/2006/table">
            <a:tbl>
              <a:tblPr rtl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آیتم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مقدار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توضیح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ابزارها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Python + PyTorch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CPU only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تعداد کانال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24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کانال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ویژگی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تعداد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بلوک IFEB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3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ساده‌شده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مقاله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fa-IR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که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6</a:t>
                      </a:r>
                      <a:r>
                        <a:rPr lang="fa-IR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هست.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نرخ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نگه‌داری top-k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5%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فقط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 5% پیکسل‌ها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مقیاس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×4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4 برابر بزرگ‌تر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Patch size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64×64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سایز پچ آموزشی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Batch size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4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تعداد نمونه در هر مرحله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Optimizer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Adam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lr = 0.0001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Loss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L</a:t>
                      </a:r>
                      <a:r>
                        <a:rPr lang="en-US" sz="7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1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 + L</a:t>
                      </a:r>
                      <a:r>
                        <a:rPr lang="en-US" sz="7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IE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ترکیبی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cs typeface="B Titr" panose="00000700000000000000" pitchFamily="2" charset="-78"/>
              </a:rPr>
              <a:t>تعداد کل پارامترها: ~35K</a:t>
            </a:r>
            <a:endParaRPr lang="en-US" sz="1400" dirty="0">
              <a:cs typeface="B Titr" panose="00000700000000000000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192F72-1217-89FE-A030-4B842BB3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آموزش مدل —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مراحل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و نتایج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cs typeface="B Titr" panose="00000700000000000000" pitchFamily="2" charset="-78"/>
              </a:rPr>
              <a:t>داده آموزشی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: DIV2K 800 تصویر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HR: 1404×2040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میانگین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LR: 351×510 (x4 bicubic)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پچ‌ها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: 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64×64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تقویت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داده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: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flip تصادفی</a:t>
            </a:r>
            <a:endParaRPr lang="en-US" sz="14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هر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تصویر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× 32 </a:t>
            </a:r>
            <a:r>
              <a:rPr lang="fa-IR" sz="1400" dirty="0">
                <a:solidFill>
                  <a:srgbClr val="555555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پچ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cs typeface="B Titr" panose="00000700000000000000" pitchFamily="2" charset="-78"/>
              </a:rPr>
              <a:t>تنظیمات آموزش</a:t>
            </a:r>
            <a:endParaRPr lang="en-US" sz="1500" dirty="0">
              <a:cs typeface="B Titr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Steps: 2000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Batch: 4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LR: 1e-4 (Adam)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λ</a:t>
            </a:r>
            <a:r>
              <a:rPr lang="en-US" sz="1050" dirty="0" err="1">
                <a:solidFill>
                  <a:srgbClr val="555555"/>
                </a:solidFill>
                <a:cs typeface="B Nazanin" panose="00000400000000000000" pitchFamily="2" charset="-78"/>
              </a:rPr>
              <a:t>IE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: 0.01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Loss: L</a:t>
            </a:r>
            <a:r>
              <a:rPr lang="en-US" sz="1100" dirty="0">
                <a:solidFill>
                  <a:srgbClr val="555555"/>
                </a:solidFill>
                <a:cs typeface="B Nazanin" panose="00000400000000000000" pitchFamily="2" charset="-78"/>
              </a:rPr>
              <a:t>1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 + λ × IE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Device: CPU</a:t>
            </a:r>
            <a:endParaRPr lang="en-US" sz="1400" dirty="0">
              <a:cs typeface="B Nazanin" panose="00000400000000000000" pitchFamily="2" charset="-78"/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555555"/>
                </a:solidFill>
                <a:cs typeface="B Nazanin" panose="00000400000000000000" pitchFamily="2" charset="-78"/>
              </a:rPr>
              <a:t>زمان</a:t>
            </a:r>
            <a:r>
              <a:rPr lang="en-US" sz="1400" dirty="0">
                <a:solidFill>
                  <a:srgbClr val="555555"/>
                </a:solidFill>
                <a:cs typeface="B Nazanin" panose="00000400000000000000" pitchFamily="2" charset="-78"/>
              </a:rPr>
              <a:t>: ~15 دقیقه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E74C3C"/>
                </a:solidFill>
                <a:cs typeface="B Titr" panose="00000700000000000000" pitchFamily="2" charset="-78"/>
              </a:rPr>
              <a:t>ترکیب دو </a:t>
            </a:r>
            <a:r>
              <a:rPr lang="en-US" sz="1300" b="1" dirty="0" err="1">
                <a:solidFill>
                  <a:srgbClr val="E74C3C"/>
                </a:solidFill>
                <a:cs typeface="B Titr" panose="00000700000000000000" pitchFamily="2" charset="-78"/>
              </a:rPr>
              <a:t>تابع</a:t>
            </a:r>
            <a:r>
              <a:rPr lang="en-US" sz="1300" b="1" dirty="0">
                <a:solidFill>
                  <a:srgbClr val="E74C3C"/>
                </a:solidFill>
                <a:cs typeface="B Titr" panose="00000700000000000000" pitchFamily="2" charset="-78"/>
              </a:rPr>
              <a:t> loss</a:t>
            </a:r>
            <a:r>
              <a:rPr lang="fa-IR" sz="1300" b="1" dirty="0">
                <a:solidFill>
                  <a:srgbClr val="E74C3C"/>
                </a:solidFill>
                <a:cs typeface="B Titr" panose="00000700000000000000" pitchFamily="2" charset="-78"/>
              </a:rPr>
              <a:t>:</a:t>
            </a:r>
            <a:endParaRPr lang="en-US" sz="1300" dirty="0">
              <a:cs typeface="B Titr" panose="00000700000000000000" pitchFamily="2" charset="-78"/>
            </a:endParaRPr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E74C3C"/>
                </a:solidFill>
                <a:cs typeface="B Titr" panose="00000700000000000000" pitchFamily="2" charset="-78"/>
              </a:rPr>
              <a:t>Total Loss = L</a:t>
            </a:r>
            <a:r>
              <a:rPr lang="en-US" sz="1000" b="1" dirty="0">
                <a:solidFill>
                  <a:srgbClr val="E74C3C"/>
                </a:solidFill>
                <a:cs typeface="B Titr" panose="00000700000000000000" pitchFamily="2" charset="-78"/>
              </a:rPr>
              <a:t>1</a:t>
            </a:r>
            <a:r>
              <a:rPr lang="en-US" sz="1300" b="1" dirty="0">
                <a:solidFill>
                  <a:srgbClr val="E74C3C"/>
                </a:solidFill>
                <a:cs typeface="B Titr" panose="00000700000000000000" pitchFamily="2" charset="-78"/>
              </a:rPr>
              <a:t>(SR, HR) + 0.01 × L</a:t>
            </a:r>
            <a:r>
              <a:rPr lang="en-US" sz="900" b="1" dirty="0">
                <a:solidFill>
                  <a:srgbClr val="E74C3C"/>
                </a:solidFill>
                <a:cs typeface="B Titr" panose="00000700000000000000" pitchFamily="2" charset="-78"/>
              </a:rPr>
              <a:t>IE</a:t>
            </a:r>
            <a:r>
              <a:rPr lang="en-US" sz="1300" b="1" dirty="0">
                <a:solidFill>
                  <a:srgbClr val="E74C3C"/>
                </a:solidFill>
                <a:cs typeface="B Titr" panose="00000700000000000000" pitchFamily="2" charset="-78"/>
              </a:rPr>
              <a:t>(IDM, Features)</a:t>
            </a:r>
            <a:endParaRPr lang="en-US" sz="1300" dirty="0">
              <a:cs typeface="B Titr" panose="000007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1B071B-5EF4-CE7F-2DCB-85FB597EC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نتایج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آموزش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— </a:t>
            </a:r>
            <a:r>
              <a:rPr lang="fa-IR" sz="24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cs typeface="B Titr" panose="00000700000000000000" pitchFamily="2" charset="-78"/>
              </a:rPr>
              <a:t>نمودار</a:t>
            </a:r>
            <a:r>
              <a:rPr lang="en-US" sz="2400" b="1" dirty="0">
                <a:solidFill>
                  <a:srgbClr val="FFFFFF"/>
                </a:solidFill>
                <a:cs typeface="B Titr" panose="00000700000000000000" pitchFamily="2" charset="-78"/>
              </a:rPr>
              <a:t> Loss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431664"/>
              </p:ext>
            </p:extLst>
          </p:nvPr>
        </p:nvGraphicFramePr>
        <p:xfrm>
          <a:off x="731520" y="1188720"/>
          <a:ext cx="7680960" cy="3200400"/>
        </p:xfrm>
        <a:graphic>
          <a:graphicData uri="http://schemas.openxmlformats.org/drawingml/2006/table">
            <a:tbl>
              <a:tblPr rtl="1"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مرحله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loss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sr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loss</a:t>
                      </a:r>
                      <a:r>
                        <a:rPr lang="en-US" sz="700" b="1" dirty="0" err="1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ie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cs typeface="B Titr" panose="00000700000000000000" pitchFamily="2" charset="-78"/>
                        </a:rPr>
                        <a:t>روند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Step 1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0.2815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0.1485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شروع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Step 100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0.0615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0.0499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↓ سریع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Step 300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0.0306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0.0037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↓ پایدار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Step 600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0.0147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0.0026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↓ بهترین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Step 1000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0.0175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0.0075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≈ نوسان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Step 2000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0.0800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0.0037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↑ overfit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Best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0.0061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—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cs typeface="B Titr" panose="00000700000000000000" pitchFamily="2" charset="-78"/>
                        </a:rPr>
                        <a:t>🏆</a:t>
                      </a:r>
                      <a:endParaRPr lang="en-US" sz="1100" b="1" dirty="0">
                        <a:cs typeface="B Titr" panose="000007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868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 err="1">
                <a:solidFill>
                  <a:srgbClr val="333333"/>
                </a:solidFill>
                <a:cs typeface="B Titr" panose="00000700000000000000" pitchFamily="2" charset="-78"/>
              </a:rPr>
              <a:t>بهبود</a:t>
            </a:r>
            <a:r>
              <a:rPr lang="en-US" sz="1400" dirty="0">
                <a:solidFill>
                  <a:srgbClr val="333333"/>
                </a:solidFill>
                <a:cs typeface="B Titr" panose="00000700000000000000" pitchFamily="2" charset="-78"/>
              </a:rPr>
              <a:t> </a:t>
            </a:r>
            <a:r>
              <a:rPr lang="en-US" sz="1400" dirty="0" err="1">
                <a:solidFill>
                  <a:srgbClr val="333333"/>
                </a:solidFill>
                <a:cs typeface="B Titr" panose="00000700000000000000" pitchFamily="2" charset="-78"/>
              </a:rPr>
              <a:t>loss</a:t>
            </a:r>
            <a:r>
              <a:rPr lang="en-US" sz="1000" dirty="0" err="1">
                <a:solidFill>
                  <a:srgbClr val="333333"/>
                </a:solidFill>
                <a:cs typeface="B Titr" panose="00000700000000000000" pitchFamily="2" charset="-78"/>
              </a:rPr>
              <a:t>sr</a:t>
            </a:r>
            <a:r>
              <a:rPr lang="en-US" sz="1400" dirty="0">
                <a:solidFill>
                  <a:srgbClr val="333333"/>
                </a:solidFill>
                <a:cs typeface="B Titr" panose="00000700000000000000" pitchFamily="2" charset="-78"/>
              </a:rPr>
              <a:t> </a:t>
            </a:r>
            <a:r>
              <a:rPr lang="fa-IR" sz="1400" dirty="0">
                <a:solidFill>
                  <a:srgbClr val="333333"/>
                </a:solidFill>
                <a:cs typeface="B Titr" panose="00000700000000000000" pitchFamily="2" charset="-78"/>
              </a:rPr>
              <a:t>:</a:t>
            </a:r>
            <a:r>
              <a:rPr lang="en-US" sz="1400" dirty="0">
                <a:solidFill>
                  <a:srgbClr val="333333"/>
                </a:solidFill>
                <a:cs typeface="B Titr" panose="00000700000000000000" pitchFamily="2" charset="-78"/>
              </a:rPr>
              <a:t> </a:t>
            </a:r>
            <a:r>
              <a:rPr lang="en-US" sz="1400" b="1" dirty="0">
                <a:solidFill>
                  <a:srgbClr val="27AE60"/>
                </a:solidFill>
                <a:cs typeface="B Titr" panose="00000700000000000000" pitchFamily="2" charset="-78"/>
              </a:rPr>
              <a:t>0.28 → 0.0061 (97.8%) </a:t>
            </a:r>
            <a:r>
              <a:rPr lang="en-US" sz="1400" b="1" dirty="0" err="1">
                <a:solidFill>
                  <a:srgbClr val="27AE60"/>
                </a:solidFill>
                <a:cs typeface="B Titr" panose="00000700000000000000" pitchFamily="2" charset="-78"/>
              </a:rPr>
              <a:t>بهبود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</a:rPr>
              <a:t>نکته: overfitting در انتهای آموزش طبیعیه (داده کم + CPU)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7BD37-89FD-18CA-4FD8-944C879BF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8838" y="283366"/>
            <a:ext cx="2632165" cy="656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cs typeface="B Titr" panose="00000700000000000000" pitchFamily="2" charset="-78"/>
              </a:rPr>
              <a:t>نتیجه‌گیری</a:t>
            </a:r>
            <a:endParaRPr lang="en-US" sz="2800" dirty="0">
              <a:cs typeface="B Titr" panose="000007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16783" y="957521"/>
            <a:ext cx="177001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39C12"/>
                </a:solidFill>
                <a:cs typeface="B Titr" panose="00000700000000000000" pitchFamily="2" charset="-78"/>
              </a:rPr>
              <a:t>خلاصه دستاوردها</a:t>
            </a:r>
            <a:endParaRPr lang="en-US" sz="1600" dirty="0">
              <a:cs typeface="B Titr" panose="000007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30435" y="1760387"/>
            <a:ext cx="3282045" cy="1707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7AE60"/>
                </a:solidFill>
                <a:cs typeface="B Nazanin" panose="00000400000000000000" pitchFamily="2" charset="-78"/>
              </a:rPr>
              <a:t>✅ دستاوردها
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 ۱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.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پیاده‌سازی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دقیق معماری IAFMNet بر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اساس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مقاله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
  ۲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. 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آموزش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با DIV2K 800 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تصویر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واقعی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
  ۳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. 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بهبود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loss</a:t>
            </a:r>
            <a:r>
              <a:rPr lang="en-US" sz="900" dirty="0" err="1">
                <a:solidFill>
                  <a:srgbClr val="DDDDDD"/>
                </a:solidFill>
                <a:cs typeface="B Nazanin" panose="00000400000000000000" pitchFamily="2" charset="-78"/>
              </a:rPr>
              <a:t>sr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: 97.8%
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0E0882-A60E-3E4D-905C-AB0CEFD40ACC}"/>
              </a:ext>
            </a:extLst>
          </p:cNvPr>
          <p:cNvSpPr/>
          <p:nvPr/>
        </p:nvSpPr>
        <p:spPr>
          <a:xfrm>
            <a:off x="644753" y="1689041"/>
            <a:ext cx="3431573" cy="2789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cs typeface="B Nazanin" panose="00000400000000000000" pitchFamily="2" charset="-78"/>
              </a:rPr>
              <a:t>💡 </a:t>
            </a:r>
            <a:r>
              <a:rPr lang="en-US" sz="1600" b="1" dirty="0" err="1">
                <a:solidFill>
                  <a:srgbClr val="F39C12"/>
                </a:solidFill>
                <a:cs typeface="B Nazanin" panose="00000400000000000000" pitchFamily="2" charset="-78"/>
              </a:rPr>
              <a:t>پیشنهادات</a:t>
            </a:r>
            <a:r>
              <a:rPr lang="en-US" sz="1600" b="1" dirty="0">
                <a:solidFill>
                  <a:srgbClr val="F39C12"/>
                </a:solidFill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solidFill>
                  <a:srgbClr val="F39C12"/>
                </a:solidFill>
                <a:cs typeface="B Nazanin" panose="00000400000000000000" pitchFamily="2" charset="-78"/>
              </a:rPr>
              <a:t>بهبود</a:t>
            </a:r>
            <a:r>
              <a:rPr lang="en-US" sz="1600" b="1" dirty="0">
                <a:solidFill>
                  <a:srgbClr val="F39C12"/>
                </a:solidFill>
                <a:cs typeface="B Nazanin" panose="00000400000000000000" pitchFamily="2" charset="-78"/>
              </a:rPr>
              <a:t>
</a:t>
            </a:r>
            <a:r>
              <a:rPr lang="fa-IR" sz="1600" b="1" dirty="0">
                <a:solidFill>
                  <a:srgbClr val="F39C12"/>
                </a:solidFill>
                <a:cs typeface="B Nazanin" panose="00000400000000000000" pitchFamily="2" charset="-78"/>
              </a:rPr>
              <a:t>       ۱.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 GPU برای آموزش سریع‌تر
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       ۲. 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steps = 50000+ برای نتیجه حرفه‌ای
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       ۳. 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تنظیم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λ</a:t>
            </a:r>
            <a:r>
              <a:rPr lang="en-US" sz="900" dirty="0" err="1">
                <a:solidFill>
                  <a:srgbClr val="DDDDDD"/>
                </a:solidFill>
                <a:cs typeface="B Nazanin" panose="00000400000000000000" pitchFamily="2" charset="-78"/>
              </a:rPr>
              <a:t>IE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= 0.001
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       ۴. 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Learning rate scheduler
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       ۵. 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fa-IR" sz="1400" dirty="0">
                <a:solidFill>
                  <a:srgbClr val="DDDDDD"/>
                </a:solidFill>
                <a:cs typeface="B Nazanin" panose="00000400000000000000" pitchFamily="2" charset="-78"/>
              </a:rPr>
              <a:t>۶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بلوک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) IFEB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مثل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مقاله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DDDDDD"/>
                </a:solidFill>
                <a:cs typeface="B Nazanin" panose="00000400000000000000" pitchFamily="2" charset="-78"/>
              </a:rPr>
              <a:t>اصلی</a:t>
            </a:r>
            <a:r>
              <a:rPr lang="en-US" sz="1400" dirty="0">
                <a:solidFill>
                  <a:srgbClr val="DDDDDD"/>
                </a:solidFill>
                <a:cs typeface="B Nazanin" panose="00000400000000000000" pitchFamily="2" charset="-78"/>
              </a:rPr>
              <a:t>(</a:t>
            </a:r>
            <a:endParaRPr lang="en-US" sz="1600" dirty="0">
              <a:cs typeface="B Nazanin" panose="00000400000000000000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41715A-DBE5-367D-4908-706644FFF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4235" y="4744558"/>
            <a:ext cx="304762" cy="3047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21</a:t>
            </a:r>
            <a:endParaRPr lang="en-US" sz="10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CBF085A8-7C86-890B-8B82-AE38373A8AC9}"/>
              </a:ext>
            </a:extLst>
          </p:cNvPr>
          <p:cNvSpPr/>
          <p:nvPr/>
        </p:nvSpPr>
        <p:spPr>
          <a:xfrm>
            <a:off x="2227501" y="2134910"/>
            <a:ext cx="4688998" cy="8736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a-IR" sz="2800" b="1" dirty="0">
                <a:solidFill>
                  <a:srgbClr val="FFFFFF"/>
                </a:solidFill>
                <a:cs typeface="B Titr" panose="00000700000000000000" pitchFamily="2" charset="-78"/>
              </a:rPr>
              <a:t>با توجه از تشکر شما</a:t>
            </a:r>
            <a:endParaRPr lang="en-US" sz="2800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1810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1548</Words>
  <Application>Microsoft Office PowerPoint</Application>
  <PresentationFormat>On-screen Show (16:9)</PresentationFormat>
  <Paragraphs>385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 Nazanin</vt:lpstr>
      <vt:lpstr>B Titr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IAFMNet - Super-Resolution Project</dc:title>
  <dc:subject>PptxGenJS Presentation</dc:subject>
  <dc:creator>Ali Honarvar</dc:creator>
  <cp:lastModifiedBy>mahbubeh karimi</cp:lastModifiedBy>
  <cp:revision>109</cp:revision>
  <dcterms:created xsi:type="dcterms:W3CDTF">2026-07-21T17:45:28Z</dcterms:created>
  <dcterms:modified xsi:type="dcterms:W3CDTF">2026-07-26T20:48:25Z</dcterms:modified>
</cp:coreProperties>
</file>