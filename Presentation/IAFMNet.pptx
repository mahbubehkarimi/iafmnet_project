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23"/>
  </p:notesMasterIdLst>
  <p:sldIdLst>
    <p:sldId id="256" r:id="rId2"/>
    <p:sldId id="265" r:id="rId3"/>
    <p:sldId id="266" r:id="rId4"/>
    <p:sldId id="272" r:id="rId5"/>
    <p:sldId id="270" r:id="rId6"/>
    <p:sldId id="267" r:id="rId7"/>
    <p:sldId id="298" r:id="rId8"/>
    <p:sldId id="299" r:id="rId9"/>
    <p:sldId id="302" r:id="rId10"/>
    <p:sldId id="303" r:id="rId11"/>
    <p:sldId id="300" r:id="rId12"/>
    <p:sldId id="304" r:id="rId13"/>
    <p:sldId id="305" r:id="rId14"/>
    <p:sldId id="306" r:id="rId15"/>
    <p:sldId id="301" r:id="rId16"/>
    <p:sldId id="286" r:id="rId17"/>
    <p:sldId id="277" r:id="rId18"/>
    <p:sldId id="307" r:id="rId19"/>
    <p:sldId id="283" r:id="rId20"/>
    <p:sldId id="291" r:id="rId21"/>
    <p:sldId id="285" r:id="rId2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8D90"/>
    <a:srgbClr val="00FFFF"/>
    <a:srgbClr val="22C4C9"/>
    <a:srgbClr val="6D68A0"/>
    <a:srgbClr val="EF908C"/>
    <a:srgbClr val="96B7E6"/>
    <a:srgbClr val="67AB9F"/>
    <a:srgbClr val="BA7BA3"/>
    <a:srgbClr val="535453"/>
    <a:srgbClr val="0F5C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931" autoAdjust="0"/>
    <p:restoredTop sz="94622" autoAdjust="0"/>
  </p:normalViewPr>
  <p:slideViewPr>
    <p:cSldViewPr>
      <p:cViewPr varScale="1">
        <p:scale>
          <a:sx n="70" d="100"/>
          <a:sy n="70" d="100"/>
        </p:scale>
        <p:origin x="97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6F554753-5925-470A-8117-388A290EFCD1}" type="datetimeFigureOut">
              <a:rPr lang="fa-IR" smtClean="0"/>
              <a:t>17/02/1448</a:t>
            </a:fld>
            <a:endParaRPr lang="fa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a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BFD3685A-5E91-449C-8AF5-14E5C11A45B4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766992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3685A-5E91-449C-8AF5-14E5C11A45B4}" type="slidenum">
              <a:rPr lang="fa-IR" smtClean="0"/>
              <a:t>1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166406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3685A-5E91-449C-8AF5-14E5C11A45B4}" type="slidenum">
              <a:rPr lang="fa-IR" smtClean="0"/>
              <a:t>16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128870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ccess.thecvf.com/content/CVPR2026/papers/Xu_IAFMNet_Information-Aware_Feature_Modulation_for_Efficient_Super-Resolution_CVPR_2026_paper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5A24A1F-B3DB-0423-0892-E79584B37E16}"/>
              </a:ext>
            </a:extLst>
          </p:cNvPr>
          <p:cNvSpPr/>
          <p:nvPr/>
        </p:nvSpPr>
        <p:spPr>
          <a:xfrm>
            <a:off x="1143000" y="2383878"/>
            <a:ext cx="15191509" cy="4340791"/>
          </a:xfrm>
          <a:prstGeom prst="roundRect">
            <a:avLst>
              <a:gd name="adj" fmla="val 4773"/>
            </a:avLst>
          </a:prstGeom>
          <a:solidFill>
            <a:srgbClr val="202127"/>
          </a:solidFill>
        </p:spPr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96A3024-DA2D-B3F7-48CF-F1695D145806}"/>
              </a:ext>
            </a:extLst>
          </p:cNvPr>
          <p:cNvSpPr/>
          <p:nvPr/>
        </p:nvSpPr>
        <p:spPr>
          <a:xfrm>
            <a:off x="1143000" y="6911644"/>
            <a:ext cx="15191509" cy="2499056"/>
          </a:xfrm>
          <a:prstGeom prst="roundRect">
            <a:avLst>
              <a:gd name="adj" fmla="val 6688"/>
            </a:avLst>
          </a:prstGeom>
          <a:solidFill>
            <a:srgbClr val="0F5C6B"/>
          </a:solidFill>
          <a:ln w="28575">
            <a:solidFill>
              <a:srgbClr val="22C4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solidFill>
                <a:srgbClr val="22C4C9"/>
              </a:solidFill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676400" y="3169278"/>
            <a:ext cx="14432476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/>
            <a:r>
              <a:rPr lang="en-US" sz="6000" dirty="0" err="1">
                <a:ln w="0"/>
                <a:gradFill>
                  <a:gsLst>
                    <a:gs pos="21000">
                      <a:srgbClr val="0F5C6B"/>
                    </a:gs>
                    <a:gs pos="88000">
                      <a:srgbClr val="22C4C9"/>
                    </a:gs>
                  </a:gsLst>
                  <a:lin ang="5400000"/>
                </a:gradFill>
                <a:latin typeface="Arial MT Pro Bold"/>
                <a:ea typeface="Arial MT Pro Bold"/>
                <a:cs typeface="B Titr" panose="00000700000000000000" pitchFamily="2" charset="-78"/>
                <a:sym typeface="Arial MT Pro Bold"/>
              </a:rPr>
              <a:t>IAFMNet</a:t>
            </a:r>
            <a:endParaRPr lang="en-US" sz="6000" dirty="0">
              <a:ln w="0"/>
              <a:gradFill>
                <a:gsLst>
                  <a:gs pos="21000">
                    <a:srgbClr val="0F5C6B"/>
                  </a:gs>
                  <a:gs pos="88000">
                    <a:srgbClr val="22C4C9"/>
                  </a:gs>
                </a:gsLst>
                <a:lin ang="5400000"/>
              </a:gradFill>
              <a:latin typeface="Arial MT Pro Bold"/>
              <a:ea typeface="Arial MT Pro Bold"/>
              <a:cs typeface="B Titr" panose="00000700000000000000" pitchFamily="2" charset="-78"/>
              <a:sym typeface="Arial MT Pro Bold"/>
            </a:endParaRPr>
          </a:p>
          <a:p>
            <a:pPr algn="ctr" rtl="1"/>
            <a:r>
              <a:rPr lang="en-US" sz="6000" b="1" spc="-194" dirty="0">
                <a:gradFill>
                  <a:gsLst>
                    <a:gs pos="21000">
                      <a:srgbClr val="22C4C9"/>
                    </a:gs>
                    <a:gs pos="88000">
                      <a:schemeClr val="bg1"/>
                    </a:gs>
                  </a:gsLst>
                  <a:lin ang="5400000" scaled="0"/>
                </a:gradFill>
                <a:latin typeface="Arial MT Pro Bold"/>
                <a:ea typeface="Arial MT Pro Bold"/>
                <a:cs typeface="B Titr" panose="00000700000000000000" pitchFamily="2" charset="-78"/>
                <a:sym typeface="Arial MT Pro Bold"/>
              </a:rPr>
              <a:t>Information-Aware Feature Modulation</a:t>
            </a:r>
          </a:p>
          <a:p>
            <a:pPr algn="ctr" rtl="1"/>
            <a:r>
              <a:rPr lang="en-US" sz="6000" b="1" spc="-194" dirty="0">
                <a:gradFill>
                  <a:gsLst>
                    <a:gs pos="21000">
                      <a:srgbClr val="22C4C9"/>
                    </a:gs>
                    <a:gs pos="88000">
                      <a:schemeClr val="bg1"/>
                    </a:gs>
                  </a:gsLst>
                  <a:lin ang="5400000" scaled="0"/>
                </a:gradFill>
                <a:latin typeface="Arial MT Pro Bold"/>
                <a:ea typeface="Arial MT Pro Bold"/>
                <a:cs typeface="B Titr" panose="00000700000000000000" pitchFamily="2" charset="-78"/>
                <a:sym typeface="Arial MT Pro Bold"/>
              </a:rPr>
              <a:t>for Efficient Super-Resolution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4331F1-7E6F-259C-C3E6-AE2C17BD3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892" y="317683"/>
            <a:ext cx="4554415" cy="1485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539983-6E9B-CC8B-1E89-6AD92C657510}"/>
              </a:ext>
            </a:extLst>
          </p:cNvPr>
          <p:cNvSpPr txBox="1"/>
          <p:nvPr/>
        </p:nvSpPr>
        <p:spPr>
          <a:xfrm>
            <a:off x="8382000" y="9712919"/>
            <a:ext cx="15240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dirty="0">
                <a:solidFill>
                  <a:schemeClr val="bg1">
                    <a:lumMod val="95000"/>
                  </a:schemeClr>
                </a:solidFill>
                <a:cs typeface="B Titr" panose="00000700000000000000" pitchFamily="2" charset="-78"/>
              </a:rPr>
              <a:t>تابستان ۱۴۰۵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EE9C45-0692-A3EB-E529-EBCD97673DBA}"/>
              </a:ext>
            </a:extLst>
          </p:cNvPr>
          <p:cNvSpPr txBox="1"/>
          <p:nvPr/>
        </p:nvSpPr>
        <p:spPr>
          <a:xfrm>
            <a:off x="4436832" y="6920243"/>
            <a:ext cx="86038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fa-IR" sz="3200" spc="-194" dirty="0">
                <a:solidFill>
                  <a:srgbClr val="FFFFFF"/>
                </a:solidFill>
                <a:latin typeface="Arial MT Pro Bold"/>
                <a:ea typeface="Arial MT Pro Bold"/>
                <a:cs typeface="B Titr" panose="00000700000000000000" pitchFamily="2" charset="-78"/>
                <a:sym typeface="Arial MT Pro Bold"/>
              </a:rPr>
              <a:t>استاد:   دکترغیاثی راد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4C47F9-5153-BD11-C794-6256566BEFB9}"/>
              </a:ext>
            </a:extLst>
          </p:cNvPr>
          <p:cNvSpPr txBox="1"/>
          <p:nvPr/>
        </p:nvSpPr>
        <p:spPr>
          <a:xfrm>
            <a:off x="4575604" y="7565874"/>
            <a:ext cx="83262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fa-IR" sz="3200" b="1" spc="-194" dirty="0">
                <a:solidFill>
                  <a:srgbClr val="FFFFFF"/>
                </a:solidFill>
                <a:latin typeface="Arial MT Pro Bold"/>
                <a:ea typeface="Arial MT Pro Bold"/>
                <a:cs typeface="B Nazanin" panose="00000400000000000000" pitchFamily="2" charset="-78"/>
                <a:sym typeface="Arial MT Pro Bold"/>
              </a:rPr>
              <a:t>درس: تصویرپردازی دیجیتال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EB6518-AB1F-EE03-EC95-D0495277FEAE}"/>
              </a:ext>
            </a:extLst>
          </p:cNvPr>
          <p:cNvSpPr txBox="1"/>
          <p:nvPr/>
        </p:nvSpPr>
        <p:spPr>
          <a:xfrm>
            <a:off x="3013474" y="8327767"/>
            <a:ext cx="114505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fa-IR" sz="2800" b="1" spc="-194" dirty="0">
                <a:solidFill>
                  <a:srgbClr val="FFFFFF"/>
                </a:solidFill>
                <a:latin typeface="Arial MT Pro Bold"/>
                <a:ea typeface="Arial MT Pro Bold"/>
                <a:cs typeface="B Nazanin" panose="00000400000000000000" pitchFamily="2" charset="-78"/>
                <a:sym typeface="Arial MT Pro Bold"/>
              </a:rPr>
              <a:t>ارائه دهنده:  محبوبه کریمی</a:t>
            </a:r>
          </a:p>
          <a:p>
            <a:pPr algn="ctr" rtl="1"/>
            <a:r>
              <a:rPr lang="fa-IR" sz="2800" b="1" spc="-194" dirty="0">
                <a:solidFill>
                  <a:srgbClr val="FFFFFF"/>
                </a:solidFill>
                <a:latin typeface="Arial MT Pro Bold"/>
                <a:ea typeface="Arial MT Pro Bold"/>
                <a:cs typeface="B Nazanin" panose="00000400000000000000" pitchFamily="2" charset="-78"/>
                <a:sym typeface="Arial MT Pro Bold"/>
              </a:rPr>
              <a:t>40412634</a:t>
            </a:r>
            <a:endParaRPr lang="en-US" sz="2800" b="1" spc="-194" dirty="0">
              <a:solidFill>
                <a:srgbClr val="FFFFFF"/>
              </a:solidFill>
              <a:latin typeface="Arial MT Pro Bold"/>
              <a:ea typeface="Arial MT Pro Bold"/>
              <a:cs typeface="B Nazanin" panose="00000400000000000000" pitchFamily="2" charset="-78"/>
              <a:sym typeface="Arial MT Pro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E28D94-9CC4-C19B-D3CE-41FEE7F43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08" y="2514222"/>
            <a:ext cx="15076981" cy="630000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DC20F68-F4E0-6E27-32E6-4EDBE81B4052}"/>
              </a:ext>
            </a:extLst>
          </p:cNvPr>
          <p:cNvSpPr/>
          <p:nvPr/>
        </p:nvSpPr>
        <p:spPr>
          <a:xfrm>
            <a:off x="1653167" y="7907812"/>
            <a:ext cx="15339433" cy="1330741"/>
          </a:xfrm>
          <a:prstGeom prst="roundRect">
            <a:avLst>
              <a:gd name="adj" fmla="val 7159"/>
            </a:avLst>
          </a:prstGeom>
          <a:solidFill>
            <a:srgbClr val="202127"/>
          </a:solidFill>
        </p:spPr>
        <p:txBody>
          <a:bodyPr/>
          <a:lstStyle/>
          <a:p>
            <a:endParaRPr lang="fa-IR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85F372-6CA6-6F68-66B1-1844FF16EC72}"/>
              </a:ext>
            </a:extLst>
          </p:cNvPr>
          <p:cNvSpPr txBox="1"/>
          <p:nvPr/>
        </p:nvSpPr>
        <p:spPr>
          <a:xfrm>
            <a:off x="10898943" y="1615683"/>
            <a:ext cx="60960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en-US" sz="3200" b="1" dirty="0">
                <a:solidFill>
                  <a:schemeClr val="bg1">
                    <a:lumMod val="85000"/>
                  </a:schemeClr>
                </a:solidFill>
                <a:latin typeface="Aptos" panose="02110004020202020204"/>
                <a:cs typeface="B Titr" panose="00000700000000000000" pitchFamily="2" charset="-78"/>
              </a:rPr>
              <a:t>S</a:t>
            </a:r>
            <a:r>
              <a:rPr lang="en-US" sz="2400" b="1" dirty="0">
                <a:solidFill>
                  <a:srgbClr val="22C4C9"/>
                </a:solidFill>
                <a:latin typeface=" "/>
                <a:cs typeface="B Titr" panose="00000700000000000000" pitchFamily="2" charset="-78"/>
              </a:rPr>
              <a:t>uper-Resolution  </a:t>
            </a:r>
            <a:r>
              <a:rPr lang="fa-IR" sz="3200" b="1" dirty="0">
                <a:solidFill>
                  <a:schemeClr val="bg1">
                    <a:lumMod val="85000"/>
                  </a:schemeClr>
                </a:solidFill>
                <a:latin typeface="Aptos" panose="02110004020202020204"/>
                <a:cs typeface="B Titr" panose="00000700000000000000" pitchFamily="2" charset="-78"/>
              </a:rPr>
              <a:t> چیست؟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3789B5-DC11-754D-4E21-6D2F1D490FD8}"/>
              </a:ext>
            </a:extLst>
          </p:cNvPr>
          <p:cNvSpPr txBox="1"/>
          <p:nvPr/>
        </p:nvSpPr>
        <p:spPr>
          <a:xfrm>
            <a:off x="4601188" y="8039100"/>
            <a:ext cx="82296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2400" b="1" dirty="0">
                <a:solidFill>
                  <a:srgbClr val="22C4C9"/>
                </a:solidFill>
                <a:latin typeface=" "/>
                <a:cs typeface="B Titr" panose="00000700000000000000" pitchFamily="2" charset="-78"/>
              </a:rPr>
              <a:t>گرفتن عکس کوچیک و ساختن عکس بزرگ‌تر و واضح‌تر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4E650E-E4C7-ED8D-4E0B-79ED80AA34A8}"/>
              </a:ext>
            </a:extLst>
          </p:cNvPr>
          <p:cNvSpPr txBox="1"/>
          <p:nvPr/>
        </p:nvSpPr>
        <p:spPr>
          <a:xfrm>
            <a:off x="2133600" y="8420100"/>
            <a:ext cx="1402080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2000" b="1" dirty="0">
                <a:solidFill>
                  <a:schemeClr val="bg1">
                    <a:lumMod val="95000"/>
                  </a:schemeClr>
                </a:solidFill>
                <a:latin typeface=" "/>
                <a:cs typeface="B Nazanin" panose="00000400000000000000" pitchFamily="2" charset="-78"/>
              </a:rPr>
              <a:t>در مسئله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 "/>
                <a:cs typeface="B Nazanin" panose="00000400000000000000" pitchFamily="2" charset="-78"/>
              </a:rPr>
              <a:t> Super-Resolution </a:t>
            </a:r>
            <a:r>
              <a:rPr lang="fa-IR" sz="2000" b="1" dirty="0">
                <a:solidFill>
                  <a:schemeClr val="bg1">
                    <a:lumMod val="95000"/>
                  </a:schemeClr>
                </a:solidFill>
                <a:latin typeface=" "/>
                <a:cs typeface="B Nazanin" panose="00000400000000000000" pitchFamily="2" charset="-78"/>
              </a:rPr>
              <a:t>هدف این است که از یک تصویر با وضوح پایین، تصویری با وضوح بالاتر تولید کنیم، به گونه‌ای که جزئیات تصویر طبیعی و دقیق باقی بمانند.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E7188C-21F6-BC2A-DF27-1D30868DBB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9"/>
          <a:stretch/>
        </p:blipFill>
        <p:spPr>
          <a:xfrm>
            <a:off x="17221200" y="0"/>
            <a:ext cx="1066800" cy="128396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D76DAC-B5C6-37E1-E22A-D88440F6FA85}"/>
              </a:ext>
            </a:extLst>
          </p:cNvPr>
          <p:cNvCxnSpPr/>
          <p:nvPr/>
        </p:nvCxnSpPr>
        <p:spPr>
          <a:xfrm>
            <a:off x="1295400" y="800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7B6A77-DE02-747F-5F60-A1FB64133879}"/>
              </a:ext>
            </a:extLst>
          </p:cNvPr>
          <p:cNvCxnSpPr/>
          <p:nvPr/>
        </p:nvCxnSpPr>
        <p:spPr>
          <a:xfrm>
            <a:off x="1257300" y="9563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FD60099-6B94-D570-53F5-960D1CD4E909}"/>
              </a:ext>
            </a:extLst>
          </p:cNvPr>
          <p:cNvSpPr txBox="1"/>
          <p:nvPr/>
        </p:nvSpPr>
        <p:spPr>
          <a:xfrm>
            <a:off x="16635608" y="9639300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01</a:t>
            </a:r>
            <a:endParaRPr lang="fa-I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E2760C-9921-6D26-9182-1DABB3FE520E}"/>
              </a:ext>
            </a:extLst>
          </p:cNvPr>
          <p:cNvSpPr txBox="1"/>
          <p:nvPr/>
        </p:nvSpPr>
        <p:spPr>
          <a:xfrm>
            <a:off x="16176042" y="9648785"/>
            <a:ext cx="585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/ </a:t>
            </a:r>
            <a:r>
              <a:rPr lang="fa-IR" b="1" dirty="0">
                <a:solidFill>
                  <a:srgbClr val="66FCF1"/>
                </a:solidFill>
                <a:latin typeface="Inter"/>
              </a:rPr>
              <a:t>19</a:t>
            </a:r>
            <a:endParaRPr lang="fa-I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6F529D-BB20-6135-9D4F-72841EA32194}"/>
              </a:ext>
            </a:extLst>
          </p:cNvPr>
          <p:cNvSpPr txBox="1"/>
          <p:nvPr/>
        </p:nvSpPr>
        <p:spPr>
          <a:xfrm>
            <a:off x="14325600" y="327297"/>
            <a:ext cx="28194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ptos" panose="02110004020202020204"/>
                <a:cs typeface="B Titr" panose="00000700000000000000" pitchFamily="2" charset="-78"/>
              </a:rPr>
              <a:t>Efficient S</a:t>
            </a:r>
            <a:r>
              <a:rPr lang="en-US" sz="1600" b="1" dirty="0">
                <a:solidFill>
                  <a:srgbClr val="22C4C9"/>
                </a:solidFill>
                <a:latin typeface=" "/>
                <a:cs typeface="B Titr" panose="00000700000000000000" pitchFamily="2" charset="-78"/>
              </a:rPr>
              <a:t>uper-Resolution</a:t>
            </a:r>
            <a:endParaRPr lang="fa-IR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EF2EED-40EA-608B-05B5-B5675BADB91C}"/>
              </a:ext>
            </a:extLst>
          </p:cNvPr>
          <p:cNvSpPr txBox="1"/>
          <p:nvPr/>
        </p:nvSpPr>
        <p:spPr>
          <a:xfrm>
            <a:off x="1295400" y="395198"/>
            <a:ext cx="15240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b="1" dirty="0" err="1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IAFMNet</a:t>
            </a:r>
            <a:endParaRPr lang="fa-IR" b="1" dirty="0">
              <a:solidFill>
                <a:srgbClr val="22C4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33879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3">
            <a:extLst>
              <a:ext uri="{FF2B5EF4-FFF2-40B4-BE49-F238E27FC236}">
                <a16:creationId xmlns:a16="http://schemas.microsoft.com/office/drawing/2014/main" id="{B1EB93EA-AA6F-E604-6DCC-E8D496FFDE34}"/>
              </a:ext>
            </a:extLst>
          </p:cNvPr>
          <p:cNvSpPr/>
          <p:nvPr/>
        </p:nvSpPr>
        <p:spPr>
          <a:xfrm>
            <a:off x="6705600" y="3189750"/>
            <a:ext cx="3757033" cy="5306549"/>
          </a:xfrm>
          <a:custGeom>
            <a:avLst/>
            <a:gdLst/>
            <a:ahLst/>
            <a:cxnLst/>
            <a:rect l="l" t="t" r="r" b="b"/>
            <a:pathLst>
              <a:path w="1733801" h="1189231">
                <a:moveTo>
                  <a:pt x="44690" y="0"/>
                </a:moveTo>
                <a:lnTo>
                  <a:pt x="1689111" y="0"/>
                </a:lnTo>
                <a:cubicBezTo>
                  <a:pt x="1713792" y="0"/>
                  <a:pt x="1733801" y="20008"/>
                  <a:pt x="1733801" y="44690"/>
                </a:cubicBezTo>
                <a:lnTo>
                  <a:pt x="1733801" y="1144541"/>
                </a:lnTo>
                <a:cubicBezTo>
                  <a:pt x="1733801" y="1156394"/>
                  <a:pt x="1729092" y="1167761"/>
                  <a:pt x="1720711" y="1176141"/>
                </a:cubicBezTo>
                <a:cubicBezTo>
                  <a:pt x="1712330" y="1184522"/>
                  <a:pt x="1700963" y="1189231"/>
                  <a:pt x="1689111" y="1189231"/>
                </a:cubicBezTo>
                <a:lnTo>
                  <a:pt x="44690" y="1189231"/>
                </a:lnTo>
                <a:cubicBezTo>
                  <a:pt x="32837" y="1189231"/>
                  <a:pt x="21470" y="1184522"/>
                  <a:pt x="13089" y="1176141"/>
                </a:cubicBezTo>
                <a:cubicBezTo>
                  <a:pt x="4708" y="1167761"/>
                  <a:pt x="0" y="1156394"/>
                  <a:pt x="0" y="1144541"/>
                </a:cubicBezTo>
                <a:lnTo>
                  <a:pt x="0" y="44690"/>
                </a:lnTo>
                <a:cubicBezTo>
                  <a:pt x="0" y="32837"/>
                  <a:pt x="4708" y="21470"/>
                  <a:pt x="13089" y="13089"/>
                </a:cubicBezTo>
                <a:cubicBezTo>
                  <a:pt x="21470" y="4708"/>
                  <a:pt x="32837" y="0"/>
                  <a:pt x="44690" y="0"/>
                </a:cubicBezTo>
                <a:close/>
              </a:path>
            </a:pathLst>
          </a:custGeom>
          <a:solidFill>
            <a:srgbClr val="202127"/>
          </a:solidFill>
        </p:spPr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11FAD7DA-0D5D-AAB6-BDBA-26A3695703D4}"/>
              </a:ext>
            </a:extLst>
          </p:cNvPr>
          <p:cNvSpPr/>
          <p:nvPr/>
        </p:nvSpPr>
        <p:spPr>
          <a:xfrm>
            <a:off x="6830358" y="3390899"/>
            <a:ext cx="3521865" cy="4958307"/>
          </a:xfrm>
          <a:custGeom>
            <a:avLst/>
            <a:gdLst/>
            <a:ahLst/>
            <a:cxnLst/>
            <a:rect l="l" t="t" r="r" b="b"/>
            <a:pathLst>
              <a:path w="1417549" h="183966">
                <a:moveTo>
                  <a:pt x="29919" y="0"/>
                </a:moveTo>
                <a:lnTo>
                  <a:pt x="1387630" y="0"/>
                </a:lnTo>
                <a:cubicBezTo>
                  <a:pt x="1404154" y="0"/>
                  <a:pt x="1417549" y="13395"/>
                  <a:pt x="1417549" y="29919"/>
                </a:cubicBezTo>
                <a:lnTo>
                  <a:pt x="1417549" y="154047"/>
                </a:lnTo>
                <a:cubicBezTo>
                  <a:pt x="1417549" y="170571"/>
                  <a:pt x="1404154" y="183966"/>
                  <a:pt x="1387630" y="183966"/>
                </a:cubicBezTo>
                <a:lnTo>
                  <a:pt x="29919" y="183966"/>
                </a:lnTo>
                <a:cubicBezTo>
                  <a:pt x="13395" y="183966"/>
                  <a:pt x="0" y="170571"/>
                  <a:pt x="0" y="154047"/>
                </a:cubicBezTo>
                <a:lnTo>
                  <a:pt x="0" y="29919"/>
                </a:lnTo>
                <a:cubicBezTo>
                  <a:pt x="0" y="13395"/>
                  <a:pt x="13395" y="0"/>
                  <a:pt x="29919" y="0"/>
                </a:cubicBezTo>
                <a:close/>
              </a:path>
            </a:pathLst>
          </a:custGeom>
          <a:solidFill>
            <a:srgbClr val="00FFFF">
              <a:alpha val="2000"/>
            </a:srgbClr>
          </a:solidFill>
          <a:ln w="3175" cap="rnd">
            <a:solidFill>
              <a:srgbClr val="00FFFF">
                <a:alpha val="27000"/>
              </a:srgbClr>
            </a:solidFill>
            <a:prstDash val="solid"/>
            <a:round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3789B5-DC11-754D-4E21-6D2F1D490FD8}"/>
              </a:ext>
            </a:extLst>
          </p:cNvPr>
          <p:cNvSpPr txBox="1"/>
          <p:nvPr/>
        </p:nvSpPr>
        <p:spPr>
          <a:xfrm>
            <a:off x="7203321" y="3654315"/>
            <a:ext cx="2761590" cy="447814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 "/>
                <a:cs typeface="B Nazanin" panose="00000400000000000000" pitchFamily="2" charset="-78"/>
              </a:rPr>
              <a:t>مدل های سنتی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latin typeface=" "/>
                <a:cs typeface="B Nazanin" panose="00000400000000000000" pitchFamily="2" charset="-78"/>
              </a:rPr>
              <a:t>، تمام پیکسل ها را </a:t>
            </a:r>
            <a:r>
              <a:rPr lang="fa-IR" sz="2400" b="1" u="sng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 "/>
                <a:cs typeface="B Nazanin" panose="00000400000000000000" pitchFamily="2" charset="-78"/>
              </a:rPr>
              <a:t>یکسان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latin typeface=" "/>
                <a:cs typeface="B Nazanin" panose="00000400000000000000" pitchFamily="2" charset="-78"/>
              </a:rPr>
              <a:t> پردازش می کنند. اختصاص </a:t>
            </a:r>
            <a:r>
              <a:rPr lang="fa-IR" sz="2400" b="1" u="sng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 "/>
                <a:cs typeface="B Nazanin" panose="00000400000000000000" pitchFamily="2" charset="-78"/>
              </a:rPr>
              <a:t>توازن پردازشی برابر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latin typeface=" "/>
                <a:cs typeface="B Nazanin" panose="00000400000000000000" pitchFamily="2" charset="-78"/>
              </a:rPr>
              <a:t>به یک آسمان صاف و لبه های پیچیده، منجر به </a:t>
            </a:r>
            <a:r>
              <a:rPr lang="fa-IR" sz="24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 "/>
                <a:cs typeface="B Nazanin" panose="00000400000000000000" pitchFamily="2" charset="-78"/>
              </a:rPr>
              <a:t>اتلاف شدید محاسبات (</a:t>
            </a:r>
            <a:r>
              <a:rPr lang="en-US" sz="24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 "/>
                <a:cs typeface="B Nazanin" panose="00000400000000000000" pitchFamily="2" charset="-78"/>
              </a:rPr>
              <a:t>FLOPs</a:t>
            </a:r>
            <a:r>
              <a:rPr lang="fa-IR" sz="24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 "/>
                <a:cs typeface="B Nazanin" panose="00000400000000000000" pitchFamily="2" charset="-78"/>
              </a:rPr>
              <a:t>)</a:t>
            </a: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 "/>
                <a:cs typeface="B Nazanin" panose="00000400000000000000" pitchFamily="2" charset="-78"/>
              </a:rPr>
              <a:t>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latin typeface=" "/>
                <a:cs typeface="B Nazanin" panose="00000400000000000000" pitchFamily="2" charset="-78"/>
              </a:rPr>
              <a:t>می شود.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D204B0-1556-5DF8-6E43-70A8C0D97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9"/>
          <a:stretch/>
        </p:blipFill>
        <p:spPr>
          <a:xfrm>
            <a:off x="17221200" y="0"/>
            <a:ext cx="1066800" cy="12839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4CEC99-3DD7-2883-9462-C05B02DC9990}"/>
              </a:ext>
            </a:extLst>
          </p:cNvPr>
          <p:cNvSpPr txBox="1"/>
          <p:nvPr/>
        </p:nvSpPr>
        <p:spPr>
          <a:xfrm>
            <a:off x="10462633" y="1919962"/>
            <a:ext cx="60960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a-IR" sz="3200" b="1" dirty="0">
                <a:solidFill>
                  <a:schemeClr val="bg1">
                    <a:lumMod val="85000"/>
                  </a:schemeClr>
                </a:solidFill>
                <a:latin typeface="Aptos" panose="02110004020202020204"/>
                <a:cs typeface="B Titr" panose="00000700000000000000" pitchFamily="2" charset="-78"/>
              </a:rPr>
              <a:t>بیان مسئله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E1EBCC-B18B-4093-9124-2AB150DB5845}"/>
              </a:ext>
            </a:extLst>
          </p:cNvPr>
          <p:cNvCxnSpPr/>
          <p:nvPr/>
        </p:nvCxnSpPr>
        <p:spPr>
          <a:xfrm>
            <a:off x="1295400" y="800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AC3893-66B7-AA9B-CE3B-AF223E676B75}"/>
              </a:ext>
            </a:extLst>
          </p:cNvPr>
          <p:cNvCxnSpPr/>
          <p:nvPr/>
        </p:nvCxnSpPr>
        <p:spPr>
          <a:xfrm>
            <a:off x="1257300" y="9563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AC03883-0D0C-1F95-9E3F-571FC213D00B}"/>
              </a:ext>
            </a:extLst>
          </p:cNvPr>
          <p:cNvSpPr txBox="1"/>
          <p:nvPr/>
        </p:nvSpPr>
        <p:spPr>
          <a:xfrm>
            <a:off x="16635608" y="9639300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02</a:t>
            </a:r>
            <a:endParaRPr lang="fa-I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A56813-9923-AB29-8A57-EF0AC517A7D3}"/>
              </a:ext>
            </a:extLst>
          </p:cNvPr>
          <p:cNvSpPr txBox="1"/>
          <p:nvPr/>
        </p:nvSpPr>
        <p:spPr>
          <a:xfrm>
            <a:off x="16176042" y="9648785"/>
            <a:ext cx="585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/ 19</a:t>
            </a:r>
            <a:endParaRPr lang="fa-IR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2118E9-27BD-0FA2-3D69-E0B21BF99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189750"/>
            <a:ext cx="5633851" cy="52911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5E0DDC-9BC8-EEB6-598C-8AB47590F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225" y="3189750"/>
            <a:ext cx="5847383" cy="53065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1EE397-685A-80E5-4F0B-262411E59DE3}"/>
              </a:ext>
            </a:extLst>
          </p:cNvPr>
          <p:cNvSpPr txBox="1"/>
          <p:nvPr/>
        </p:nvSpPr>
        <p:spPr>
          <a:xfrm>
            <a:off x="14325600" y="327297"/>
            <a:ext cx="28194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ptos" panose="02110004020202020204"/>
                <a:cs typeface="B Titr" panose="00000700000000000000" pitchFamily="2" charset="-78"/>
              </a:rPr>
              <a:t>Efficient S</a:t>
            </a:r>
            <a:r>
              <a:rPr lang="en-US" sz="1600" b="1" dirty="0">
                <a:solidFill>
                  <a:srgbClr val="22C4C9"/>
                </a:solidFill>
                <a:latin typeface=" "/>
                <a:cs typeface="B Titr" panose="00000700000000000000" pitchFamily="2" charset="-78"/>
              </a:rPr>
              <a:t>uper-Resolution</a:t>
            </a:r>
            <a:endParaRPr lang="fa-IR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DF7E13-5907-6EEF-DCE2-934E19D07033}"/>
              </a:ext>
            </a:extLst>
          </p:cNvPr>
          <p:cNvSpPr txBox="1"/>
          <p:nvPr/>
        </p:nvSpPr>
        <p:spPr>
          <a:xfrm>
            <a:off x="1295400" y="395198"/>
            <a:ext cx="15240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b="1" dirty="0" err="1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IAFMNet</a:t>
            </a:r>
            <a:endParaRPr lang="fa-IR" b="1" dirty="0">
              <a:solidFill>
                <a:srgbClr val="22C4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83576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23427CF-A1F3-F5B0-A795-2695BFD4E7E7}"/>
              </a:ext>
            </a:extLst>
          </p:cNvPr>
          <p:cNvSpPr/>
          <p:nvPr/>
        </p:nvSpPr>
        <p:spPr>
          <a:xfrm>
            <a:off x="1111391" y="2781844"/>
            <a:ext cx="4724400" cy="6324595"/>
          </a:xfrm>
          <a:prstGeom prst="roundRect">
            <a:avLst>
              <a:gd name="adj" fmla="val 7159"/>
            </a:avLst>
          </a:prstGeom>
          <a:solidFill>
            <a:srgbClr val="202127"/>
          </a:solidFill>
        </p:spPr>
        <p:txBody>
          <a:bodyPr/>
          <a:lstStyle/>
          <a:p>
            <a:endParaRPr lang="fa-IR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131432-751A-252A-0392-C9E8ED400C7A}"/>
              </a:ext>
            </a:extLst>
          </p:cNvPr>
          <p:cNvSpPr txBox="1"/>
          <p:nvPr/>
        </p:nvSpPr>
        <p:spPr>
          <a:xfrm>
            <a:off x="1257300" y="9693409"/>
            <a:ext cx="14820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Xu, J., Liu, M., Wang, Z., Wu, F., Wu, S., Huang, T., &amp; Dong, W. (2026). </a:t>
            </a:r>
            <a:r>
              <a:rPr lang="en-US" sz="12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IAFMNet</a:t>
            </a:r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Information-Aware Feature Modulation for Efficient Super-Resolution. In Proceedings of the IEEE/CVF Conference on Computer Vision and Pattern Recognition (pp. 30564-30573).</a:t>
            </a:r>
            <a:endParaRPr lang="fa-IR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96B23E-9883-CECC-B514-D551F149F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9"/>
          <a:stretch/>
        </p:blipFill>
        <p:spPr>
          <a:xfrm>
            <a:off x="17221200" y="0"/>
            <a:ext cx="1066800" cy="128396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9FE8D1-E0E5-6437-A44A-13E9AEBE0D0E}"/>
              </a:ext>
            </a:extLst>
          </p:cNvPr>
          <p:cNvCxnSpPr/>
          <p:nvPr/>
        </p:nvCxnSpPr>
        <p:spPr>
          <a:xfrm>
            <a:off x="1257300" y="9563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543DE27-BF3A-2762-AA63-B107C8DE2CA1}"/>
              </a:ext>
            </a:extLst>
          </p:cNvPr>
          <p:cNvSpPr txBox="1"/>
          <p:nvPr/>
        </p:nvSpPr>
        <p:spPr>
          <a:xfrm>
            <a:off x="16635608" y="9639300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03</a:t>
            </a:r>
            <a:endParaRPr lang="fa-I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A7F181-CBCA-DD83-7360-3407572E8784}"/>
              </a:ext>
            </a:extLst>
          </p:cNvPr>
          <p:cNvSpPr txBox="1"/>
          <p:nvPr/>
        </p:nvSpPr>
        <p:spPr>
          <a:xfrm>
            <a:off x="16176042" y="9648785"/>
            <a:ext cx="585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/ 19</a:t>
            </a:r>
            <a:endParaRPr lang="fa-IR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6EC7711-6DF3-FBFE-D5B8-222E5685076B}"/>
              </a:ext>
            </a:extLst>
          </p:cNvPr>
          <p:cNvCxnSpPr/>
          <p:nvPr/>
        </p:nvCxnSpPr>
        <p:spPr>
          <a:xfrm>
            <a:off x="1295400" y="800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Freeform 7">
            <a:extLst>
              <a:ext uri="{FF2B5EF4-FFF2-40B4-BE49-F238E27FC236}">
                <a16:creationId xmlns:a16="http://schemas.microsoft.com/office/drawing/2014/main" id="{09494737-F6F6-98AF-9E2D-32DD082D0075}"/>
              </a:ext>
            </a:extLst>
          </p:cNvPr>
          <p:cNvSpPr/>
          <p:nvPr/>
        </p:nvSpPr>
        <p:spPr>
          <a:xfrm>
            <a:off x="6324600" y="2781301"/>
            <a:ext cx="10446949" cy="6246954"/>
          </a:xfrm>
          <a:custGeom>
            <a:avLst/>
            <a:gdLst/>
            <a:ahLst/>
            <a:cxnLst/>
            <a:rect l="l" t="t" r="r" b="b"/>
            <a:pathLst>
              <a:path w="1834320" h="1750276">
                <a:moveTo>
                  <a:pt x="56691" y="0"/>
                </a:moveTo>
                <a:lnTo>
                  <a:pt x="1777629" y="0"/>
                </a:lnTo>
                <a:cubicBezTo>
                  <a:pt x="1808939" y="0"/>
                  <a:pt x="1834320" y="25382"/>
                  <a:pt x="1834320" y="56691"/>
                </a:cubicBezTo>
                <a:lnTo>
                  <a:pt x="1834320" y="1693585"/>
                </a:lnTo>
                <a:cubicBezTo>
                  <a:pt x="1834320" y="1708620"/>
                  <a:pt x="1828348" y="1723040"/>
                  <a:pt x="1817716" y="1733672"/>
                </a:cubicBezTo>
                <a:cubicBezTo>
                  <a:pt x="1807084" y="1744303"/>
                  <a:pt x="1792664" y="1750276"/>
                  <a:pt x="1777629" y="1750276"/>
                </a:cubicBezTo>
                <a:lnTo>
                  <a:pt x="56691" y="1750276"/>
                </a:lnTo>
                <a:cubicBezTo>
                  <a:pt x="41656" y="1750276"/>
                  <a:pt x="27236" y="1744303"/>
                  <a:pt x="16605" y="1733672"/>
                </a:cubicBezTo>
                <a:cubicBezTo>
                  <a:pt x="5973" y="1723040"/>
                  <a:pt x="0" y="1708620"/>
                  <a:pt x="0" y="1693585"/>
                </a:cubicBezTo>
                <a:lnTo>
                  <a:pt x="0" y="56691"/>
                </a:lnTo>
                <a:cubicBezTo>
                  <a:pt x="0" y="41656"/>
                  <a:pt x="5973" y="27236"/>
                  <a:pt x="16605" y="16605"/>
                </a:cubicBezTo>
                <a:cubicBezTo>
                  <a:pt x="27236" y="5973"/>
                  <a:pt x="41656" y="0"/>
                  <a:pt x="56691" y="0"/>
                </a:cubicBezTo>
                <a:close/>
              </a:path>
            </a:pathLst>
          </a:custGeom>
          <a:solidFill>
            <a:srgbClr val="202127"/>
          </a:solidFill>
        </p:spPr>
        <p:txBody>
          <a:bodyPr/>
          <a:lstStyle/>
          <a:p>
            <a:endParaRPr lang="fa-IR" dirty="0"/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EC7C49D1-EB6B-9806-5F8A-E52CF31EF403}"/>
              </a:ext>
            </a:extLst>
          </p:cNvPr>
          <p:cNvSpPr txBox="1"/>
          <p:nvPr/>
        </p:nvSpPr>
        <p:spPr>
          <a:xfrm>
            <a:off x="9126255" y="6909692"/>
            <a:ext cx="7351120" cy="63219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387"/>
              </a:lnSpc>
            </a:pPr>
            <a:endParaRPr/>
          </a:p>
        </p:txBody>
      </p:sp>
      <p:sp>
        <p:nvSpPr>
          <p:cNvPr id="19" name="TextBox 23">
            <a:extLst>
              <a:ext uri="{FF2B5EF4-FFF2-40B4-BE49-F238E27FC236}">
                <a16:creationId xmlns:a16="http://schemas.microsoft.com/office/drawing/2014/main" id="{951DFD25-3113-826C-B82A-192A979546B4}"/>
              </a:ext>
            </a:extLst>
          </p:cNvPr>
          <p:cNvSpPr txBox="1"/>
          <p:nvPr/>
        </p:nvSpPr>
        <p:spPr>
          <a:xfrm>
            <a:off x="9126255" y="7899545"/>
            <a:ext cx="7351120" cy="63219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387"/>
              </a:lnSpc>
            </a:pPr>
            <a:endParaRPr/>
          </a:p>
        </p:txBody>
      </p:sp>
      <p:sp>
        <p:nvSpPr>
          <p:cNvPr id="22" name="Freeform 19">
            <a:extLst>
              <a:ext uri="{FF2B5EF4-FFF2-40B4-BE49-F238E27FC236}">
                <a16:creationId xmlns:a16="http://schemas.microsoft.com/office/drawing/2014/main" id="{7ECC4914-2E70-1B35-7D53-104336DE389E}"/>
              </a:ext>
            </a:extLst>
          </p:cNvPr>
          <p:cNvSpPr/>
          <p:nvPr/>
        </p:nvSpPr>
        <p:spPr>
          <a:xfrm>
            <a:off x="6858000" y="7111963"/>
            <a:ext cx="9513986" cy="1536736"/>
          </a:xfrm>
          <a:custGeom>
            <a:avLst/>
            <a:gdLst/>
            <a:ahLst/>
            <a:cxnLst/>
            <a:rect l="l" t="t" r="r" b="b"/>
            <a:pathLst>
              <a:path w="1417549" h="183966">
                <a:moveTo>
                  <a:pt x="29919" y="0"/>
                </a:moveTo>
                <a:lnTo>
                  <a:pt x="1387630" y="0"/>
                </a:lnTo>
                <a:cubicBezTo>
                  <a:pt x="1404154" y="0"/>
                  <a:pt x="1417549" y="13395"/>
                  <a:pt x="1417549" y="29919"/>
                </a:cubicBezTo>
                <a:lnTo>
                  <a:pt x="1417549" y="154047"/>
                </a:lnTo>
                <a:cubicBezTo>
                  <a:pt x="1417549" y="170571"/>
                  <a:pt x="1404154" y="183966"/>
                  <a:pt x="1387630" y="183966"/>
                </a:cubicBezTo>
                <a:lnTo>
                  <a:pt x="29919" y="183966"/>
                </a:lnTo>
                <a:cubicBezTo>
                  <a:pt x="13395" y="183966"/>
                  <a:pt x="0" y="170571"/>
                  <a:pt x="0" y="154047"/>
                </a:cubicBezTo>
                <a:lnTo>
                  <a:pt x="0" y="29919"/>
                </a:lnTo>
                <a:cubicBezTo>
                  <a:pt x="0" y="13395"/>
                  <a:pt x="13395" y="0"/>
                  <a:pt x="29919" y="0"/>
                </a:cubicBezTo>
                <a:close/>
              </a:path>
            </a:pathLst>
          </a:custGeom>
          <a:solidFill>
            <a:srgbClr val="00FFFF">
              <a:alpha val="2000"/>
            </a:srgbClr>
          </a:solidFill>
          <a:ln w="3175" cap="rnd">
            <a:solidFill>
              <a:srgbClr val="00FFFF">
                <a:alpha val="27000"/>
              </a:srgbClr>
            </a:solidFill>
            <a:prstDash val="solid"/>
            <a:round/>
          </a:ln>
        </p:spPr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DD6940-4473-B474-7168-A00A8E0643F3}"/>
              </a:ext>
            </a:extLst>
          </p:cNvPr>
          <p:cNvCxnSpPr>
            <a:cxnSpLocks/>
          </p:cNvCxnSpPr>
          <p:nvPr/>
        </p:nvCxnSpPr>
        <p:spPr>
          <a:xfrm>
            <a:off x="1447800" y="3698310"/>
            <a:ext cx="4212642" cy="0"/>
          </a:xfrm>
          <a:prstGeom prst="line">
            <a:avLst/>
          </a:prstGeom>
          <a:ln w="3175">
            <a:solidFill>
              <a:srgbClr val="0F5C6B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EBFF296-BE86-01CE-914B-11F88EBE54D6}"/>
              </a:ext>
            </a:extLst>
          </p:cNvPr>
          <p:cNvSpPr txBox="1"/>
          <p:nvPr/>
        </p:nvSpPr>
        <p:spPr>
          <a:xfrm>
            <a:off x="6816529" y="3981494"/>
            <a:ext cx="9660846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cs typeface="+mj-cs"/>
              </a:rPr>
              <a:t>IAFMNet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cs typeface="+mj-cs"/>
              </a:rPr>
              <a:t>: Information-Aware Feature Modulation for Efficient Super-Resolution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dirty="0">
              <a:solidFill>
                <a:schemeClr val="bg1"/>
              </a:solidFill>
              <a:latin typeface="+mj-lt"/>
              <a:cs typeface="+mj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cs typeface="+mj-cs"/>
              </a:rPr>
              <a:t>Junwei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cs typeface="+mj-cs"/>
              </a:rPr>
              <a:t> Xu, </a:t>
            </a:r>
            <a:r>
              <a:rPr kumimoji="0" lang="en-US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cs typeface="+mj-cs"/>
              </a:rPr>
              <a:t>Mengzu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cs typeface="+mj-cs"/>
              </a:rPr>
              <a:t> Liu, </a:t>
            </a:r>
            <a:r>
              <a:rPr kumimoji="0" lang="en-US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cs typeface="+mj-cs"/>
              </a:rPr>
              <a:t>Zhenyu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cs typeface="+mj-cs"/>
              </a:rPr>
              <a:t> Wang, Fangfang Wu, </a:t>
            </a:r>
            <a:r>
              <a:rPr kumimoji="0" lang="en-US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cs typeface="+mj-cs"/>
              </a:rPr>
              <a:t>Sijia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cs typeface="+mj-cs"/>
              </a:rPr>
              <a:t> Wu, Tao Huang, </a:t>
            </a:r>
            <a:r>
              <a:rPr kumimoji="0" lang="en-US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cs typeface="+mj-cs"/>
              </a:rPr>
              <a:t>Weisheng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cs typeface="+mj-cs"/>
              </a:rPr>
              <a:t> Dong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cs typeface="+mj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9AA2F50-06DC-9023-DD0B-18B351E57124}"/>
              </a:ext>
            </a:extLst>
          </p:cNvPr>
          <p:cNvSpPr/>
          <p:nvPr/>
        </p:nvSpPr>
        <p:spPr>
          <a:xfrm>
            <a:off x="13715999" y="3114113"/>
            <a:ext cx="2655987" cy="537841"/>
          </a:xfrm>
          <a:prstGeom prst="roundRect">
            <a:avLst/>
          </a:prstGeom>
          <a:gradFill>
            <a:gsLst>
              <a:gs pos="0">
                <a:srgbClr val="0C4A5B">
                  <a:alpha val="27000"/>
                </a:srgbClr>
              </a:gs>
              <a:gs pos="100000">
                <a:srgbClr val="27DDDF">
                  <a:alpha val="4000"/>
                </a:srgbClr>
              </a:gs>
            </a:gsLst>
            <a:lin ang="2700000" scaled="0"/>
          </a:gradFill>
          <a:ln>
            <a:solidFill>
              <a:srgbClr val="00FFFF"/>
            </a:solidFill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1556E0-8788-60EE-5CD5-F90C6A817271}"/>
              </a:ext>
            </a:extLst>
          </p:cNvPr>
          <p:cNvSpPr txBox="1"/>
          <p:nvPr/>
        </p:nvSpPr>
        <p:spPr>
          <a:xfrm>
            <a:off x="13715999" y="3238499"/>
            <a:ext cx="26089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b="1" i="0" u="none" strike="noStrike" kern="1200" cap="none" spc="0" normalizeH="0" baseline="0" noProof="0" dirty="0">
                <a:ln>
                  <a:noFill/>
                </a:ln>
                <a:solidFill>
                  <a:srgbClr val="66FCF1"/>
                </a:solidFill>
                <a:effectLst/>
                <a:uLnTx/>
                <a:uFillTx/>
                <a:latin typeface="Noto Sans Arabic"/>
                <a:ea typeface="+mn-ea"/>
                <a:cs typeface="B Nazanin" panose="00000400000000000000" pitchFamily="2" charset="-78"/>
              </a:rPr>
              <a:t>سال انتشار: 2026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6A9041-9F00-5C4B-62AA-BF56362E8FE1}"/>
              </a:ext>
            </a:extLst>
          </p:cNvPr>
          <p:cNvSpPr txBox="1"/>
          <p:nvPr/>
        </p:nvSpPr>
        <p:spPr>
          <a:xfrm>
            <a:off x="7177477" y="7810500"/>
            <a:ext cx="89007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rtl="1">
              <a:buFont typeface="Wingdings" panose="05000000000000000000" pitchFamily="2" charset="2"/>
              <a:buChar char="§"/>
            </a:pPr>
            <a:r>
              <a:rPr lang="fa-IR" sz="2000" b="1" dirty="0">
                <a:solidFill>
                  <a:schemeClr val="bg1">
                    <a:lumMod val="85000"/>
                  </a:schemeClr>
                </a:solidFill>
                <a:cs typeface="B Nazanin" panose="00000400000000000000" pitchFamily="2" charset="-78"/>
              </a:rPr>
              <a:t>مدل‌های </a:t>
            </a: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cs typeface="B Nazanin" panose="00000400000000000000" pitchFamily="2" charset="-78"/>
              </a:rPr>
              <a:t> SR  </a:t>
            </a:r>
            <a:r>
              <a:rPr lang="fa-IR" sz="2000" b="1" dirty="0">
                <a:solidFill>
                  <a:schemeClr val="bg1">
                    <a:lumMod val="85000"/>
                  </a:schemeClr>
                </a:solidFill>
                <a:cs typeface="B Nazanin" panose="00000400000000000000" pitchFamily="2" charset="-78"/>
              </a:rPr>
              <a:t>همه پیکسل‌ها را یکسان پردازش می کنند.</a:t>
            </a:r>
          </a:p>
          <a:p>
            <a:pPr marL="342900" indent="-342900" algn="just" rtl="1">
              <a:buFont typeface="Wingdings" panose="05000000000000000000" pitchFamily="2" charset="2"/>
              <a:buChar char="§"/>
            </a:pPr>
            <a:r>
              <a:rPr lang="fa-IR" sz="2000" b="1" dirty="0">
                <a:solidFill>
                  <a:schemeClr val="bg1">
                    <a:lumMod val="85000"/>
                  </a:schemeClr>
                </a:solidFill>
                <a:cs typeface="B Nazanin" panose="00000400000000000000" pitchFamily="2" charset="-78"/>
              </a:rPr>
              <a:t>منابع بر روی پیکسل‌های ساده (مثل پس‌زمینه) هدر می رود.</a:t>
            </a:r>
          </a:p>
          <a:p>
            <a:pPr algn="just" rtl="1"/>
            <a:endParaRPr lang="fa-IR" sz="2000" b="1" dirty="0">
              <a:solidFill>
                <a:schemeClr val="bg1">
                  <a:lumMod val="85000"/>
                </a:schemeClr>
              </a:solidFill>
              <a:cs typeface="B Nazanin" panose="00000400000000000000" pitchFamily="2" charset="-78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4D2859-8075-913E-40A5-B5FF2FAA0517}"/>
              </a:ext>
            </a:extLst>
          </p:cNvPr>
          <p:cNvSpPr txBox="1"/>
          <p:nvPr/>
        </p:nvSpPr>
        <p:spPr>
          <a:xfrm>
            <a:off x="2653152" y="3118701"/>
            <a:ext cx="2971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200" dirty="0">
                <a:solidFill>
                  <a:srgbClr val="00FFFF"/>
                </a:solidFill>
                <a:cs typeface="B Titr" panose="00000700000000000000" pitchFamily="2" charset="-78"/>
              </a:rPr>
              <a:t>هدف اصلی پژوهش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9958EB-715B-435C-14B5-28F124756CC4}"/>
              </a:ext>
            </a:extLst>
          </p:cNvPr>
          <p:cNvSpPr txBox="1"/>
          <p:nvPr/>
        </p:nvSpPr>
        <p:spPr>
          <a:xfrm>
            <a:off x="1360550" y="3954563"/>
            <a:ext cx="4264402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/>
            <a:r>
              <a:rPr lang="fa-I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پاسخ علمی به یک پرسش بنیادی در انجام روند </a:t>
            </a: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SR</a:t>
            </a:r>
            <a:r>
              <a:rPr lang="fa-I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این است که:</a:t>
            </a:r>
          </a:p>
          <a:p>
            <a:pPr marL="342900" indent="-342900" algn="just" rtl="1">
              <a:buFont typeface="Arial" panose="020B0604020202020204" pitchFamily="34" charset="0"/>
              <a:buChar char="•"/>
            </a:pPr>
            <a:endParaRPr lang="fa-IR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pPr algn="just" rtl="1">
              <a:lnSpc>
                <a:spcPct val="150000"/>
              </a:lnSpc>
            </a:pPr>
            <a:r>
              <a:rPr lang="fa-IR" sz="2000" b="1" dirty="0">
                <a:solidFill>
                  <a:srgbClr val="00FFFF"/>
                </a:solidFill>
                <a:cs typeface="B Nazanin" panose="00000400000000000000" pitchFamily="2" charset="-78"/>
              </a:rPr>
              <a:t>آیا واقعاً همه قسمت‌های تصویر ارزش یکسانی دارند؟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50B5E4-27D2-860D-0EB2-28E56D1A7043}"/>
              </a:ext>
            </a:extLst>
          </p:cNvPr>
          <p:cNvSpPr txBox="1"/>
          <p:nvPr/>
        </p:nvSpPr>
        <p:spPr>
          <a:xfrm>
            <a:off x="7010400" y="5624334"/>
            <a:ext cx="91656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/>
            <a:r>
              <a:rPr lang="fa-IR" sz="2400" b="1" dirty="0">
                <a:solidFill>
                  <a:schemeClr val="bg1">
                    <a:lumMod val="85000"/>
                  </a:schemeClr>
                </a:solidFill>
                <a:cs typeface="B Nazanin" panose="00000400000000000000" pitchFamily="2" charset="-78"/>
              </a:rPr>
              <a:t>چالش اصلی این است که افزایش کیفیت تصویر معمولاً به محاسبات بسیار زیادی نیاز دارد. اکثر شبکه‌های عمیق، چه مبتنی بر 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cs typeface="B Nazanin" panose="00000400000000000000" pitchFamily="2" charset="-78"/>
              </a:rPr>
              <a:t>CNN </a:t>
            </a:r>
            <a:r>
              <a:rPr lang="fa-IR" sz="2400" b="1" dirty="0">
                <a:solidFill>
                  <a:schemeClr val="bg1">
                    <a:lumMod val="85000"/>
                  </a:schemeClr>
                </a:solidFill>
                <a:cs typeface="B Nazanin" panose="00000400000000000000" pitchFamily="2" charset="-78"/>
              </a:rPr>
              <a:t>و چه 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cs typeface="B Nazanin" panose="00000400000000000000" pitchFamily="2" charset="-78"/>
              </a:rPr>
              <a:t>Transformer، </a:t>
            </a:r>
            <a:r>
              <a:rPr lang="fa-IR" sz="2400" b="1" dirty="0">
                <a:solidFill>
                  <a:schemeClr val="bg1">
                    <a:lumMod val="85000"/>
                  </a:schemeClr>
                </a:solidFill>
                <a:cs typeface="B Nazanin" panose="00000400000000000000" pitchFamily="2" charset="-78"/>
              </a:rPr>
              <a:t>تمام نواحی تصویر را تقریباً به یک اندازه پردازش می‌کنند.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0EBC14-B673-43F6-597B-41F40094AF06}"/>
              </a:ext>
            </a:extLst>
          </p:cNvPr>
          <p:cNvSpPr txBox="1"/>
          <p:nvPr/>
        </p:nvSpPr>
        <p:spPr>
          <a:xfrm>
            <a:off x="1328752" y="5829300"/>
            <a:ext cx="4264402" cy="328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000" b="1" u="sng" dirty="0">
                <a:solidFill>
                  <a:srgbClr val="22C4C9"/>
                </a:solidFill>
                <a:cs typeface="B Nazanin" panose="00000400000000000000" pitchFamily="2" charset="-78"/>
              </a:rPr>
              <a:t>راه‌حل: تخصیص هوشمند منابع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a-IR" sz="2000" dirty="0">
              <a:solidFill>
                <a:schemeClr val="bg1"/>
              </a:solidFill>
              <a:cs typeface="B Nazanin" panose="00000400000000000000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sz="2000" dirty="0">
                <a:solidFill>
                  <a:schemeClr val="bg1"/>
                </a:solidFill>
                <a:cs typeface="B Nazanin" panose="00000400000000000000" pitchFamily="2" charset="-78"/>
              </a:rPr>
              <a:t> پیکسل‌های مهم لبه‌ها، جزئیات(پردازش بیشتر)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sz="2000" dirty="0">
                <a:solidFill>
                  <a:schemeClr val="bg1"/>
                </a:solidFill>
                <a:cs typeface="B Nazanin" panose="00000400000000000000" pitchFamily="2" charset="-78"/>
              </a:rPr>
              <a:t> پیکسل‌های ساده پس‌زمینه (پردازش کمتر)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a-IR" sz="2000" dirty="0">
              <a:solidFill>
                <a:schemeClr val="bg1"/>
              </a:solidFill>
              <a:cs typeface="B Nazanin" panose="00000400000000000000" pitchFamily="2" charset="-78"/>
            </a:endParaRPr>
          </a:p>
          <a:p>
            <a:pPr algn="just" rtl="1">
              <a:lnSpc>
                <a:spcPct val="150000"/>
              </a:lnSpc>
            </a:pPr>
            <a:r>
              <a:rPr lang="fa-IR" sz="2000" b="1" u="sng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نتیجه: کیفیت بالاتر + سرعت بیشتر + مصرف کمتر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836E64C-2D21-DBB5-3657-E41C27C916E6}"/>
              </a:ext>
            </a:extLst>
          </p:cNvPr>
          <p:cNvSpPr txBox="1"/>
          <p:nvPr/>
        </p:nvSpPr>
        <p:spPr>
          <a:xfrm>
            <a:off x="13469224" y="7287436"/>
            <a:ext cx="26089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b="1" i="0" u="none" strike="noStrike" kern="1200" cap="none" spc="0" normalizeH="0" baseline="0" noProof="0" dirty="0">
                <a:ln>
                  <a:noFill/>
                </a:ln>
                <a:solidFill>
                  <a:srgbClr val="66FCF1"/>
                </a:solidFill>
                <a:effectLst/>
                <a:uLnTx/>
                <a:uFillTx/>
                <a:latin typeface="Noto Sans Arabic"/>
                <a:ea typeface="+mn-ea"/>
                <a:cs typeface="B Nazanin" panose="00000400000000000000" pitchFamily="2" charset="-78"/>
              </a:rPr>
              <a:t>مشکل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2D735F-764F-D048-2C4D-CC98AB26A116}"/>
              </a:ext>
            </a:extLst>
          </p:cNvPr>
          <p:cNvSpPr txBox="1"/>
          <p:nvPr/>
        </p:nvSpPr>
        <p:spPr>
          <a:xfrm>
            <a:off x="1111391" y="9193768"/>
            <a:ext cx="15660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dirty="0">
                <a:solidFill>
                  <a:srgbClr val="00FFFF"/>
                </a:solidFill>
                <a:cs typeface="B Titr" panose="00000700000000000000" pitchFamily="2" charset="-78"/>
              </a:rPr>
              <a:t>لینک دانلود:  </a:t>
            </a:r>
            <a:r>
              <a:rPr lang="en-US" dirty="0">
                <a:solidFill>
                  <a:srgbClr val="00FFFF"/>
                </a:solidFill>
                <a:cs typeface="B Titr" panose="00000700000000000000" pitchFamily="2" charset="-78"/>
                <a:hlinkClick r:id="rId3"/>
              </a:rPr>
              <a:t>Xu_IAFMNet_Information-Aware_Feature_Modulation_for_Efficient_Super-Resolution_CVPR_2026_paper.pdf</a:t>
            </a:r>
            <a:endParaRPr lang="en-US" dirty="0">
              <a:solidFill>
                <a:srgbClr val="00FFFF"/>
              </a:solidFill>
              <a:cs typeface="B Titr" panose="00000700000000000000" pitchFamily="2" charset="-78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68248A1-D969-A6BE-B061-B17894E13EEF}"/>
              </a:ext>
            </a:extLst>
          </p:cNvPr>
          <p:cNvSpPr txBox="1"/>
          <p:nvPr/>
        </p:nvSpPr>
        <p:spPr>
          <a:xfrm>
            <a:off x="7585550" y="1682483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3200" dirty="0">
                <a:solidFill>
                  <a:schemeClr val="bg1"/>
                </a:solidFill>
                <a:cs typeface="B Titr" panose="00000700000000000000" pitchFamily="2" charset="-78"/>
              </a:rPr>
              <a:t>معرفی مقاله : </a:t>
            </a:r>
            <a:r>
              <a:rPr lang="en-US" sz="3200" b="1" u="sng" dirty="0" err="1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IAFMNet</a:t>
            </a:r>
            <a:endParaRPr lang="fa-IR" sz="3200" b="1" u="sng" dirty="0">
              <a:solidFill>
                <a:srgbClr val="00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7B0334-232D-E08F-E541-3AA0EEB61FCD}"/>
              </a:ext>
            </a:extLst>
          </p:cNvPr>
          <p:cNvCxnSpPr>
            <a:cxnSpLocks/>
          </p:cNvCxnSpPr>
          <p:nvPr/>
        </p:nvCxnSpPr>
        <p:spPr>
          <a:xfrm>
            <a:off x="1447800" y="5829300"/>
            <a:ext cx="4157992" cy="0"/>
          </a:xfrm>
          <a:prstGeom prst="line">
            <a:avLst/>
          </a:prstGeom>
          <a:ln w="3175">
            <a:solidFill>
              <a:srgbClr val="0F5C6B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F7CBEDB-B85D-6941-8620-3F5718AA4832}"/>
              </a:ext>
            </a:extLst>
          </p:cNvPr>
          <p:cNvSpPr txBox="1"/>
          <p:nvPr/>
        </p:nvSpPr>
        <p:spPr>
          <a:xfrm>
            <a:off x="14325600" y="327297"/>
            <a:ext cx="28194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ptos" panose="02110004020202020204"/>
                <a:cs typeface="B Titr" panose="00000700000000000000" pitchFamily="2" charset="-78"/>
              </a:rPr>
              <a:t>Efficient S</a:t>
            </a:r>
            <a:r>
              <a:rPr lang="en-US" sz="1600" b="1" dirty="0">
                <a:solidFill>
                  <a:srgbClr val="22C4C9"/>
                </a:solidFill>
                <a:latin typeface=" "/>
                <a:cs typeface="B Titr" panose="00000700000000000000" pitchFamily="2" charset="-78"/>
              </a:rPr>
              <a:t>uper-Resolution</a:t>
            </a:r>
            <a:endParaRPr lang="fa-IR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5F9CE-0AF6-3B5A-33C5-DD97E69B1559}"/>
              </a:ext>
            </a:extLst>
          </p:cNvPr>
          <p:cNvSpPr txBox="1"/>
          <p:nvPr/>
        </p:nvSpPr>
        <p:spPr>
          <a:xfrm>
            <a:off x="1295400" y="395198"/>
            <a:ext cx="15240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b="1" dirty="0" err="1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IAFMNet</a:t>
            </a:r>
            <a:endParaRPr lang="fa-IR" b="1" dirty="0">
              <a:solidFill>
                <a:srgbClr val="22C4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01741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0EE4FB-F083-F1A3-CA05-5CD7A0C24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9"/>
          <a:stretch/>
        </p:blipFill>
        <p:spPr>
          <a:xfrm>
            <a:off x="17221200" y="0"/>
            <a:ext cx="1066800" cy="128396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0BDDFC-FB65-C0EC-A58F-A04FE092C96B}"/>
              </a:ext>
            </a:extLst>
          </p:cNvPr>
          <p:cNvCxnSpPr/>
          <p:nvPr/>
        </p:nvCxnSpPr>
        <p:spPr>
          <a:xfrm>
            <a:off x="1295400" y="800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C92339-B7AF-4D21-EA48-DFE3E0F49AB0}"/>
              </a:ext>
            </a:extLst>
          </p:cNvPr>
          <p:cNvCxnSpPr/>
          <p:nvPr/>
        </p:nvCxnSpPr>
        <p:spPr>
          <a:xfrm>
            <a:off x="1257300" y="9563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378426-7FEA-6A89-844A-1ED33C691BAF}"/>
              </a:ext>
            </a:extLst>
          </p:cNvPr>
          <p:cNvSpPr txBox="1"/>
          <p:nvPr/>
        </p:nvSpPr>
        <p:spPr>
          <a:xfrm>
            <a:off x="16635608" y="9639300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dirty="0">
                <a:solidFill>
                  <a:srgbClr val="66FCF1"/>
                </a:solidFill>
                <a:latin typeface="Inter"/>
              </a:rPr>
              <a:t>04</a:t>
            </a:r>
            <a:endParaRPr lang="fa-I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695B95-A79B-A540-0E6C-A00063D15B83}"/>
              </a:ext>
            </a:extLst>
          </p:cNvPr>
          <p:cNvSpPr txBox="1"/>
          <p:nvPr/>
        </p:nvSpPr>
        <p:spPr>
          <a:xfrm>
            <a:off x="16176042" y="9648785"/>
            <a:ext cx="585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/ 19</a:t>
            </a:r>
            <a:endParaRPr lang="fa-I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9F0801-0357-6075-483B-901BCBF1B174}"/>
              </a:ext>
            </a:extLst>
          </p:cNvPr>
          <p:cNvSpPr txBox="1"/>
          <p:nvPr/>
        </p:nvSpPr>
        <p:spPr>
          <a:xfrm>
            <a:off x="8044406" y="1904852"/>
            <a:ext cx="8424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معماری </a:t>
            </a:r>
            <a:r>
              <a:rPr lang="en-US" sz="2800" b="1" u="sng" dirty="0" err="1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IAFMNet</a:t>
            </a:r>
            <a:endParaRPr lang="fa-IR" sz="2800" b="1" u="sng" dirty="0">
              <a:solidFill>
                <a:srgbClr val="00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30F2E0-5C29-8D34-B204-B5E9217DC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81228"/>
            <a:ext cx="14347242" cy="60860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1BE465-D8DF-562E-FD4E-200C1771DC66}"/>
              </a:ext>
            </a:extLst>
          </p:cNvPr>
          <p:cNvSpPr txBox="1"/>
          <p:nvPr/>
        </p:nvSpPr>
        <p:spPr>
          <a:xfrm>
            <a:off x="14325600" y="327297"/>
            <a:ext cx="28194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ptos" panose="02110004020202020204"/>
                <a:cs typeface="B Titr" panose="00000700000000000000" pitchFamily="2" charset="-78"/>
              </a:rPr>
              <a:t>Efficient S</a:t>
            </a:r>
            <a:r>
              <a:rPr lang="en-US" sz="1600" b="1" dirty="0">
                <a:solidFill>
                  <a:srgbClr val="22C4C9"/>
                </a:solidFill>
                <a:latin typeface=" "/>
                <a:cs typeface="B Titr" panose="00000700000000000000" pitchFamily="2" charset="-78"/>
              </a:rPr>
              <a:t>uper-Resolution</a:t>
            </a:r>
            <a:endParaRPr lang="fa-IR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91F9E3-5C9D-88E0-61C3-CDC2D3B52265}"/>
              </a:ext>
            </a:extLst>
          </p:cNvPr>
          <p:cNvSpPr txBox="1"/>
          <p:nvPr/>
        </p:nvSpPr>
        <p:spPr>
          <a:xfrm>
            <a:off x="1295400" y="395198"/>
            <a:ext cx="15240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b="1" dirty="0" err="1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IAFMNet</a:t>
            </a:r>
            <a:endParaRPr lang="fa-IR" b="1" dirty="0">
              <a:solidFill>
                <a:srgbClr val="22C4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0D4CC8-30BD-4832-893B-71D8B5A7A05B}"/>
              </a:ext>
            </a:extLst>
          </p:cNvPr>
          <p:cNvSpPr txBox="1"/>
          <p:nvPr/>
        </p:nvSpPr>
        <p:spPr>
          <a:xfrm>
            <a:off x="1257300" y="9693409"/>
            <a:ext cx="14820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Xu, J., Liu, M., Wang, Z., Wu, F., Wu, S., Huang, T., &amp; Dong, W. (2026). </a:t>
            </a:r>
            <a:r>
              <a:rPr lang="en-US" sz="12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IAFMNet</a:t>
            </a:r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Information-Aware Feature Modulation for Efficient Super-Resolution. In Proceedings of the IEEE/CVF Conference on Computer Vision and Pattern Recognition (pp. 30564-30573).</a:t>
            </a:r>
            <a:endParaRPr lang="fa-IR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312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C5BC237-F8A7-AEB7-FF85-978B7ADD0F67}"/>
              </a:ext>
            </a:extLst>
          </p:cNvPr>
          <p:cNvSpPr txBox="1"/>
          <p:nvPr/>
        </p:nvSpPr>
        <p:spPr>
          <a:xfrm>
            <a:off x="10059015" y="1977517"/>
            <a:ext cx="660420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a-IR" sz="3200" b="1" u="sng" dirty="0">
                <a:solidFill>
                  <a:schemeClr val="bg1">
                    <a:lumMod val="95000"/>
                  </a:schemeClr>
                </a:solidFill>
                <a:effectLst>
                  <a:glow rad="38100">
                    <a:srgbClr val="00FFFF">
                      <a:alpha val="25000"/>
                    </a:srgbClr>
                  </a:glow>
                </a:effectLst>
                <a:latin typeface="Aptos" panose="02110004020202020204"/>
                <a:cs typeface="B Titr" panose="00000700000000000000" pitchFamily="2" charset="-78"/>
              </a:rPr>
              <a:t>معماری کلی </a:t>
            </a:r>
            <a:r>
              <a:rPr lang="en-US" sz="3200" b="1" u="sng" dirty="0" err="1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IAFMNet</a:t>
            </a:r>
            <a:endParaRPr lang="fa-IR" sz="3200" b="1" u="sng" dirty="0">
              <a:solidFill>
                <a:srgbClr val="22C4C9"/>
              </a:solidFill>
              <a:effectLst>
                <a:glow rad="38100">
                  <a:srgbClr val="00FFFF">
                    <a:alpha val="25000"/>
                  </a:srgbClr>
                </a:glow>
              </a:effectLst>
              <a:latin typeface="Aptos" panose="02110004020202020204"/>
              <a:cs typeface="B Titr" panose="00000700000000000000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F2C81F-8631-417E-61E5-445382EAD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9"/>
          <a:stretch/>
        </p:blipFill>
        <p:spPr>
          <a:xfrm>
            <a:off x="17221200" y="0"/>
            <a:ext cx="1066800" cy="128396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A4C5EA-E404-83E0-9783-BA41CDA0C8AF}"/>
              </a:ext>
            </a:extLst>
          </p:cNvPr>
          <p:cNvCxnSpPr/>
          <p:nvPr/>
        </p:nvCxnSpPr>
        <p:spPr>
          <a:xfrm>
            <a:off x="1295400" y="800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62688F-9798-1FED-9114-2F5DBAA53FF2}"/>
              </a:ext>
            </a:extLst>
          </p:cNvPr>
          <p:cNvCxnSpPr/>
          <p:nvPr/>
        </p:nvCxnSpPr>
        <p:spPr>
          <a:xfrm>
            <a:off x="1257300" y="9563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90EAC38-9849-53F6-E5E7-A0A1D1D89E46}"/>
              </a:ext>
            </a:extLst>
          </p:cNvPr>
          <p:cNvSpPr txBox="1"/>
          <p:nvPr/>
        </p:nvSpPr>
        <p:spPr>
          <a:xfrm>
            <a:off x="16635608" y="9639300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05</a:t>
            </a:r>
            <a:endParaRPr lang="fa-I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1614AD-3114-8BAB-732F-74506316F444}"/>
              </a:ext>
            </a:extLst>
          </p:cNvPr>
          <p:cNvSpPr txBox="1"/>
          <p:nvPr/>
        </p:nvSpPr>
        <p:spPr>
          <a:xfrm>
            <a:off x="16176042" y="9648785"/>
            <a:ext cx="585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/ 19</a:t>
            </a:r>
            <a:endParaRPr lang="fa-IR" dirty="0"/>
          </a:p>
        </p:txBody>
      </p:sp>
      <p:grpSp>
        <p:nvGrpSpPr>
          <p:cNvPr id="18" name="Group 3">
            <a:extLst>
              <a:ext uri="{FF2B5EF4-FFF2-40B4-BE49-F238E27FC236}">
                <a16:creationId xmlns:a16="http://schemas.microsoft.com/office/drawing/2014/main" id="{9EB5F4F1-611C-D5CF-3764-C159B80FAD7C}"/>
              </a:ext>
            </a:extLst>
          </p:cNvPr>
          <p:cNvGrpSpPr/>
          <p:nvPr/>
        </p:nvGrpSpPr>
        <p:grpSpPr>
          <a:xfrm>
            <a:off x="1320800" y="3371226"/>
            <a:ext cx="3405029" cy="4003359"/>
            <a:chOff x="0" y="0"/>
            <a:chExt cx="896798" cy="1054383"/>
          </a:xfrm>
        </p:grpSpPr>
        <p:sp>
          <p:nvSpPr>
            <p:cNvPr id="19" name="Freeform 4">
              <a:extLst>
                <a:ext uri="{FF2B5EF4-FFF2-40B4-BE49-F238E27FC236}">
                  <a16:creationId xmlns:a16="http://schemas.microsoft.com/office/drawing/2014/main" id="{CA573C2A-D4E6-1580-130E-BD9AABCB93F8}"/>
                </a:ext>
              </a:extLst>
            </p:cNvPr>
            <p:cNvSpPr/>
            <p:nvPr/>
          </p:nvSpPr>
          <p:spPr>
            <a:xfrm>
              <a:off x="0" y="0"/>
              <a:ext cx="896798" cy="1054383"/>
            </a:xfrm>
            <a:custGeom>
              <a:avLst/>
              <a:gdLst/>
              <a:ahLst/>
              <a:cxnLst/>
              <a:rect l="l" t="t" r="r" b="b"/>
              <a:pathLst>
                <a:path w="896798" h="1054383">
                  <a:moveTo>
                    <a:pt x="115957" y="0"/>
                  </a:moveTo>
                  <a:lnTo>
                    <a:pt x="780841" y="0"/>
                  </a:lnTo>
                  <a:cubicBezTo>
                    <a:pt x="844882" y="0"/>
                    <a:pt x="896798" y="51916"/>
                    <a:pt x="896798" y="115957"/>
                  </a:cubicBezTo>
                  <a:lnTo>
                    <a:pt x="896798" y="938425"/>
                  </a:lnTo>
                  <a:cubicBezTo>
                    <a:pt x="896798" y="1002467"/>
                    <a:pt x="844882" y="1054383"/>
                    <a:pt x="780841" y="1054383"/>
                  </a:cubicBezTo>
                  <a:lnTo>
                    <a:pt x="115957" y="1054383"/>
                  </a:lnTo>
                  <a:cubicBezTo>
                    <a:pt x="85203" y="1054383"/>
                    <a:pt x="55709" y="1042166"/>
                    <a:pt x="33963" y="1020419"/>
                  </a:cubicBezTo>
                  <a:cubicBezTo>
                    <a:pt x="12217" y="998673"/>
                    <a:pt x="0" y="969179"/>
                    <a:pt x="0" y="938425"/>
                  </a:cubicBezTo>
                  <a:lnTo>
                    <a:pt x="0" y="115957"/>
                  </a:lnTo>
                  <a:cubicBezTo>
                    <a:pt x="0" y="51916"/>
                    <a:pt x="51916" y="0"/>
                    <a:pt x="115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fa-IR"/>
            </a:p>
          </p:txBody>
        </p:sp>
        <p:sp>
          <p:nvSpPr>
            <p:cNvPr id="20" name="TextBox 5">
              <a:extLst>
                <a:ext uri="{FF2B5EF4-FFF2-40B4-BE49-F238E27FC236}">
                  <a16:creationId xmlns:a16="http://schemas.microsoft.com/office/drawing/2014/main" id="{DD7AB6A1-4BD6-93BC-EC87-83C3BBD37180}"/>
                </a:ext>
              </a:extLst>
            </p:cNvPr>
            <p:cNvSpPr txBox="1"/>
            <p:nvPr/>
          </p:nvSpPr>
          <p:spPr>
            <a:xfrm>
              <a:off x="0" y="0"/>
              <a:ext cx="896798" cy="1054383"/>
            </a:xfrm>
            <a:prstGeom prst="rect">
              <a:avLst/>
            </a:prstGeom>
            <a:gradFill rotWithShape="1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  <p:txBody>
            <a:bodyPr/>
            <a:lstStyle>
              <a:defPPr>
                <a:defRPr lang="en-US"/>
              </a:defPPr>
            </a:lstStyle>
            <a:p>
              <a:endParaRPr/>
            </a:p>
          </p:txBody>
        </p:sp>
      </p:grpSp>
      <p:grpSp>
        <p:nvGrpSpPr>
          <p:cNvPr id="21" name="Group 6">
            <a:extLst>
              <a:ext uri="{FF2B5EF4-FFF2-40B4-BE49-F238E27FC236}">
                <a16:creationId xmlns:a16="http://schemas.microsoft.com/office/drawing/2014/main" id="{F3A0AE96-B08A-F825-CAC3-8E3A7674679C}"/>
              </a:ext>
            </a:extLst>
          </p:cNvPr>
          <p:cNvGrpSpPr/>
          <p:nvPr/>
        </p:nvGrpSpPr>
        <p:grpSpPr>
          <a:xfrm>
            <a:off x="5190466" y="3371226"/>
            <a:ext cx="3405029" cy="4003359"/>
            <a:chOff x="0" y="0"/>
            <a:chExt cx="896798" cy="1054383"/>
          </a:xfrm>
        </p:grpSpPr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8295E61F-8743-ABD3-3B14-78F21E620D19}"/>
                </a:ext>
              </a:extLst>
            </p:cNvPr>
            <p:cNvSpPr/>
            <p:nvPr/>
          </p:nvSpPr>
          <p:spPr>
            <a:xfrm>
              <a:off x="0" y="0"/>
              <a:ext cx="896798" cy="1054383"/>
            </a:xfrm>
            <a:custGeom>
              <a:avLst/>
              <a:gdLst/>
              <a:ahLst/>
              <a:cxnLst/>
              <a:rect l="l" t="t" r="r" b="b"/>
              <a:pathLst>
                <a:path w="896798" h="1054383">
                  <a:moveTo>
                    <a:pt x="115957" y="0"/>
                  </a:moveTo>
                  <a:lnTo>
                    <a:pt x="780841" y="0"/>
                  </a:lnTo>
                  <a:cubicBezTo>
                    <a:pt x="844882" y="0"/>
                    <a:pt x="896798" y="51916"/>
                    <a:pt x="896798" y="115957"/>
                  </a:cubicBezTo>
                  <a:lnTo>
                    <a:pt x="896798" y="938425"/>
                  </a:lnTo>
                  <a:cubicBezTo>
                    <a:pt x="896798" y="1002467"/>
                    <a:pt x="844882" y="1054383"/>
                    <a:pt x="780841" y="1054383"/>
                  </a:cubicBezTo>
                  <a:lnTo>
                    <a:pt x="115957" y="1054383"/>
                  </a:lnTo>
                  <a:cubicBezTo>
                    <a:pt x="85203" y="1054383"/>
                    <a:pt x="55709" y="1042166"/>
                    <a:pt x="33963" y="1020419"/>
                  </a:cubicBezTo>
                  <a:cubicBezTo>
                    <a:pt x="12217" y="998673"/>
                    <a:pt x="0" y="969179"/>
                    <a:pt x="0" y="938425"/>
                  </a:cubicBezTo>
                  <a:lnTo>
                    <a:pt x="0" y="115957"/>
                  </a:lnTo>
                  <a:cubicBezTo>
                    <a:pt x="0" y="51916"/>
                    <a:pt x="51916" y="0"/>
                    <a:pt x="115957" y="0"/>
                  </a:cubicBezTo>
                  <a:close/>
                </a:path>
              </a:pathLst>
            </a:custGeom>
            <a:solidFill>
              <a:srgbClr val="85FFFF">
                <a:alpha val="2000"/>
              </a:srgbClr>
            </a:solidFill>
            <a:ln w="6350">
              <a:solidFill>
                <a:srgbClr val="00FFFF">
                  <a:alpha val="22000"/>
                </a:srgb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endParaRPr lang="fa-IR"/>
            </a:p>
          </p:txBody>
        </p:sp>
        <p:sp>
          <p:nvSpPr>
            <p:cNvPr id="23" name="TextBox 8">
              <a:extLst>
                <a:ext uri="{FF2B5EF4-FFF2-40B4-BE49-F238E27FC236}">
                  <a16:creationId xmlns:a16="http://schemas.microsoft.com/office/drawing/2014/main" id="{14C62A1B-6FED-E53F-30E8-E858715FB0F2}"/>
                </a:ext>
              </a:extLst>
            </p:cNvPr>
            <p:cNvSpPr txBox="1"/>
            <p:nvPr/>
          </p:nvSpPr>
          <p:spPr>
            <a:xfrm>
              <a:off x="0" y="0"/>
              <a:ext cx="896798" cy="1054383"/>
            </a:xfrm>
            <a:prstGeom prst="rect">
              <a:avLst/>
            </a:prstGeom>
            <a:solidFill>
              <a:srgbClr val="85FFFF">
                <a:alpha val="2000"/>
              </a:srgbClr>
            </a:solidFill>
            <a:ln w="6350">
              <a:solidFill>
                <a:srgbClr val="00FFFF">
                  <a:alpha val="22000"/>
                </a:srgb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>
              <a:defPPr>
                <a:defRPr lang="en-US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/>
            </a:p>
          </p:txBody>
        </p:sp>
      </p:grpSp>
      <p:grpSp>
        <p:nvGrpSpPr>
          <p:cNvPr id="24" name="Group 9">
            <a:extLst>
              <a:ext uri="{FF2B5EF4-FFF2-40B4-BE49-F238E27FC236}">
                <a16:creationId xmlns:a16="http://schemas.microsoft.com/office/drawing/2014/main" id="{351F274D-A1CC-3881-C48A-DFB425C8B5CC}"/>
              </a:ext>
            </a:extLst>
          </p:cNvPr>
          <p:cNvGrpSpPr/>
          <p:nvPr/>
        </p:nvGrpSpPr>
        <p:grpSpPr>
          <a:xfrm>
            <a:off x="9062220" y="3371226"/>
            <a:ext cx="3405029" cy="4003359"/>
            <a:chOff x="0" y="0"/>
            <a:chExt cx="896798" cy="1054383"/>
          </a:xfrm>
        </p:grpSpPr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843254FC-DFB8-31B1-0089-B4D5D7BD4A44}"/>
                </a:ext>
              </a:extLst>
            </p:cNvPr>
            <p:cNvSpPr/>
            <p:nvPr/>
          </p:nvSpPr>
          <p:spPr>
            <a:xfrm>
              <a:off x="0" y="0"/>
              <a:ext cx="896798" cy="1054383"/>
            </a:xfrm>
            <a:custGeom>
              <a:avLst/>
              <a:gdLst/>
              <a:ahLst/>
              <a:cxnLst/>
              <a:rect l="l" t="t" r="r" b="b"/>
              <a:pathLst>
                <a:path w="896798" h="1054383">
                  <a:moveTo>
                    <a:pt x="115957" y="0"/>
                  </a:moveTo>
                  <a:lnTo>
                    <a:pt x="780841" y="0"/>
                  </a:lnTo>
                  <a:cubicBezTo>
                    <a:pt x="844882" y="0"/>
                    <a:pt x="896798" y="51916"/>
                    <a:pt x="896798" y="115957"/>
                  </a:cubicBezTo>
                  <a:lnTo>
                    <a:pt x="896798" y="938425"/>
                  </a:lnTo>
                  <a:cubicBezTo>
                    <a:pt x="896798" y="1002467"/>
                    <a:pt x="844882" y="1054383"/>
                    <a:pt x="780841" y="1054383"/>
                  </a:cubicBezTo>
                  <a:lnTo>
                    <a:pt x="115957" y="1054383"/>
                  </a:lnTo>
                  <a:cubicBezTo>
                    <a:pt x="85203" y="1054383"/>
                    <a:pt x="55709" y="1042166"/>
                    <a:pt x="33963" y="1020419"/>
                  </a:cubicBezTo>
                  <a:cubicBezTo>
                    <a:pt x="12217" y="998673"/>
                    <a:pt x="0" y="969179"/>
                    <a:pt x="0" y="938425"/>
                  </a:cubicBezTo>
                  <a:lnTo>
                    <a:pt x="0" y="115957"/>
                  </a:lnTo>
                  <a:cubicBezTo>
                    <a:pt x="0" y="51916"/>
                    <a:pt x="51916" y="0"/>
                    <a:pt x="115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fa-IR"/>
            </a:p>
          </p:txBody>
        </p:sp>
        <p:sp>
          <p:nvSpPr>
            <p:cNvPr id="26" name="TextBox 11">
              <a:extLst>
                <a:ext uri="{FF2B5EF4-FFF2-40B4-BE49-F238E27FC236}">
                  <a16:creationId xmlns:a16="http://schemas.microsoft.com/office/drawing/2014/main" id="{07E5FE55-1932-55EB-3497-96A47901AD4C}"/>
                </a:ext>
              </a:extLst>
            </p:cNvPr>
            <p:cNvSpPr txBox="1"/>
            <p:nvPr/>
          </p:nvSpPr>
          <p:spPr>
            <a:xfrm>
              <a:off x="0" y="0"/>
              <a:ext cx="896798" cy="1054383"/>
            </a:xfrm>
            <a:prstGeom prst="rect">
              <a:avLst/>
            </a:prstGeom>
            <a:gradFill rotWithShape="1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  <p:txBody>
            <a:bodyPr/>
            <a:lstStyle>
              <a:defPPr>
                <a:defRPr lang="en-US"/>
              </a:defPPr>
            </a:lstStyle>
            <a:p>
              <a:endParaRPr dirty="0"/>
            </a:p>
          </p:txBody>
        </p:sp>
      </p:grpSp>
      <p:grpSp>
        <p:nvGrpSpPr>
          <p:cNvPr id="27" name="Group 12">
            <a:extLst>
              <a:ext uri="{FF2B5EF4-FFF2-40B4-BE49-F238E27FC236}">
                <a16:creationId xmlns:a16="http://schemas.microsoft.com/office/drawing/2014/main" id="{0ACB5CA9-0FB6-A8CE-0510-32D21375EF11}"/>
              </a:ext>
            </a:extLst>
          </p:cNvPr>
          <p:cNvGrpSpPr/>
          <p:nvPr/>
        </p:nvGrpSpPr>
        <p:grpSpPr>
          <a:xfrm>
            <a:off x="12933975" y="3371226"/>
            <a:ext cx="3405029" cy="4003359"/>
            <a:chOff x="0" y="0"/>
            <a:chExt cx="896798" cy="1054383"/>
          </a:xfrm>
        </p:grpSpPr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677170E8-FECA-31D8-7166-2504C6544875}"/>
                </a:ext>
              </a:extLst>
            </p:cNvPr>
            <p:cNvSpPr/>
            <p:nvPr/>
          </p:nvSpPr>
          <p:spPr>
            <a:xfrm>
              <a:off x="0" y="0"/>
              <a:ext cx="896798" cy="1054383"/>
            </a:xfrm>
            <a:custGeom>
              <a:avLst/>
              <a:gdLst/>
              <a:ahLst/>
              <a:cxnLst/>
              <a:rect l="l" t="t" r="r" b="b"/>
              <a:pathLst>
                <a:path w="896798" h="1054383">
                  <a:moveTo>
                    <a:pt x="115957" y="0"/>
                  </a:moveTo>
                  <a:lnTo>
                    <a:pt x="780841" y="0"/>
                  </a:lnTo>
                  <a:cubicBezTo>
                    <a:pt x="844882" y="0"/>
                    <a:pt x="896798" y="51916"/>
                    <a:pt x="896798" y="115957"/>
                  </a:cubicBezTo>
                  <a:lnTo>
                    <a:pt x="896798" y="938425"/>
                  </a:lnTo>
                  <a:cubicBezTo>
                    <a:pt x="896798" y="1002467"/>
                    <a:pt x="844882" y="1054383"/>
                    <a:pt x="780841" y="1054383"/>
                  </a:cubicBezTo>
                  <a:lnTo>
                    <a:pt x="115957" y="1054383"/>
                  </a:lnTo>
                  <a:cubicBezTo>
                    <a:pt x="85203" y="1054383"/>
                    <a:pt x="55709" y="1042166"/>
                    <a:pt x="33963" y="1020419"/>
                  </a:cubicBezTo>
                  <a:cubicBezTo>
                    <a:pt x="12217" y="998673"/>
                    <a:pt x="0" y="969179"/>
                    <a:pt x="0" y="938425"/>
                  </a:cubicBezTo>
                  <a:lnTo>
                    <a:pt x="0" y="115957"/>
                  </a:lnTo>
                  <a:cubicBezTo>
                    <a:pt x="0" y="51916"/>
                    <a:pt x="51916" y="0"/>
                    <a:pt x="115957" y="0"/>
                  </a:cubicBezTo>
                  <a:close/>
                </a:path>
              </a:pathLst>
            </a:custGeom>
            <a:solidFill>
              <a:srgbClr val="85FFFF">
                <a:alpha val="2000"/>
              </a:srgbClr>
            </a:solidFill>
            <a:ln w="6350">
              <a:solidFill>
                <a:srgbClr val="00FFFF">
                  <a:alpha val="22000"/>
                </a:srgb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endParaRPr lang="fa-IR"/>
            </a:p>
          </p:txBody>
        </p:sp>
        <p:sp>
          <p:nvSpPr>
            <p:cNvPr id="29" name="TextBox 14">
              <a:extLst>
                <a:ext uri="{FF2B5EF4-FFF2-40B4-BE49-F238E27FC236}">
                  <a16:creationId xmlns:a16="http://schemas.microsoft.com/office/drawing/2014/main" id="{4E3AB44F-0384-EA25-0C42-51D8C17CEB9E}"/>
                </a:ext>
              </a:extLst>
            </p:cNvPr>
            <p:cNvSpPr txBox="1"/>
            <p:nvPr/>
          </p:nvSpPr>
          <p:spPr>
            <a:xfrm>
              <a:off x="0" y="0"/>
              <a:ext cx="896798" cy="1054383"/>
            </a:xfrm>
            <a:prstGeom prst="rect">
              <a:avLst/>
            </a:prstGeom>
            <a:solidFill>
              <a:srgbClr val="85FFFF">
                <a:alpha val="2000"/>
              </a:srgbClr>
            </a:solidFill>
            <a:ln w="6350">
              <a:solidFill>
                <a:srgbClr val="00FFFF">
                  <a:alpha val="22000"/>
                </a:srgb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>
              <a:defPPr>
                <a:defRPr lang="en-US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/>
            </a:p>
          </p:txBody>
        </p:sp>
      </p:grpSp>
      <p:sp>
        <p:nvSpPr>
          <p:cNvPr id="30" name="AutoShape 15">
            <a:extLst>
              <a:ext uri="{FF2B5EF4-FFF2-40B4-BE49-F238E27FC236}">
                <a16:creationId xmlns:a16="http://schemas.microsoft.com/office/drawing/2014/main" id="{72CE8E6A-E609-20F2-D897-FAE7DD3A9D7C}"/>
              </a:ext>
            </a:extLst>
          </p:cNvPr>
          <p:cNvSpPr/>
          <p:nvPr/>
        </p:nvSpPr>
        <p:spPr>
          <a:xfrm>
            <a:off x="3023315" y="8314970"/>
            <a:ext cx="11613175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grpSp>
        <p:nvGrpSpPr>
          <p:cNvPr id="31" name="Group 16">
            <a:extLst>
              <a:ext uri="{FF2B5EF4-FFF2-40B4-BE49-F238E27FC236}">
                <a16:creationId xmlns:a16="http://schemas.microsoft.com/office/drawing/2014/main" id="{4D353A01-DD95-A1F5-9298-840F34027C7C}"/>
              </a:ext>
            </a:extLst>
          </p:cNvPr>
          <p:cNvGrpSpPr/>
          <p:nvPr/>
        </p:nvGrpSpPr>
        <p:grpSpPr>
          <a:xfrm rot="-5400000">
            <a:off x="2558720" y="7850375"/>
            <a:ext cx="929190" cy="929190"/>
            <a:chOff x="0" y="0"/>
            <a:chExt cx="812800" cy="812800"/>
          </a:xfrm>
        </p:grpSpPr>
        <p:sp>
          <p:nvSpPr>
            <p:cNvPr id="32" name="Freeform 17">
              <a:extLst>
                <a:ext uri="{FF2B5EF4-FFF2-40B4-BE49-F238E27FC236}">
                  <a16:creationId xmlns:a16="http://schemas.microsoft.com/office/drawing/2014/main" id="{2BAAC135-57AA-4935-DC16-0FAE3515E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33" name="TextBox 18">
              <a:extLst>
                <a:ext uri="{FF2B5EF4-FFF2-40B4-BE49-F238E27FC236}">
                  <a16:creationId xmlns:a16="http://schemas.microsoft.com/office/drawing/2014/main" id="{A61D5DBA-A4D9-070D-5C78-C4AC1D59EED8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19">
            <a:extLst>
              <a:ext uri="{FF2B5EF4-FFF2-40B4-BE49-F238E27FC236}">
                <a16:creationId xmlns:a16="http://schemas.microsoft.com/office/drawing/2014/main" id="{D3D3E890-2097-56CE-0253-5BDC51733EB2}"/>
              </a:ext>
            </a:extLst>
          </p:cNvPr>
          <p:cNvGrpSpPr/>
          <p:nvPr/>
        </p:nvGrpSpPr>
        <p:grpSpPr>
          <a:xfrm rot="-5400000">
            <a:off x="6428386" y="7850375"/>
            <a:ext cx="929190" cy="929190"/>
            <a:chOff x="0" y="0"/>
            <a:chExt cx="812800" cy="812800"/>
          </a:xfrm>
        </p:grpSpPr>
        <p:sp>
          <p:nvSpPr>
            <p:cNvPr id="35" name="Freeform 20">
              <a:extLst>
                <a:ext uri="{FF2B5EF4-FFF2-40B4-BE49-F238E27FC236}">
                  <a16:creationId xmlns:a16="http://schemas.microsoft.com/office/drawing/2014/main" id="{D89EC2F7-127E-D9FE-5E15-C5F227297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36" name="TextBox 21">
              <a:extLst>
                <a:ext uri="{FF2B5EF4-FFF2-40B4-BE49-F238E27FC236}">
                  <a16:creationId xmlns:a16="http://schemas.microsoft.com/office/drawing/2014/main" id="{28A39FAC-83F9-42E0-AF9B-B31CBDBCB9E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7" name="Group 22">
            <a:extLst>
              <a:ext uri="{FF2B5EF4-FFF2-40B4-BE49-F238E27FC236}">
                <a16:creationId xmlns:a16="http://schemas.microsoft.com/office/drawing/2014/main" id="{C27EF487-466A-E625-139F-537B407D8B95}"/>
              </a:ext>
            </a:extLst>
          </p:cNvPr>
          <p:cNvGrpSpPr/>
          <p:nvPr/>
        </p:nvGrpSpPr>
        <p:grpSpPr>
          <a:xfrm rot="-5400000">
            <a:off x="10300140" y="7850375"/>
            <a:ext cx="929190" cy="929190"/>
            <a:chOff x="0" y="0"/>
            <a:chExt cx="812800" cy="812800"/>
          </a:xfrm>
        </p:grpSpPr>
        <p:sp>
          <p:nvSpPr>
            <p:cNvPr id="38" name="Freeform 23">
              <a:extLst>
                <a:ext uri="{FF2B5EF4-FFF2-40B4-BE49-F238E27FC236}">
                  <a16:creationId xmlns:a16="http://schemas.microsoft.com/office/drawing/2014/main" id="{CDEDC710-37E9-F35E-28B4-87A9DF3A6D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39" name="TextBox 24">
              <a:extLst>
                <a:ext uri="{FF2B5EF4-FFF2-40B4-BE49-F238E27FC236}">
                  <a16:creationId xmlns:a16="http://schemas.microsoft.com/office/drawing/2014/main" id="{FBBB5A8F-1E93-934C-58A1-A450447BD7E8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0" name="Group 25">
            <a:extLst>
              <a:ext uri="{FF2B5EF4-FFF2-40B4-BE49-F238E27FC236}">
                <a16:creationId xmlns:a16="http://schemas.microsoft.com/office/drawing/2014/main" id="{295B1150-6174-2CD3-EB28-6EAB8327D759}"/>
              </a:ext>
            </a:extLst>
          </p:cNvPr>
          <p:cNvGrpSpPr/>
          <p:nvPr/>
        </p:nvGrpSpPr>
        <p:grpSpPr>
          <a:xfrm rot="-5400000">
            <a:off x="14171894" y="7850375"/>
            <a:ext cx="929190" cy="929190"/>
            <a:chOff x="0" y="0"/>
            <a:chExt cx="812800" cy="812800"/>
          </a:xfrm>
        </p:grpSpPr>
        <p:sp>
          <p:nvSpPr>
            <p:cNvPr id="41" name="Freeform 26">
              <a:extLst>
                <a:ext uri="{FF2B5EF4-FFF2-40B4-BE49-F238E27FC236}">
                  <a16:creationId xmlns:a16="http://schemas.microsoft.com/office/drawing/2014/main" id="{3C26B151-B119-2C02-8966-63BCC256B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42" name="TextBox 27">
              <a:extLst>
                <a:ext uri="{FF2B5EF4-FFF2-40B4-BE49-F238E27FC236}">
                  <a16:creationId xmlns:a16="http://schemas.microsoft.com/office/drawing/2014/main" id="{9CBCB8F9-2A38-F123-07AB-AB6CA5AC228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3" name="TextBox 28">
            <a:extLst>
              <a:ext uri="{FF2B5EF4-FFF2-40B4-BE49-F238E27FC236}">
                <a16:creationId xmlns:a16="http://schemas.microsoft.com/office/drawing/2014/main" id="{1186B226-E688-4EBF-6369-E115C9DD9A60}"/>
              </a:ext>
            </a:extLst>
          </p:cNvPr>
          <p:cNvSpPr txBox="1"/>
          <p:nvPr/>
        </p:nvSpPr>
        <p:spPr>
          <a:xfrm>
            <a:off x="1684213" y="5044386"/>
            <a:ext cx="267820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b="1" dirty="0">
                <a:solidFill>
                  <a:schemeClr val="tx2"/>
                </a:solidFill>
                <a:sym typeface="Montserrat"/>
              </a:rPr>
              <a:t>PixelShuffle Reconstruction </a:t>
            </a:r>
          </a:p>
        </p:txBody>
      </p:sp>
      <p:sp>
        <p:nvSpPr>
          <p:cNvPr id="44" name="TextBox 29">
            <a:extLst>
              <a:ext uri="{FF2B5EF4-FFF2-40B4-BE49-F238E27FC236}">
                <a16:creationId xmlns:a16="http://schemas.microsoft.com/office/drawing/2014/main" id="{61D1BC1A-578A-3534-51FE-6A59AEBD1D7F}"/>
              </a:ext>
            </a:extLst>
          </p:cNvPr>
          <p:cNvSpPr txBox="1"/>
          <p:nvPr/>
        </p:nvSpPr>
        <p:spPr>
          <a:xfrm>
            <a:off x="5553877" y="4769274"/>
            <a:ext cx="2678203" cy="57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0" algn="ctr">
              <a:lnSpc>
                <a:spcPts val="2250"/>
              </a:lnSpc>
              <a:buNone/>
            </a:pPr>
            <a:r>
              <a:rPr lang="en-US" b="1" dirty="0">
                <a:solidFill>
                  <a:srgbClr val="00B0F0"/>
                </a:solidFill>
              </a:rPr>
              <a:t>IFEB Blocks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B0F0"/>
                </a:solidFill>
              </a:rPr>
              <a:t>(IGRA + ARM)</a:t>
            </a:r>
          </a:p>
        </p:txBody>
      </p:sp>
      <p:sp>
        <p:nvSpPr>
          <p:cNvPr id="45" name="TextBox 30">
            <a:extLst>
              <a:ext uri="{FF2B5EF4-FFF2-40B4-BE49-F238E27FC236}">
                <a16:creationId xmlns:a16="http://schemas.microsoft.com/office/drawing/2014/main" id="{81AC75C2-5A97-7049-64CA-F6517327A458}"/>
              </a:ext>
            </a:extLst>
          </p:cNvPr>
          <p:cNvSpPr txBox="1"/>
          <p:nvPr/>
        </p:nvSpPr>
        <p:spPr>
          <a:xfrm>
            <a:off x="1480298" y="4108850"/>
            <a:ext cx="2678204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R="0" lvl="0" indent="0" algn="ctr" rtl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FFFFFF"/>
                </a:solidFill>
                <a:cs typeface="B Titr" panose="00000700000000000000" pitchFamily="2" charset="-78"/>
              </a:rPr>
              <a:t>بازسازی تصویر</a:t>
            </a:r>
          </a:p>
        </p:txBody>
      </p:sp>
      <p:sp>
        <p:nvSpPr>
          <p:cNvPr id="46" name="TextBox 31">
            <a:extLst>
              <a:ext uri="{FF2B5EF4-FFF2-40B4-BE49-F238E27FC236}">
                <a16:creationId xmlns:a16="http://schemas.microsoft.com/office/drawing/2014/main" id="{1EB57AAD-C83A-761A-87B4-3C40212C45B8}"/>
              </a:ext>
            </a:extLst>
          </p:cNvPr>
          <p:cNvSpPr txBox="1"/>
          <p:nvPr/>
        </p:nvSpPr>
        <p:spPr>
          <a:xfrm>
            <a:off x="5321560" y="4108850"/>
            <a:ext cx="3142839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R="0" lvl="0" indent="0" algn="ctr" rtl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66FCF1"/>
                </a:solidFill>
                <a:latin typeface="Noto Sans Arabic"/>
                <a:cs typeface="B Titr" panose="00000700000000000000" pitchFamily="2" charset="-78"/>
              </a:rPr>
              <a:t>تقویت ویژگی</a:t>
            </a:r>
          </a:p>
        </p:txBody>
      </p:sp>
      <p:sp>
        <p:nvSpPr>
          <p:cNvPr id="47" name="TextBox 32">
            <a:extLst>
              <a:ext uri="{FF2B5EF4-FFF2-40B4-BE49-F238E27FC236}">
                <a16:creationId xmlns:a16="http://schemas.microsoft.com/office/drawing/2014/main" id="{A02E6146-2BB3-73E5-14FF-06D9350F1189}"/>
              </a:ext>
            </a:extLst>
          </p:cNvPr>
          <p:cNvSpPr txBox="1"/>
          <p:nvPr/>
        </p:nvSpPr>
        <p:spPr>
          <a:xfrm>
            <a:off x="9244119" y="4908938"/>
            <a:ext cx="3028544" cy="281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 b="1" dirty="0">
                <a:solidFill>
                  <a:schemeClr val="tx2"/>
                </a:solidFill>
              </a:rPr>
              <a:t>Information Density Estimator</a:t>
            </a:r>
            <a:endParaRPr lang="en-US" sz="1800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TextBox 33">
            <a:extLst>
              <a:ext uri="{FF2B5EF4-FFF2-40B4-BE49-F238E27FC236}">
                <a16:creationId xmlns:a16="http://schemas.microsoft.com/office/drawing/2014/main" id="{1FF903FD-6A64-40D8-637C-FC5297E6F812}"/>
              </a:ext>
            </a:extLst>
          </p:cNvPr>
          <p:cNvSpPr txBox="1"/>
          <p:nvPr/>
        </p:nvSpPr>
        <p:spPr>
          <a:xfrm>
            <a:off x="9399743" y="4108850"/>
            <a:ext cx="2697315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defRPr/>
            </a:pPr>
            <a:r>
              <a:rPr lang="en-US" sz="2800" b="1" dirty="0">
                <a:solidFill>
                  <a:srgbClr val="FFFFFF"/>
                </a:solidFill>
                <a:cs typeface="B Titr" panose="00000700000000000000" pitchFamily="2" charset="-78"/>
              </a:rPr>
              <a:t>تخمین</a:t>
            </a:r>
            <a:r>
              <a:rPr lang="fa-IR" sz="2800" dirty="0">
                <a:solidFill>
                  <a:prstClr val="black"/>
                </a:solidFill>
                <a:cs typeface="B Titr" panose="00000700000000000000" pitchFamily="2" charset="-78"/>
              </a:rPr>
              <a:t> </a:t>
            </a:r>
            <a:r>
              <a:rPr lang="fa-IR" sz="2800" b="1" dirty="0">
                <a:solidFill>
                  <a:srgbClr val="FFFFFF"/>
                </a:solidFill>
                <a:latin typeface="Calibri" panose="020F0502020204030204"/>
                <a:cs typeface="B Titr" panose="00000700000000000000" pitchFamily="2" charset="-78"/>
              </a:rPr>
              <a:t>چگ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B Titr" panose="00000700000000000000" pitchFamily="2" charset="-78"/>
              </a:rPr>
              <a:t>الی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B Titr" panose="00000700000000000000" pitchFamily="2" charset="-78"/>
            </a:endParaRPr>
          </a:p>
        </p:txBody>
      </p:sp>
      <p:sp>
        <p:nvSpPr>
          <p:cNvPr id="49" name="TextBox 34">
            <a:extLst>
              <a:ext uri="{FF2B5EF4-FFF2-40B4-BE49-F238E27FC236}">
                <a16:creationId xmlns:a16="http://schemas.microsoft.com/office/drawing/2014/main" id="{3CDFBCB2-790D-BD7B-9DDC-3261C792E822}"/>
              </a:ext>
            </a:extLst>
          </p:cNvPr>
          <p:cNvSpPr txBox="1"/>
          <p:nvPr/>
        </p:nvSpPr>
        <p:spPr>
          <a:xfrm>
            <a:off x="13293211" y="4908851"/>
            <a:ext cx="2678203" cy="281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 b="1" dirty="0">
                <a:solidFill>
                  <a:srgbClr val="00B0F0"/>
                </a:solidFill>
              </a:rPr>
              <a:t>Shallow Feature Extractor</a:t>
            </a:r>
            <a:endParaRPr lang="en-US" sz="1800" dirty="0">
              <a:solidFill>
                <a:schemeClr val="bg1">
                  <a:lumMod val="95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" name="TextBox 39">
            <a:extLst>
              <a:ext uri="{FF2B5EF4-FFF2-40B4-BE49-F238E27FC236}">
                <a16:creationId xmlns:a16="http://schemas.microsoft.com/office/drawing/2014/main" id="{09900973-F4B9-027D-C7E1-56171A37FBEB}"/>
              </a:ext>
            </a:extLst>
          </p:cNvPr>
          <p:cNvSpPr txBox="1"/>
          <p:nvPr/>
        </p:nvSpPr>
        <p:spPr>
          <a:xfrm>
            <a:off x="14401800" y="8007574"/>
            <a:ext cx="428817" cy="515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3172" b="1" dirty="0">
                <a:solidFill>
                  <a:srgbClr val="22C4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52" name="TextBox 40">
            <a:extLst>
              <a:ext uri="{FF2B5EF4-FFF2-40B4-BE49-F238E27FC236}">
                <a16:creationId xmlns:a16="http://schemas.microsoft.com/office/drawing/2014/main" id="{3EA50715-F8D7-834F-81F8-6EA2FE61B9F0}"/>
              </a:ext>
            </a:extLst>
          </p:cNvPr>
          <p:cNvSpPr txBox="1"/>
          <p:nvPr/>
        </p:nvSpPr>
        <p:spPr>
          <a:xfrm>
            <a:off x="10543983" y="8007574"/>
            <a:ext cx="428817" cy="515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3172" b="1" dirty="0"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53" name="TextBox 41">
            <a:extLst>
              <a:ext uri="{FF2B5EF4-FFF2-40B4-BE49-F238E27FC236}">
                <a16:creationId xmlns:a16="http://schemas.microsoft.com/office/drawing/2014/main" id="{E0FE7CA8-6682-833C-25BA-792F9C88830F}"/>
              </a:ext>
            </a:extLst>
          </p:cNvPr>
          <p:cNvSpPr txBox="1"/>
          <p:nvPr/>
        </p:nvSpPr>
        <p:spPr>
          <a:xfrm>
            <a:off x="6657783" y="8007574"/>
            <a:ext cx="428817" cy="515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3172" b="1" dirty="0">
                <a:solidFill>
                  <a:srgbClr val="22C4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54" name="TextBox 42">
            <a:extLst>
              <a:ext uri="{FF2B5EF4-FFF2-40B4-BE49-F238E27FC236}">
                <a16:creationId xmlns:a16="http://schemas.microsoft.com/office/drawing/2014/main" id="{20E5A6EA-F46E-EC80-0B7A-79117946BB3F}"/>
              </a:ext>
            </a:extLst>
          </p:cNvPr>
          <p:cNvSpPr txBox="1"/>
          <p:nvPr/>
        </p:nvSpPr>
        <p:spPr>
          <a:xfrm>
            <a:off x="2819400" y="8007574"/>
            <a:ext cx="428817" cy="515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3172" b="1" dirty="0"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id="55" name="TextBox 34">
            <a:extLst>
              <a:ext uri="{FF2B5EF4-FFF2-40B4-BE49-F238E27FC236}">
                <a16:creationId xmlns:a16="http://schemas.microsoft.com/office/drawing/2014/main" id="{AE8DC994-3287-63E2-9563-B1FA1D4E5B28}"/>
              </a:ext>
            </a:extLst>
          </p:cNvPr>
          <p:cNvSpPr txBox="1"/>
          <p:nvPr/>
        </p:nvSpPr>
        <p:spPr>
          <a:xfrm>
            <a:off x="13106401" y="5757808"/>
            <a:ext cx="3069642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defRPr/>
            </a:pPr>
            <a:r>
              <a:rPr kumimoji="0" lang="fa-IR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B Nazanin" panose="00000400000000000000" pitchFamily="2" charset="-78"/>
              </a:rPr>
              <a:t>تبدیل ۳ کانال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B Nazanin" panose="00000400000000000000" pitchFamily="2" charset="-78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B Nazanin" panose="00000400000000000000" pitchFamily="2" charset="-78"/>
              </a:rPr>
              <a:t>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B Nazanin" panose="00000400000000000000" pitchFamily="2" charset="-78"/>
              </a:rPr>
              <a:t>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B Nazanin" panose="00000400000000000000" pitchFamily="2" charset="-78"/>
              </a:rPr>
              <a:t>B</a:t>
            </a:r>
            <a:r>
              <a:rPr kumimoji="0" lang="fa-IR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B Nazanin" panose="00000400000000000000" pitchFamily="2" charset="-78"/>
                <a:sym typeface="Wingdings" panose="05000000000000000000" pitchFamily="2" charset="2"/>
              </a:rPr>
              <a:t> </a:t>
            </a:r>
            <a:r>
              <a:rPr kumimoji="0" lang="fa-IR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B Nazanin" panose="00000400000000000000" pitchFamily="2" charset="-78"/>
              </a:rPr>
              <a:t>۲۴ کانال ویژگی</a:t>
            </a:r>
          </a:p>
        </p:txBody>
      </p:sp>
      <p:sp>
        <p:nvSpPr>
          <p:cNvPr id="56" name="TextBox 34">
            <a:extLst>
              <a:ext uri="{FF2B5EF4-FFF2-40B4-BE49-F238E27FC236}">
                <a16:creationId xmlns:a16="http://schemas.microsoft.com/office/drawing/2014/main" id="{EF158600-FDC5-8418-294D-E5E3EBB181AA}"/>
              </a:ext>
            </a:extLst>
          </p:cNvPr>
          <p:cNvSpPr txBox="1"/>
          <p:nvPr/>
        </p:nvSpPr>
        <p:spPr>
          <a:xfrm>
            <a:off x="13293211" y="4108851"/>
            <a:ext cx="2678203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defRPr/>
            </a:pPr>
            <a:r>
              <a:rPr lang="fa-IR" sz="2800" b="1" dirty="0">
                <a:solidFill>
                  <a:srgbClr val="66FCF1"/>
                </a:solidFill>
                <a:latin typeface="Noto Sans Arabic"/>
                <a:cs typeface="B Titr" panose="00000700000000000000" pitchFamily="2" charset="-78"/>
              </a:rPr>
              <a:t>استخراج ویژگی</a:t>
            </a:r>
          </a:p>
        </p:txBody>
      </p:sp>
      <p:sp>
        <p:nvSpPr>
          <p:cNvPr id="57" name="TextBox 34">
            <a:extLst>
              <a:ext uri="{FF2B5EF4-FFF2-40B4-BE49-F238E27FC236}">
                <a16:creationId xmlns:a16="http://schemas.microsoft.com/office/drawing/2014/main" id="{849A58E5-AFCB-464B-0D50-B4E616840DF1}"/>
              </a:ext>
            </a:extLst>
          </p:cNvPr>
          <p:cNvSpPr txBox="1"/>
          <p:nvPr/>
        </p:nvSpPr>
        <p:spPr>
          <a:xfrm>
            <a:off x="9223570" y="5559434"/>
            <a:ext cx="3069642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defRPr/>
            </a:pPr>
            <a:r>
              <a:rPr kumimoji="0" lang="fa-IR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cs typeface="B Nazanin" panose="00000400000000000000" pitchFamily="2" charset="-78"/>
              </a:rPr>
              <a:t>تخمین نقشه چگالی اطلاعات (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cs typeface="B Nazanin" panose="00000400000000000000" pitchFamily="2" charset="-78"/>
              </a:rPr>
              <a:t>IDM</a:t>
            </a:r>
            <a:r>
              <a:rPr kumimoji="0" lang="fa-IR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cs typeface="B Nazanin" panose="00000400000000000000" pitchFamily="2" charset="-78"/>
              </a:rPr>
              <a:t>).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cs typeface="B Nazanin" panose="00000400000000000000" pitchFamily="2" charset="-78"/>
            </a:endParaRPr>
          </a:p>
          <a:p>
            <a:pPr algn="ctr" rtl="1">
              <a:defRPr/>
            </a:pPr>
            <a:r>
              <a:rPr kumimoji="0" lang="fa-IR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cs typeface="B Nazanin" panose="00000400000000000000" pitchFamily="2" charset="-78"/>
              </a:rPr>
              <a:t>هر پیکسل: چقدر اطلاعات دارد؟</a:t>
            </a:r>
          </a:p>
        </p:txBody>
      </p:sp>
      <p:sp>
        <p:nvSpPr>
          <p:cNvPr id="58" name="TextBox 34">
            <a:extLst>
              <a:ext uri="{FF2B5EF4-FFF2-40B4-BE49-F238E27FC236}">
                <a16:creationId xmlns:a16="http://schemas.microsoft.com/office/drawing/2014/main" id="{24894119-4FC3-C154-0744-C82ADBEFD66F}"/>
              </a:ext>
            </a:extLst>
          </p:cNvPr>
          <p:cNvSpPr txBox="1"/>
          <p:nvPr/>
        </p:nvSpPr>
        <p:spPr>
          <a:xfrm>
            <a:off x="5358157" y="5677939"/>
            <a:ext cx="3069642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B Nazanin" panose="00000400000000000000" pitchFamily="2" charset="-78"/>
              </a:rPr>
              <a:t>(IGRA)</a:t>
            </a:r>
            <a:r>
              <a:rPr kumimoji="0" lang="fa-I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B Nazanin" panose="00000400000000000000" pitchFamily="2" charset="-78"/>
              </a:rPr>
              <a:t> </a:t>
            </a:r>
            <a:r>
              <a:rPr kumimoji="0" lang="fa-IR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B Nazanin" panose="00000400000000000000" pitchFamily="2" charset="-78"/>
              </a:rPr>
              <a:t>شاخه سخت: فقط نواحی مهم.   </a:t>
            </a:r>
          </a:p>
          <a:p>
            <a:pPr algn="ctr" rtl="1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B Nazanin" panose="00000400000000000000" pitchFamily="2" charset="-78"/>
              </a:rPr>
              <a:t> (ARM)</a:t>
            </a:r>
            <a:r>
              <a:rPr kumimoji="0" lang="fa-IR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B Nazanin" panose="00000400000000000000" pitchFamily="2" charset="-78"/>
              </a:rPr>
              <a:t>شاخه نرم: تقویت تطبیقی.</a:t>
            </a:r>
          </a:p>
        </p:txBody>
      </p:sp>
      <p:sp>
        <p:nvSpPr>
          <p:cNvPr id="59" name="TextBox 34">
            <a:extLst>
              <a:ext uri="{FF2B5EF4-FFF2-40B4-BE49-F238E27FC236}">
                <a16:creationId xmlns:a16="http://schemas.microsoft.com/office/drawing/2014/main" id="{E7E49570-598E-E675-2A7C-ECFAF0DA9665}"/>
              </a:ext>
            </a:extLst>
          </p:cNvPr>
          <p:cNvSpPr txBox="1"/>
          <p:nvPr/>
        </p:nvSpPr>
        <p:spPr>
          <a:xfrm>
            <a:off x="1472160" y="5562462"/>
            <a:ext cx="3069642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defRPr/>
            </a:pPr>
            <a:r>
              <a:rPr kumimoji="0" lang="fa-IR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cs typeface="B Nazanin" panose="00000400000000000000" pitchFamily="2" charset="-78"/>
              </a:rPr>
              <a:t>تخمین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006587-01CB-41EB-FC53-D569FE1467FD}"/>
              </a:ext>
            </a:extLst>
          </p:cNvPr>
          <p:cNvSpPr txBox="1"/>
          <p:nvPr/>
        </p:nvSpPr>
        <p:spPr>
          <a:xfrm>
            <a:off x="14325600" y="327297"/>
            <a:ext cx="28194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ptos" panose="02110004020202020204"/>
                <a:cs typeface="B Titr" panose="00000700000000000000" pitchFamily="2" charset="-78"/>
              </a:rPr>
              <a:t>Efficient S</a:t>
            </a:r>
            <a:r>
              <a:rPr lang="en-US" sz="1600" b="1" dirty="0">
                <a:solidFill>
                  <a:srgbClr val="22C4C9"/>
                </a:solidFill>
                <a:latin typeface=" "/>
                <a:cs typeface="B Titr" panose="00000700000000000000" pitchFamily="2" charset="-78"/>
              </a:rPr>
              <a:t>uper-Resolution</a:t>
            </a:r>
            <a:endParaRPr lang="fa-IR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83132B-D2FB-1AF3-93BD-BA341C0DCEB3}"/>
              </a:ext>
            </a:extLst>
          </p:cNvPr>
          <p:cNvSpPr txBox="1"/>
          <p:nvPr/>
        </p:nvSpPr>
        <p:spPr>
          <a:xfrm>
            <a:off x="1295400" y="395198"/>
            <a:ext cx="15240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b="1" dirty="0" err="1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IAFMNet</a:t>
            </a:r>
            <a:endParaRPr lang="fa-IR" b="1" dirty="0">
              <a:solidFill>
                <a:srgbClr val="22C4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097863-BECE-CB8C-2D8B-40233803EA1E}"/>
              </a:ext>
            </a:extLst>
          </p:cNvPr>
          <p:cNvSpPr txBox="1"/>
          <p:nvPr/>
        </p:nvSpPr>
        <p:spPr>
          <a:xfrm>
            <a:off x="1257300" y="9693409"/>
            <a:ext cx="14820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Xu, J., Liu, M., Wang, Z., Wu, F., Wu, S., Huang, T., &amp; Dong, W. (2026). </a:t>
            </a:r>
            <a:r>
              <a:rPr lang="en-US" sz="12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IAFMNet</a:t>
            </a:r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Information-Aware Feature Modulation for Efficient Super-Resolution. In Proceedings of the IEEE/CVF Conference on Computer Vision and Pattern Recognition (pp. 30564-30573).</a:t>
            </a:r>
            <a:endParaRPr lang="fa-IR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598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C5BC237-F8A7-AEB7-FF85-978B7ADD0F67}"/>
              </a:ext>
            </a:extLst>
          </p:cNvPr>
          <p:cNvSpPr txBox="1"/>
          <p:nvPr/>
        </p:nvSpPr>
        <p:spPr>
          <a:xfrm>
            <a:off x="8839201" y="1977517"/>
            <a:ext cx="782402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/>
            </a:pPr>
            <a:r>
              <a:rPr lang="fa-IR" sz="2800" b="1" dirty="0">
                <a:solidFill>
                  <a:srgbClr val="FFFFFF"/>
                </a:solidFill>
                <a:latin typeface="Calibri"/>
                <a:cs typeface="B Titr" panose="00000700000000000000" pitchFamily="2" charset="-78"/>
              </a:rPr>
              <a:t>استخراج ویژگی : </a:t>
            </a:r>
            <a:r>
              <a:rPr lang="en-US" sz="3200" b="1" u="sng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B Titr" panose="00000700000000000000" pitchFamily="2" charset="-78"/>
              </a:rPr>
              <a:t>Shallow Feature Extractor</a:t>
            </a:r>
            <a:endParaRPr lang="en-US" sz="3200" b="1" u="sng" dirty="0">
              <a:solidFill>
                <a:srgbClr val="00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cs typeface="B Titr" panose="00000700000000000000" pitchFamily="2" charset="-78"/>
              <a:sym typeface="Montserra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F2C81F-8631-417E-61E5-445382EAD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9"/>
          <a:stretch/>
        </p:blipFill>
        <p:spPr>
          <a:xfrm>
            <a:off x="17221200" y="0"/>
            <a:ext cx="1066800" cy="128396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A4C5EA-E404-83E0-9783-BA41CDA0C8AF}"/>
              </a:ext>
            </a:extLst>
          </p:cNvPr>
          <p:cNvCxnSpPr/>
          <p:nvPr/>
        </p:nvCxnSpPr>
        <p:spPr>
          <a:xfrm>
            <a:off x="1295400" y="800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62688F-9798-1FED-9114-2F5DBAA53FF2}"/>
              </a:ext>
            </a:extLst>
          </p:cNvPr>
          <p:cNvCxnSpPr/>
          <p:nvPr/>
        </p:nvCxnSpPr>
        <p:spPr>
          <a:xfrm>
            <a:off x="1257300" y="9563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90EAC38-9849-53F6-E5E7-A0A1D1D89E46}"/>
              </a:ext>
            </a:extLst>
          </p:cNvPr>
          <p:cNvSpPr txBox="1"/>
          <p:nvPr/>
        </p:nvSpPr>
        <p:spPr>
          <a:xfrm>
            <a:off x="16635608" y="9639300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06</a:t>
            </a:r>
            <a:endParaRPr lang="fa-I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1614AD-3114-8BAB-732F-74506316F444}"/>
              </a:ext>
            </a:extLst>
          </p:cNvPr>
          <p:cNvSpPr txBox="1"/>
          <p:nvPr/>
        </p:nvSpPr>
        <p:spPr>
          <a:xfrm>
            <a:off x="16176042" y="9648785"/>
            <a:ext cx="585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/ 19</a:t>
            </a:r>
            <a:endParaRPr lang="fa-I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EA7B67-6120-02DE-0996-10DF008E4FEC}"/>
              </a:ext>
            </a:extLst>
          </p:cNvPr>
          <p:cNvSpPr txBox="1"/>
          <p:nvPr/>
        </p:nvSpPr>
        <p:spPr>
          <a:xfrm>
            <a:off x="14325600" y="327297"/>
            <a:ext cx="28194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ptos" panose="02110004020202020204"/>
                <a:cs typeface="B Titr" panose="00000700000000000000" pitchFamily="2" charset="-78"/>
              </a:rPr>
              <a:t>Efficient S</a:t>
            </a:r>
            <a:r>
              <a:rPr lang="en-US" sz="1600" b="1" dirty="0">
                <a:solidFill>
                  <a:srgbClr val="22C4C9"/>
                </a:solidFill>
                <a:latin typeface=" "/>
                <a:cs typeface="B Titr" panose="00000700000000000000" pitchFamily="2" charset="-78"/>
              </a:rPr>
              <a:t>uper-Resolution</a:t>
            </a:r>
            <a:endParaRPr lang="fa-IR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0" name="AutoShape 15">
            <a:extLst>
              <a:ext uri="{FF2B5EF4-FFF2-40B4-BE49-F238E27FC236}">
                <a16:creationId xmlns:a16="http://schemas.microsoft.com/office/drawing/2014/main" id="{72CE8E6A-E609-20F2-D897-FAE7DD3A9D7C}"/>
              </a:ext>
            </a:extLst>
          </p:cNvPr>
          <p:cNvSpPr/>
          <p:nvPr/>
        </p:nvSpPr>
        <p:spPr>
          <a:xfrm>
            <a:off x="3251916" y="9122626"/>
            <a:ext cx="11530884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grpSp>
        <p:nvGrpSpPr>
          <p:cNvPr id="31" name="Group 16">
            <a:extLst>
              <a:ext uri="{FF2B5EF4-FFF2-40B4-BE49-F238E27FC236}">
                <a16:creationId xmlns:a16="http://schemas.microsoft.com/office/drawing/2014/main" id="{4D353A01-DD95-A1F5-9298-840F34027C7C}"/>
              </a:ext>
            </a:extLst>
          </p:cNvPr>
          <p:cNvGrpSpPr/>
          <p:nvPr/>
        </p:nvGrpSpPr>
        <p:grpSpPr>
          <a:xfrm rot="-5400000">
            <a:off x="2797195" y="8804860"/>
            <a:ext cx="667355" cy="687106"/>
            <a:chOff x="0" y="0"/>
            <a:chExt cx="812800" cy="812800"/>
          </a:xfrm>
        </p:grpSpPr>
        <p:sp>
          <p:nvSpPr>
            <p:cNvPr id="32" name="Freeform 17">
              <a:extLst>
                <a:ext uri="{FF2B5EF4-FFF2-40B4-BE49-F238E27FC236}">
                  <a16:creationId xmlns:a16="http://schemas.microsoft.com/office/drawing/2014/main" id="{2BAAC135-57AA-4935-DC16-0FAE3515E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33" name="TextBox 18">
              <a:extLst>
                <a:ext uri="{FF2B5EF4-FFF2-40B4-BE49-F238E27FC236}">
                  <a16:creationId xmlns:a16="http://schemas.microsoft.com/office/drawing/2014/main" id="{A61D5DBA-A4D9-070D-5C78-C4AC1D59EED8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19">
            <a:extLst>
              <a:ext uri="{FF2B5EF4-FFF2-40B4-BE49-F238E27FC236}">
                <a16:creationId xmlns:a16="http://schemas.microsoft.com/office/drawing/2014/main" id="{D3D3E890-2097-56CE-0253-5BDC51733EB2}"/>
              </a:ext>
            </a:extLst>
          </p:cNvPr>
          <p:cNvGrpSpPr/>
          <p:nvPr/>
        </p:nvGrpSpPr>
        <p:grpSpPr>
          <a:xfrm rot="-5400000">
            <a:off x="6666861" y="8804860"/>
            <a:ext cx="667355" cy="687106"/>
            <a:chOff x="0" y="0"/>
            <a:chExt cx="812800" cy="812800"/>
          </a:xfrm>
        </p:grpSpPr>
        <p:sp>
          <p:nvSpPr>
            <p:cNvPr id="35" name="Freeform 20">
              <a:extLst>
                <a:ext uri="{FF2B5EF4-FFF2-40B4-BE49-F238E27FC236}">
                  <a16:creationId xmlns:a16="http://schemas.microsoft.com/office/drawing/2014/main" id="{D89EC2F7-127E-D9FE-5E15-C5F227297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36" name="TextBox 21">
              <a:extLst>
                <a:ext uri="{FF2B5EF4-FFF2-40B4-BE49-F238E27FC236}">
                  <a16:creationId xmlns:a16="http://schemas.microsoft.com/office/drawing/2014/main" id="{28A39FAC-83F9-42E0-AF9B-B31CBDBCB9E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7" name="Group 22">
            <a:extLst>
              <a:ext uri="{FF2B5EF4-FFF2-40B4-BE49-F238E27FC236}">
                <a16:creationId xmlns:a16="http://schemas.microsoft.com/office/drawing/2014/main" id="{C27EF487-466A-E625-139F-537B407D8B95}"/>
              </a:ext>
            </a:extLst>
          </p:cNvPr>
          <p:cNvGrpSpPr/>
          <p:nvPr/>
        </p:nvGrpSpPr>
        <p:grpSpPr>
          <a:xfrm rot="-5400000">
            <a:off x="10538615" y="8804860"/>
            <a:ext cx="667355" cy="687106"/>
            <a:chOff x="0" y="0"/>
            <a:chExt cx="812800" cy="812800"/>
          </a:xfrm>
        </p:grpSpPr>
        <p:sp>
          <p:nvSpPr>
            <p:cNvPr id="38" name="Freeform 23">
              <a:extLst>
                <a:ext uri="{FF2B5EF4-FFF2-40B4-BE49-F238E27FC236}">
                  <a16:creationId xmlns:a16="http://schemas.microsoft.com/office/drawing/2014/main" id="{CDEDC710-37E9-F35E-28B4-87A9DF3A6D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39" name="TextBox 24">
              <a:extLst>
                <a:ext uri="{FF2B5EF4-FFF2-40B4-BE49-F238E27FC236}">
                  <a16:creationId xmlns:a16="http://schemas.microsoft.com/office/drawing/2014/main" id="{FBBB5A8F-1E93-934C-58A1-A450447BD7E8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0" name="Group 25">
            <a:extLst>
              <a:ext uri="{FF2B5EF4-FFF2-40B4-BE49-F238E27FC236}">
                <a16:creationId xmlns:a16="http://schemas.microsoft.com/office/drawing/2014/main" id="{295B1150-6174-2CD3-EB28-6EAB8327D759}"/>
              </a:ext>
            </a:extLst>
          </p:cNvPr>
          <p:cNvGrpSpPr/>
          <p:nvPr/>
        </p:nvGrpSpPr>
        <p:grpSpPr>
          <a:xfrm rot="-5400000">
            <a:off x="14410369" y="8804860"/>
            <a:ext cx="667355" cy="687106"/>
            <a:chOff x="0" y="0"/>
            <a:chExt cx="812800" cy="812800"/>
          </a:xfrm>
        </p:grpSpPr>
        <p:sp>
          <p:nvSpPr>
            <p:cNvPr id="41" name="Freeform 26">
              <a:extLst>
                <a:ext uri="{FF2B5EF4-FFF2-40B4-BE49-F238E27FC236}">
                  <a16:creationId xmlns:a16="http://schemas.microsoft.com/office/drawing/2014/main" id="{3C26B151-B119-2C02-8966-63BCC256B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</p:sp>
        <p:sp>
          <p:nvSpPr>
            <p:cNvPr id="42" name="TextBox 27">
              <a:extLst>
                <a:ext uri="{FF2B5EF4-FFF2-40B4-BE49-F238E27FC236}">
                  <a16:creationId xmlns:a16="http://schemas.microsoft.com/office/drawing/2014/main" id="{9CBCB8F9-2A38-F123-07AB-AB6CA5AC228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1" name="TextBox 39">
            <a:extLst>
              <a:ext uri="{FF2B5EF4-FFF2-40B4-BE49-F238E27FC236}">
                <a16:creationId xmlns:a16="http://schemas.microsoft.com/office/drawing/2014/main" id="{09900973-F4B9-027D-C7E1-56171A37FBEB}"/>
              </a:ext>
            </a:extLst>
          </p:cNvPr>
          <p:cNvSpPr txBox="1"/>
          <p:nvPr/>
        </p:nvSpPr>
        <p:spPr>
          <a:xfrm>
            <a:off x="14579748" y="8814734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solidFill>
                  <a:srgbClr val="22C4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52" name="TextBox 40">
            <a:extLst>
              <a:ext uri="{FF2B5EF4-FFF2-40B4-BE49-F238E27FC236}">
                <a16:creationId xmlns:a16="http://schemas.microsoft.com/office/drawing/2014/main" id="{3EA50715-F8D7-834F-81F8-6EA2FE61B9F0}"/>
              </a:ext>
            </a:extLst>
          </p:cNvPr>
          <p:cNvSpPr txBox="1"/>
          <p:nvPr/>
        </p:nvSpPr>
        <p:spPr>
          <a:xfrm>
            <a:off x="10701666" y="8801100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53" name="TextBox 41">
            <a:extLst>
              <a:ext uri="{FF2B5EF4-FFF2-40B4-BE49-F238E27FC236}">
                <a16:creationId xmlns:a16="http://schemas.microsoft.com/office/drawing/2014/main" id="{E0FE7CA8-6682-833C-25BA-792F9C88830F}"/>
              </a:ext>
            </a:extLst>
          </p:cNvPr>
          <p:cNvSpPr txBox="1"/>
          <p:nvPr/>
        </p:nvSpPr>
        <p:spPr>
          <a:xfrm>
            <a:off x="6842227" y="8824363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solidFill>
                  <a:srgbClr val="22C4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54" name="TextBox 42">
            <a:extLst>
              <a:ext uri="{FF2B5EF4-FFF2-40B4-BE49-F238E27FC236}">
                <a16:creationId xmlns:a16="http://schemas.microsoft.com/office/drawing/2014/main" id="{20E5A6EA-F46E-EC80-0B7A-79117946BB3F}"/>
              </a:ext>
            </a:extLst>
          </p:cNvPr>
          <p:cNvSpPr txBox="1"/>
          <p:nvPr/>
        </p:nvSpPr>
        <p:spPr>
          <a:xfrm>
            <a:off x="2941764" y="8828146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  <a:endParaRPr lang="en-US" sz="3172" b="1" dirty="0"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B5626135-762A-6BDA-02C7-A87460D4582D}"/>
              </a:ext>
            </a:extLst>
          </p:cNvPr>
          <p:cNvSpPr txBox="1"/>
          <p:nvPr/>
        </p:nvSpPr>
        <p:spPr>
          <a:xfrm>
            <a:off x="4876800" y="3371226"/>
            <a:ext cx="10820400" cy="4591674"/>
          </a:xfrm>
          <a:prstGeom prst="rect">
            <a:avLst/>
          </a:prstGeom>
          <a:gradFill rotWithShape="1">
            <a:gsLst>
              <a:gs pos="0">
                <a:srgbClr val="0C4A5B">
                  <a:alpha val="100000"/>
                </a:srgbClr>
              </a:gs>
              <a:gs pos="100000">
                <a:srgbClr val="27DDDF">
                  <a:alpha val="100000"/>
                </a:srgbClr>
              </a:gs>
            </a:gsLst>
            <a:lin ang="2700000"/>
          </a:gradFill>
        </p:spPr>
        <p:txBody>
          <a:bodyPr/>
          <a:lstStyle>
            <a:defPPr>
              <a:defRPr lang="en-US"/>
            </a:defPPr>
          </a:lstStyle>
          <a:p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46993F-D768-7590-97C8-C14967B48E5B}"/>
              </a:ext>
            </a:extLst>
          </p:cNvPr>
          <p:cNvSpPr txBox="1"/>
          <p:nvPr/>
        </p:nvSpPr>
        <p:spPr>
          <a:xfrm>
            <a:off x="5334000" y="3780032"/>
            <a:ext cx="10134600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sz="2400" dirty="0">
                <a:cs typeface="B Nazanin" panose="00000400000000000000" pitchFamily="2" charset="-78"/>
              </a:rPr>
              <a:t>تصویر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B Nazanin" panose="00000400000000000000" pitchFamily="2" charset="-78"/>
              </a:rPr>
              <a:t>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B Nazanin" panose="00000400000000000000" pitchFamily="2" charset="-78"/>
              </a:rPr>
              <a:t>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B Nazanin" panose="00000400000000000000" pitchFamily="2" charset="-78"/>
              </a:rPr>
              <a:t>B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fa-IR" sz="2400" dirty="0">
                <a:cs typeface="B Nazanin" panose="00000400000000000000" pitchFamily="2" charset="-78"/>
              </a:rPr>
              <a:t> وارد شبکه می‌شود.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sz="2400" dirty="0">
                <a:cs typeface="B Nazanin" panose="00000400000000000000" pitchFamily="2" charset="-78"/>
              </a:rPr>
              <a:t>یک </a:t>
            </a:r>
            <a:r>
              <a:rPr lang="fa-IR" sz="2400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cs typeface="B Nazanin" panose="00000400000000000000" pitchFamily="2" charset="-78"/>
              </a:rPr>
              <a:t>کانولوشن 3 در 3</a:t>
            </a:r>
            <a:r>
              <a:rPr lang="fa-IR" sz="2400" dirty="0">
                <a:cs typeface="B Nazanin" panose="00000400000000000000" pitchFamily="2" charset="-78"/>
              </a:rPr>
              <a:t> انجام می‌شود تا تصویر از فضای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B Nazanin" panose="00000400000000000000" pitchFamily="2" charset="-78"/>
              </a:rPr>
              <a:t>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B Nazanin" panose="00000400000000000000" pitchFamily="2" charset="-78"/>
              </a:rPr>
              <a:t>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B Nazanin" panose="00000400000000000000" pitchFamily="2" charset="-78"/>
              </a:rPr>
              <a:t>B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fa-IR" sz="2400" dirty="0">
                <a:cs typeface="B Nazanin" panose="00000400000000000000" pitchFamily="2" charset="-78"/>
              </a:rPr>
              <a:t> به فضای ویژگی تبدیل شود. تعداد کانال‌های ویژگی 24 کانال است.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sz="2400" dirty="0">
                <a:cs typeface="B Nazanin" panose="00000400000000000000" pitchFamily="2" charset="-78"/>
              </a:rPr>
              <a:t>تصویر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B Nazanin" panose="00000400000000000000" pitchFamily="2" charset="-78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B Nazanin" panose="00000400000000000000" pitchFamily="2" charset="-78"/>
              </a:rPr>
              <a:t>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B Nazanin" panose="00000400000000000000" pitchFamily="2" charset="-78"/>
              </a:rPr>
              <a:t>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B Nazanin" panose="00000400000000000000" pitchFamily="2" charset="-78"/>
              </a:rPr>
              <a:t> </a:t>
            </a:r>
            <a:r>
              <a:rPr lang="fa-IR" sz="2400" dirty="0">
                <a:cs typeface="B Nazanin" panose="00000400000000000000" pitchFamily="2" charset="-78"/>
              </a:rPr>
              <a:t>فقط ۳ عدد برای هر پیکسل دارد. ولی ویژگی‌های پیچیده‌تری لازم است:  لبه‌ها، بافت‌ها، رنگ‌های نزدیک، الگوها.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400" dirty="0">
                <a:cs typeface="B Nazanin" panose="00000400000000000000" pitchFamily="2" charset="-78"/>
              </a:rPr>
              <a:t>در این مرحله هنوز هیچ پردازش هوشمندی انجام نشده و فقط </a:t>
            </a:r>
            <a:r>
              <a:rPr lang="fa-IR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ویژگی‌های اولیه استخراج </a:t>
            </a:r>
            <a:r>
              <a:rPr lang="fa-IR" sz="2400" dirty="0">
                <a:cs typeface="B Nazanin" panose="00000400000000000000" pitchFamily="2" charset="-78"/>
              </a:rPr>
              <a:t>می‌شوند.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0E82C6-D2B7-F0BE-2DB1-1BF4FEB8F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998" y="3995237"/>
            <a:ext cx="2635747" cy="31054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8CC7FE-64BC-B204-BE5B-5E84E36268A5}"/>
              </a:ext>
            </a:extLst>
          </p:cNvPr>
          <p:cNvSpPr txBox="1"/>
          <p:nvPr/>
        </p:nvSpPr>
        <p:spPr>
          <a:xfrm>
            <a:off x="1295400" y="395198"/>
            <a:ext cx="15240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b="1" dirty="0" err="1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IAFMNet</a:t>
            </a:r>
            <a:endParaRPr lang="fa-IR" b="1" dirty="0">
              <a:solidFill>
                <a:srgbClr val="22C4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D9306-01B8-16EA-CF9D-3F4B01A51763}"/>
              </a:ext>
            </a:extLst>
          </p:cNvPr>
          <p:cNvSpPr txBox="1"/>
          <p:nvPr/>
        </p:nvSpPr>
        <p:spPr>
          <a:xfrm>
            <a:off x="1257300" y="9693409"/>
            <a:ext cx="14820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Xu, J., Liu, M., Wang, Z., Wu, F., Wu, S., Huang, T., &amp; Dong, W. (2026). </a:t>
            </a:r>
            <a:r>
              <a:rPr lang="en-US" sz="12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IAFMNet</a:t>
            </a:r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Information-Aware Feature Modulation for Efficient Super-Resolution. In Proceedings of the IEEE/CVF Conference on Computer Vision and Pattern Recognition (pp. 30564-30573).</a:t>
            </a:r>
            <a:endParaRPr lang="fa-IR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228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C5BC237-F8A7-AEB7-FF85-978B7ADD0F67}"/>
              </a:ext>
            </a:extLst>
          </p:cNvPr>
          <p:cNvSpPr txBox="1"/>
          <p:nvPr/>
        </p:nvSpPr>
        <p:spPr>
          <a:xfrm>
            <a:off x="8382001" y="1977517"/>
            <a:ext cx="828122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B Titr" panose="00000700000000000000" pitchFamily="2" charset="-78"/>
              </a:rPr>
              <a:t>تخمین</a:t>
            </a:r>
            <a:r>
              <a:rPr kumimoji="0" lang="fa-I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B Titr" panose="00000700000000000000" pitchFamily="2" charset="-78"/>
              </a:rPr>
              <a:t> 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چگ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الی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: </a:t>
            </a:r>
            <a:r>
              <a:rPr lang="en-US" sz="3200" b="1" u="sng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B Titr" panose="00000700000000000000" pitchFamily="2" charset="-78"/>
              </a:rPr>
              <a:t>Information Density Estimator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B Titr" panose="00000700000000000000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F2C81F-8631-417E-61E5-445382EAD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9"/>
          <a:stretch/>
        </p:blipFill>
        <p:spPr>
          <a:xfrm>
            <a:off x="17221200" y="0"/>
            <a:ext cx="1066800" cy="128396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A4C5EA-E404-83E0-9783-BA41CDA0C8AF}"/>
              </a:ext>
            </a:extLst>
          </p:cNvPr>
          <p:cNvCxnSpPr/>
          <p:nvPr/>
        </p:nvCxnSpPr>
        <p:spPr>
          <a:xfrm>
            <a:off x="1295400" y="800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62688F-9798-1FED-9114-2F5DBAA53FF2}"/>
              </a:ext>
            </a:extLst>
          </p:cNvPr>
          <p:cNvCxnSpPr/>
          <p:nvPr/>
        </p:nvCxnSpPr>
        <p:spPr>
          <a:xfrm>
            <a:off x="1257300" y="9563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90EAC38-9849-53F6-E5E7-A0A1D1D89E46}"/>
              </a:ext>
            </a:extLst>
          </p:cNvPr>
          <p:cNvSpPr txBox="1"/>
          <p:nvPr/>
        </p:nvSpPr>
        <p:spPr>
          <a:xfrm>
            <a:off x="16635608" y="9639300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07</a:t>
            </a:r>
            <a:endParaRPr lang="fa-I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1614AD-3114-8BAB-732F-74506316F444}"/>
              </a:ext>
            </a:extLst>
          </p:cNvPr>
          <p:cNvSpPr txBox="1"/>
          <p:nvPr/>
        </p:nvSpPr>
        <p:spPr>
          <a:xfrm>
            <a:off x="16176042" y="9648785"/>
            <a:ext cx="585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/ 19</a:t>
            </a:r>
            <a:endParaRPr lang="fa-IR" dirty="0"/>
          </a:p>
        </p:txBody>
      </p:sp>
      <p:sp>
        <p:nvSpPr>
          <p:cNvPr id="4" name="AutoShape 15">
            <a:extLst>
              <a:ext uri="{FF2B5EF4-FFF2-40B4-BE49-F238E27FC236}">
                <a16:creationId xmlns:a16="http://schemas.microsoft.com/office/drawing/2014/main" id="{C4FC02C0-B56A-0830-46E3-B07274CB0DE0}"/>
              </a:ext>
            </a:extLst>
          </p:cNvPr>
          <p:cNvSpPr/>
          <p:nvPr/>
        </p:nvSpPr>
        <p:spPr>
          <a:xfrm>
            <a:off x="3251916" y="9122626"/>
            <a:ext cx="11530884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grpSp>
        <p:nvGrpSpPr>
          <p:cNvPr id="5" name="Group 16">
            <a:extLst>
              <a:ext uri="{FF2B5EF4-FFF2-40B4-BE49-F238E27FC236}">
                <a16:creationId xmlns:a16="http://schemas.microsoft.com/office/drawing/2014/main" id="{BDE7A336-B622-F3D1-F418-C3B0CA68A151}"/>
              </a:ext>
            </a:extLst>
          </p:cNvPr>
          <p:cNvGrpSpPr/>
          <p:nvPr/>
        </p:nvGrpSpPr>
        <p:grpSpPr>
          <a:xfrm rot="-5400000">
            <a:off x="2797195" y="8804860"/>
            <a:ext cx="667355" cy="687106"/>
            <a:chOff x="0" y="0"/>
            <a:chExt cx="812800" cy="812800"/>
          </a:xfrm>
        </p:grpSpPr>
        <p:sp>
          <p:nvSpPr>
            <p:cNvPr id="6" name="Freeform 17">
              <a:extLst>
                <a:ext uri="{FF2B5EF4-FFF2-40B4-BE49-F238E27FC236}">
                  <a16:creationId xmlns:a16="http://schemas.microsoft.com/office/drawing/2014/main" id="{5DCEB216-3807-2771-741A-A499320FB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7" name="TextBox 18">
              <a:extLst>
                <a:ext uri="{FF2B5EF4-FFF2-40B4-BE49-F238E27FC236}">
                  <a16:creationId xmlns:a16="http://schemas.microsoft.com/office/drawing/2014/main" id="{3A31615D-70A5-BD9E-B79F-17864B452138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19">
            <a:extLst>
              <a:ext uri="{FF2B5EF4-FFF2-40B4-BE49-F238E27FC236}">
                <a16:creationId xmlns:a16="http://schemas.microsoft.com/office/drawing/2014/main" id="{EAC3830A-6176-3B16-8EE2-1FDC517B3E73}"/>
              </a:ext>
            </a:extLst>
          </p:cNvPr>
          <p:cNvGrpSpPr/>
          <p:nvPr/>
        </p:nvGrpSpPr>
        <p:grpSpPr>
          <a:xfrm rot="-5400000">
            <a:off x="6666861" y="8804860"/>
            <a:ext cx="667355" cy="687106"/>
            <a:chOff x="0" y="0"/>
            <a:chExt cx="812800" cy="812800"/>
          </a:xfrm>
        </p:grpSpPr>
        <p:sp>
          <p:nvSpPr>
            <p:cNvPr id="9" name="Freeform 20">
              <a:extLst>
                <a:ext uri="{FF2B5EF4-FFF2-40B4-BE49-F238E27FC236}">
                  <a16:creationId xmlns:a16="http://schemas.microsoft.com/office/drawing/2014/main" id="{6216871C-7632-5422-D8C4-C228DF98B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10" name="TextBox 21">
              <a:extLst>
                <a:ext uri="{FF2B5EF4-FFF2-40B4-BE49-F238E27FC236}">
                  <a16:creationId xmlns:a16="http://schemas.microsoft.com/office/drawing/2014/main" id="{29E18D1B-E27A-07C3-C4C4-739B8CE8EF4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DB3A361E-DAF6-9C0C-D8AA-EAF48F22AB99}"/>
              </a:ext>
            </a:extLst>
          </p:cNvPr>
          <p:cNvGrpSpPr/>
          <p:nvPr/>
        </p:nvGrpSpPr>
        <p:grpSpPr>
          <a:xfrm rot="-5400000">
            <a:off x="10538615" y="8804860"/>
            <a:ext cx="667355" cy="687106"/>
            <a:chOff x="0" y="0"/>
            <a:chExt cx="812800" cy="812800"/>
          </a:xfrm>
        </p:grpSpPr>
        <p:sp>
          <p:nvSpPr>
            <p:cNvPr id="50" name="Freeform 23">
              <a:extLst>
                <a:ext uri="{FF2B5EF4-FFF2-40B4-BE49-F238E27FC236}">
                  <a16:creationId xmlns:a16="http://schemas.microsoft.com/office/drawing/2014/main" id="{4DAE7F71-AF27-655F-D461-28A4EDCED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sp>
        <p:sp>
          <p:nvSpPr>
            <p:cNvPr id="60" name="TextBox 24">
              <a:extLst>
                <a:ext uri="{FF2B5EF4-FFF2-40B4-BE49-F238E27FC236}">
                  <a16:creationId xmlns:a16="http://schemas.microsoft.com/office/drawing/2014/main" id="{9AB94623-BF46-0E87-EA75-4165637FF36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1" name="Group 25">
            <a:extLst>
              <a:ext uri="{FF2B5EF4-FFF2-40B4-BE49-F238E27FC236}">
                <a16:creationId xmlns:a16="http://schemas.microsoft.com/office/drawing/2014/main" id="{D5ED0F7B-AB5F-337B-0FDA-C5856DC44B6B}"/>
              </a:ext>
            </a:extLst>
          </p:cNvPr>
          <p:cNvGrpSpPr/>
          <p:nvPr/>
        </p:nvGrpSpPr>
        <p:grpSpPr>
          <a:xfrm rot="-5400000">
            <a:off x="14410369" y="8804860"/>
            <a:ext cx="667355" cy="687106"/>
            <a:chOff x="0" y="0"/>
            <a:chExt cx="812800" cy="812800"/>
          </a:xfrm>
        </p:grpSpPr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7D8014C9-2B0C-AC99-4A55-3D2A6FB8B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3" name="TextBox 27">
              <a:extLst>
                <a:ext uri="{FF2B5EF4-FFF2-40B4-BE49-F238E27FC236}">
                  <a16:creationId xmlns:a16="http://schemas.microsoft.com/office/drawing/2014/main" id="{86D3AB7D-0E07-473B-E807-72BA8DA3E51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4" name="TextBox 39">
            <a:extLst>
              <a:ext uri="{FF2B5EF4-FFF2-40B4-BE49-F238E27FC236}">
                <a16:creationId xmlns:a16="http://schemas.microsoft.com/office/drawing/2014/main" id="{AAFB2601-CE5E-5E6C-3429-E8DB76A2708E}"/>
              </a:ext>
            </a:extLst>
          </p:cNvPr>
          <p:cNvSpPr txBox="1"/>
          <p:nvPr/>
        </p:nvSpPr>
        <p:spPr>
          <a:xfrm>
            <a:off x="14579748" y="8814734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solidFill>
                  <a:srgbClr val="22C4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65" name="TextBox 40">
            <a:extLst>
              <a:ext uri="{FF2B5EF4-FFF2-40B4-BE49-F238E27FC236}">
                <a16:creationId xmlns:a16="http://schemas.microsoft.com/office/drawing/2014/main" id="{97C2E846-A1E1-EF22-09AA-FAF75E60E2C1}"/>
              </a:ext>
            </a:extLst>
          </p:cNvPr>
          <p:cNvSpPr txBox="1"/>
          <p:nvPr/>
        </p:nvSpPr>
        <p:spPr>
          <a:xfrm>
            <a:off x="10701666" y="8801100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66" name="TextBox 41">
            <a:extLst>
              <a:ext uri="{FF2B5EF4-FFF2-40B4-BE49-F238E27FC236}">
                <a16:creationId xmlns:a16="http://schemas.microsoft.com/office/drawing/2014/main" id="{927DC158-62EC-5F2C-FA49-9B101E5D80F9}"/>
              </a:ext>
            </a:extLst>
          </p:cNvPr>
          <p:cNvSpPr txBox="1"/>
          <p:nvPr/>
        </p:nvSpPr>
        <p:spPr>
          <a:xfrm>
            <a:off x="6842227" y="8824363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solidFill>
                  <a:srgbClr val="22C4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67" name="TextBox 42">
            <a:extLst>
              <a:ext uri="{FF2B5EF4-FFF2-40B4-BE49-F238E27FC236}">
                <a16:creationId xmlns:a16="http://schemas.microsoft.com/office/drawing/2014/main" id="{7F62EEA9-5D15-611A-92CA-3F2A36D1D358}"/>
              </a:ext>
            </a:extLst>
          </p:cNvPr>
          <p:cNvSpPr txBox="1"/>
          <p:nvPr/>
        </p:nvSpPr>
        <p:spPr>
          <a:xfrm>
            <a:off x="2941764" y="8828146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  <a:endParaRPr lang="en-US" sz="3172" b="1" dirty="0"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180A6E8-3702-140C-1141-30BD86AC6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221" y="3763260"/>
            <a:ext cx="7636158" cy="3938719"/>
          </a:xfrm>
          <a:prstGeom prst="rect">
            <a:avLst/>
          </a:prstGeom>
        </p:spPr>
      </p:pic>
      <p:sp>
        <p:nvSpPr>
          <p:cNvPr id="23" name="Freeform 13">
            <a:extLst>
              <a:ext uri="{FF2B5EF4-FFF2-40B4-BE49-F238E27FC236}">
                <a16:creationId xmlns:a16="http://schemas.microsoft.com/office/drawing/2014/main" id="{7B9EA019-534A-BA31-6411-EF9E645F01F9}"/>
              </a:ext>
            </a:extLst>
          </p:cNvPr>
          <p:cNvSpPr/>
          <p:nvPr/>
        </p:nvSpPr>
        <p:spPr>
          <a:xfrm>
            <a:off x="9525000" y="2857502"/>
            <a:ext cx="7236634" cy="5738840"/>
          </a:xfrm>
          <a:custGeom>
            <a:avLst/>
            <a:gdLst/>
            <a:ahLst/>
            <a:cxnLst/>
            <a:rect l="l" t="t" r="r" b="b"/>
            <a:pathLst>
              <a:path w="1733801" h="1189231">
                <a:moveTo>
                  <a:pt x="44690" y="0"/>
                </a:moveTo>
                <a:lnTo>
                  <a:pt x="1689111" y="0"/>
                </a:lnTo>
                <a:cubicBezTo>
                  <a:pt x="1713792" y="0"/>
                  <a:pt x="1733801" y="20008"/>
                  <a:pt x="1733801" y="44690"/>
                </a:cubicBezTo>
                <a:lnTo>
                  <a:pt x="1733801" y="1144541"/>
                </a:lnTo>
                <a:cubicBezTo>
                  <a:pt x="1733801" y="1156394"/>
                  <a:pt x="1729092" y="1167761"/>
                  <a:pt x="1720711" y="1176141"/>
                </a:cubicBezTo>
                <a:cubicBezTo>
                  <a:pt x="1712330" y="1184522"/>
                  <a:pt x="1700963" y="1189231"/>
                  <a:pt x="1689111" y="1189231"/>
                </a:cubicBezTo>
                <a:lnTo>
                  <a:pt x="44690" y="1189231"/>
                </a:lnTo>
                <a:cubicBezTo>
                  <a:pt x="32837" y="1189231"/>
                  <a:pt x="21470" y="1184522"/>
                  <a:pt x="13089" y="1176141"/>
                </a:cubicBezTo>
                <a:cubicBezTo>
                  <a:pt x="4708" y="1167761"/>
                  <a:pt x="0" y="1156394"/>
                  <a:pt x="0" y="1144541"/>
                </a:cubicBezTo>
                <a:lnTo>
                  <a:pt x="0" y="44690"/>
                </a:lnTo>
                <a:cubicBezTo>
                  <a:pt x="0" y="32837"/>
                  <a:pt x="4708" y="21470"/>
                  <a:pt x="13089" y="13089"/>
                </a:cubicBezTo>
                <a:cubicBezTo>
                  <a:pt x="21470" y="4708"/>
                  <a:pt x="32837" y="0"/>
                  <a:pt x="44690" y="0"/>
                </a:cubicBezTo>
                <a:close/>
              </a:path>
            </a:pathLst>
          </a:custGeom>
          <a:solidFill>
            <a:srgbClr val="202127">
              <a:alpha val="97000"/>
            </a:srgbClr>
          </a:solidFill>
          <a:ln w="1905">
            <a:solidFill>
              <a:srgbClr val="00FFFF">
                <a:alpha val="76000"/>
              </a:srgbClr>
            </a:solidFill>
          </a:ln>
          <a:effectLst>
            <a:outerShdw blurRad="38100" dist="50800" algn="tl" rotWithShape="0">
              <a:srgbClr val="00FFFF">
                <a:alpha val="57000"/>
              </a:srgbClr>
            </a:outerShdw>
          </a:effectLst>
        </p:spPr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13C6AEB-CF06-C4D6-708B-DDE265836855}"/>
              </a:ext>
            </a:extLst>
          </p:cNvPr>
          <p:cNvCxnSpPr>
            <a:cxnSpLocks/>
          </p:cNvCxnSpPr>
          <p:nvPr/>
        </p:nvCxnSpPr>
        <p:spPr>
          <a:xfrm>
            <a:off x="10058400" y="4236368"/>
            <a:ext cx="63246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8FB39B2-1C26-826C-2318-C1CAB3BBD00F}"/>
              </a:ext>
            </a:extLst>
          </p:cNvPr>
          <p:cNvSpPr txBox="1"/>
          <p:nvPr/>
        </p:nvSpPr>
        <p:spPr>
          <a:xfrm>
            <a:off x="11004394" y="3619502"/>
            <a:ext cx="5378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2400" b="1" dirty="0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cs"/>
              </a:rPr>
              <a:t>Information Density Estimator (IDE)</a:t>
            </a:r>
            <a:endParaRPr lang="fa-IR" sz="2400" b="1" dirty="0">
              <a:solidFill>
                <a:srgbClr val="22C4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35C1F1-D662-2959-A365-5C19AF4A9493}"/>
              </a:ext>
            </a:extLst>
          </p:cNvPr>
          <p:cNvSpPr txBox="1"/>
          <p:nvPr/>
        </p:nvSpPr>
        <p:spPr>
          <a:xfrm>
            <a:off x="9753600" y="4317378"/>
            <a:ext cx="6781800" cy="4301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sz="2000" b="1" dirty="0">
                <a:solidFill>
                  <a:schemeClr val="bg1">
                    <a:lumMod val="85000"/>
                  </a:schemeClr>
                </a:solidFill>
                <a:cs typeface="B Nazanin" panose="00000400000000000000" pitchFamily="2" charset="-78"/>
              </a:rPr>
              <a:t>بعد از استخراج ویژگی، داده وارد </a:t>
            </a:r>
            <a:r>
              <a:rPr lang="en-US" sz="2000" b="1" dirty="0">
                <a:solidFill>
                  <a:srgbClr val="22C4C9"/>
                </a:solidFill>
                <a:cs typeface="B Nazanin" panose="00000400000000000000" pitchFamily="2" charset="-78"/>
              </a:rPr>
              <a:t>Information</a:t>
            </a: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en-US" sz="2000" b="1" dirty="0">
                <a:solidFill>
                  <a:srgbClr val="22C4C9"/>
                </a:solidFill>
                <a:cs typeface="B Nazanin" panose="00000400000000000000" pitchFamily="2" charset="-78"/>
              </a:rPr>
              <a:t>Density</a:t>
            </a: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en-US" sz="2000" b="1" dirty="0">
                <a:solidFill>
                  <a:srgbClr val="22C4C9"/>
                </a:solidFill>
                <a:cs typeface="B Nazanin" panose="00000400000000000000" pitchFamily="2" charset="-78"/>
              </a:rPr>
              <a:t>Estimator (IDE) </a:t>
            </a:r>
            <a:r>
              <a:rPr lang="fa-IR" sz="2000" b="1" dirty="0">
                <a:solidFill>
                  <a:schemeClr val="bg1">
                    <a:lumMod val="85000"/>
                  </a:schemeClr>
                </a:solidFill>
                <a:cs typeface="B Nazanin" panose="00000400000000000000" pitchFamily="2" charset="-78"/>
              </a:rPr>
              <a:t> می‌شود.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sz="2000" b="1" dirty="0">
                <a:solidFill>
                  <a:schemeClr val="bg1">
                    <a:lumMod val="85000"/>
                  </a:schemeClr>
                </a:solidFill>
                <a:cs typeface="B Nazanin" panose="00000400000000000000" pitchFamily="2" charset="-78"/>
              </a:rPr>
              <a:t>این بخش یکی از مهم‌ترین نوآوری‌های مقاله است.</a:t>
            </a:r>
          </a:p>
          <a:p>
            <a:pPr algn="r" rtl="1">
              <a:lnSpc>
                <a:spcPct val="150000"/>
              </a:lnSpc>
            </a:pPr>
            <a:r>
              <a:rPr lang="fa-IR" sz="2000" b="1" dirty="0">
                <a:solidFill>
                  <a:schemeClr val="bg1">
                    <a:lumMod val="85000"/>
                  </a:schemeClr>
                </a:solidFill>
                <a:cs typeface="B Nazanin" panose="00000400000000000000" pitchFamily="2" charset="-78"/>
              </a:rPr>
              <a:t>وظیفه </a:t>
            </a: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cs typeface="B Nazanin" panose="00000400000000000000" pitchFamily="2" charset="-78"/>
              </a:rPr>
              <a:t> IDE </a:t>
            </a:r>
            <a:r>
              <a:rPr lang="fa-IR" sz="2000" b="1" dirty="0">
                <a:solidFill>
                  <a:schemeClr val="bg1">
                    <a:lumMod val="85000"/>
                  </a:schemeClr>
                </a:solidFill>
                <a:cs typeface="B Nazanin" panose="00000400000000000000" pitchFamily="2" charset="-78"/>
              </a:rPr>
              <a:t>این است که تشخیص دهد: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b="1" i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کدام قسمت تصویر اطلاعات زیادی دارد.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b="1" i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کدام قسمت ساده است.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a-IR" sz="2000" b="1" dirty="0">
              <a:solidFill>
                <a:schemeClr val="bg1">
                  <a:lumMod val="85000"/>
                </a:schemeClr>
              </a:solidFill>
              <a:cs typeface="B Nazanin" panose="00000400000000000000" pitchFamily="2" charset="-78"/>
            </a:endParaRPr>
          </a:p>
          <a:p>
            <a:pPr algn="r" rtl="1">
              <a:lnSpc>
                <a:spcPct val="150000"/>
              </a:lnSpc>
            </a:pPr>
            <a:r>
              <a:rPr lang="fa-IR" sz="2000" b="1" dirty="0">
                <a:solidFill>
                  <a:schemeClr val="bg1">
                    <a:lumMod val="85000"/>
                  </a:schemeClr>
                </a:solidFill>
                <a:cs typeface="B Nazanin" panose="00000400000000000000" pitchFamily="2" charset="-78"/>
              </a:rPr>
              <a:t>خروجی این بخش یک </a:t>
            </a: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en-US" sz="2200" b="1" dirty="0">
                <a:solidFill>
                  <a:srgbClr val="22C4C9"/>
                </a:solidFill>
                <a:cs typeface="B Nazanin" panose="00000400000000000000" pitchFamily="2" charset="-78"/>
              </a:rPr>
              <a:t>Information Density Map (IDM) </a:t>
            </a:r>
            <a:r>
              <a:rPr lang="fa-IR" sz="2000" b="1" dirty="0">
                <a:solidFill>
                  <a:schemeClr val="bg1">
                    <a:lumMod val="85000"/>
                  </a:schemeClr>
                </a:solidFill>
                <a:cs typeface="B Nazanin" panose="00000400000000000000" pitchFamily="2" charset="-78"/>
              </a:rPr>
              <a:t>است. این نقشه در ادامه تمام تصمیم‌های شبکه را هدایت می‌کند.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691A6A-4DCC-E397-9EA5-6F2FA16E3A66}"/>
              </a:ext>
            </a:extLst>
          </p:cNvPr>
          <p:cNvSpPr txBox="1"/>
          <p:nvPr/>
        </p:nvSpPr>
        <p:spPr>
          <a:xfrm>
            <a:off x="13639801" y="3025421"/>
            <a:ext cx="2771384" cy="4001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0">
                <a:srgbClr val="00FFFF">
                  <a:alpha val="45000"/>
                  <a:lumMod val="0"/>
                  <a:lumOff val="100000"/>
                </a:srgbClr>
              </a:gs>
              <a:gs pos="83000">
                <a:srgbClr val="00FFFF">
                  <a:alpha val="40000"/>
                </a:srgbClr>
              </a:gs>
            </a:gsLst>
            <a:lin ang="5400000" scaled="1"/>
          </a:gradFill>
          <a:ln cap="rnd">
            <a:solidFill>
              <a:srgbClr val="22C4C9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fa-IR" b="1" dirty="0">
                <a:solidFill>
                  <a:schemeClr val="bg1"/>
                </a:solidFill>
                <a:latin typeface="Noto Sans Arabic"/>
                <a:cs typeface="B Nazanin" panose="00000400000000000000" pitchFamily="2" charset="-78"/>
              </a:rPr>
              <a:t>: </a:t>
            </a:r>
            <a:r>
              <a:rPr lang="fa-I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Arabic"/>
                <a:cs typeface="B Nazanin" panose="00000400000000000000" pitchFamily="2" charset="-78"/>
              </a:rPr>
              <a:t>مهم ترین نوآوری مقاله</a:t>
            </a:r>
            <a:r>
              <a:rPr lang="en-US" sz="20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Arabic"/>
                <a:cs typeface="B Nazanin" panose="00000400000000000000" pitchFamily="2" charset="-78"/>
              </a:rPr>
              <a:t>IDM</a:t>
            </a:r>
            <a:endParaRPr lang="fa-I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216B40-2673-BE21-224E-F6857F12518F}"/>
              </a:ext>
            </a:extLst>
          </p:cNvPr>
          <p:cNvSpPr txBox="1"/>
          <p:nvPr/>
        </p:nvSpPr>
        <p:spPr>
          <a:xfrm>
            <a:off x="14325600" y="327297"/>
            <a:ext cx="28194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ptos" panose="02110004020202020204"/>
                <a:cs typeface="B Titr" panose="00000700000000000000" pitchFamily="2" charset="-78"/>
              </a:rPr>
              <a:t>Efficient S</a:t>
            </a:r>
            <a:r>
              <a:rPr lang="en-US" sz="1600" b="1" dirty="0">
                <a:solidFill>
                  <a:srgbClr val="22C4C9"/>
                </a:solidFill>
                <a:latin typeface=" "/>
                <a:cs typeface="B Titr" panose="00000700000000000000" pitchFamily="2" charset="-78"/>
              </a:rPr>
              <a:t>uper-Resolution</a:t>
            </a:r>
            <a:endParaRPr lang="fa-IR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6600C6-99BC-DB8F-6A44-E69D861C77E2}"/>
              </a:ext>
            </a:extLst>
          </p:cNvPr>
          <p:cNvSpPr txBox="1"/>
          <p:nvPr/>
        </p:nvSpPr>
        <p:spPr>
          <a:xfrm>
            <a:off x="1295400" y="395198"/>
            <a:ext cx="15240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b="1" dirty="0" err="1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IAFMNet</a:t>
            </a:r>
            <a:endParaRPr lang="fa-IR" b="1" dirty="0">
              <a:solidFill>
                <a:srgbClr val="22C4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C82A68-531F-E6E2-9404-1F314FCE02D0}"/>
              </a:ext>
            </a:extLst>
          </p:cNvPr>
          <p:cNvSpPr txBox="1"/>
          <p:nvPr/>
        </p:nvSpPr>
        <p:spPr>
          <a:xfrm>
            <a:off x="1257300" y="9693409"/>
            <a:ext cx="14820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Xu, J., Liu, M., Wang, Z., Wu, F., Wu, S., Huang, T., &amp; Dong, W. (2026). </a:t>
            </a:r>
            <a:r>
              <a:rPr lang="en-US" sz="12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IAFMNet</a:t>
            </a:r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Information-Aware Feature Modulation for Efficient Super-Resolution. In Proceedings of the IEEE/CVF Conference on Computer Vision and Pattern Recognition (pp. 30564-30573).</a:t>
            </a:r>
            <a:endParaRPr lang="fa-IR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34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C5BC237-F8A7-AEB7-FF85-978B7ADD0F67}"/>
              </a:ext>
            </a:extLst>
          </p:cNvPr>
          <p:cNvSpPr txBox="1"/>
          <p:nvPr/>
        </p:nvSpPr>
        <p:spPr>
          <a:xfrm>
            <a:off x="8382001" y="1977517"/>
            <a:ext cx="828122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B Titr" panose="00000700000000000000" pitchFamily="2" charset="-78"/>
              </a:rPr>
              <a:t>تخمین</a:t>
            </a:r>
            <a:r>
              <a:rPr kumimoji="0" lang="fa-I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B Titr" panose="00000700000000000000" pitchFamily="2" charset="-78"/>
              </a:rPr>
              <a:t> 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چگ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الی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: </a:t>
            </a:r>
            <a:r>
              <a:rPr lang="en-US" sz="3200" b="1" u="sng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B Titr" panose="00000700000000000000" pitchFamily="2" charset="-78"/>
              </a:rPr>
              <a:t>Information Density Estimator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B Titr" panose="00000700000000000000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F2C81F-8631-417E-61E5-445382EAD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9"/>
          <a:stretch/>
        </p:blipFill>
        <p:spPr>
          <a:xfrm>
            <a:off x="17221200" y="0"/>
            <a:ext cx="1066800" cy="128396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A4C5EA-E404-83E0-9783-BA41CDA0C8AF}"/>
              </a:ext>
            </a:extLst>
          </p:cNvPr>
          <p:cNvCxnSpPr/>
          <p:nvPr/>
        </p:nvCxnSpPr>
        <p:spPr>
          <a:xfrm>
            <a:off x="1295400" y="800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62688F-9798-1FED-9114-2F5DBAA53FF2}"/>
              </a:ext>
            </a:extLst>
          </p:cNvPr>
          <p:cNvCxnSpPr/>
          <p:nvPr/>
        </p:nvCxnSpPr>
        <p:spPr>
          <a:xfrm>
            <a:off x="1257300" y="9563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90EAC38-9849-53F6-E5E7-A0A1D1D89E46}"/>
              </a:ext>
            </a:extLst>
          </p:cNvPr>
          <p:cNvSpPr txBox="1"/>
          <p:nvPr/>
        </p:nvSpPr>
        <p:spPr>
          <a:xfrm>
            <a:off x="16635608" y="9639300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08</a:t>
            </a:r>
            <a:endParaRPr lang="fa-I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1614AD-3114-8BAB-732F-74506316F444}"/>
              </a:ext>
            </a:extLst>
          </p:cNvPr>
          <p:cNvSpPr txBox="1"/>
          <p:nvPr/>
        </p:nvSpPr>
        <p:spPr>
          <a:xfrm>
            <a:off x="16176042" y="9648785"/>
            <a:ext cx="585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/ 19</a:t>
            </a:r>
            <a:endParaRPr lang="fa-IR" dirty="0"/>
          </a:p>
        </p:txBody>
      </p:sp>
      <p:sp>
        <p:nvSpPr>
          <p:cNvPr id="4" name="AutoShape 15">
            <a:extLst>
              <a:ext uri="{FF2B5EF4-FFF2-40B4-BE49-F238E27FC236}">
                <a16:creationId xmlns:a16="http://schemas.microsoft.com/office/drawing/2014/main" id="{C4FC02C0-B56A-0830-46E3-B07274CB0DE0}"/>
              </a:ext>
            </a:extLst>
          </p:cNvPr>
          <p:cNvSpPr/>
          <p:nvPr/>
        </p:nvSpPr>
        <p:spPr>
          <a:xfrm>
            <a:off x="3251916" y="9122626"/>
            <a:ext cx="11530884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grpSp>
        <p:nvGrpSpPr>
          <p:cNvPr id="5" name="Group 16">
            <a:extLst>
              <a:ext uri="{FF2B5EF4-FFF2-40B4-BE49-F238E27FC236}">
                <a16:creationId xmlns:a16="http://schemas.microsoft.com/office/drawing/2014/main" id="{BDE7A336-B622-F3D1-F418-C3B0CA68A151}"/>
              </a:ext>
            </a:extLst>
          </p:cNvPr>
          <p:cNvGrpSpPr/>
          <p:nvPr/>
        </p:nvGrpSpPr>
        <p:grpSpPr>
          <a:xfrm rot="-5400000">
            <a:off x="2797195" y="8804860"/>
            <a:ext cx="667355" cy="687106"/>
            <a:chOff x="0" y="0"/>
            <a:chExt cx="812800" cy="812800"/>
          </a:xfrm>
        </p:grpSpPr>
        <p:sp>
          <p:nvSpPr>
            <p:cNvPr id="6" name="Freeform 17">
              <a:extLst>
                <a:ext uri="{FF2B5EF4-FFF2-40B4-BE49-F238E27FC236}">
                  <a16:creationId xmlns:a16="http://schemas.microsoft.com/office/drawing/2014/main" id="{5DCEB216-3807-2771-741A-A499320FB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7" name="TextBox 18">
              <a:extLst>
                <a:ext uri="{FF2B5EF4-FFF2-40B4-BE49-F238E27FC236}">
                  <a16:creationId xmlns:a16="http://schemas.microsoft.com/office/drawing/2014/main" id="{3A31615D-70A5-BD9E-B79F-17864B452138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19">
            <a:extLst>
              <a:ext uri="{FF2B5EF4-FFF2-40B4-BE49-F238E27FC236}">
                <a16:creationId xmlns:a16="http://schemas.microsoft.com/office/drawing/2014/main" id="{EAC3830A-6176-3B16-8EE2-1FDC517B3E73}"/>
              </a:ext>
            </a:extLst>
          </p:cNvPr>
          <p:cNvGrpSpPr/>
          <p:nvPr/>
        </p:nvGrpSpPr>
        <p:grpSpPr>
          <a:xfrm rot="-5400000">
            <a:off x="6666861" y="8804860"/>
            <a:ext cx="667355" cy="687106"/>
            <a:chOff x="0" y="0"/>
            <a:chExt cx="812800" cy="812800"/>
          </a:xfrm>
        </p:grpSpPr>
        <p:sp>
          <p:nvSpPr>
            <p:cNvPr id="9" name="Freeform 20">
              <a:extLst>
                <a:ext uri="{FF2B5EF4-FFF2-40B4-BE49-F238E27FC236}">
                  <a16:creationId xmlns:a16="http://schemas.microsoft.com/office/drawing/2014/main" id="{6216871C-7632-5422-D8C4-C228DF98B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10" name="TextBox 21">
              <a:extLst>
                <a:ext uri="{FF2B5EF4-FFF2-40B4-BE49-F238E27FC236}">
                  <a16:creationId xmlns:a16="http://schemas.microsoft.com/office/drawing/2014/main" id="{29E18D1B-E27A-07C3-C4C4-739B8CE8EF4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DB3A361E-DAF6-9C0C-D8AA-EAF48F22AB99}"/>
              </a:ext>
            </a:extLst>
          </p:cNvPr>
          <p:cNvGrpSpPr/>
          <p:nvPr/>
        </p:nvGrpSpPr>
        <p:grpSpPr>
          <a:xfrm rot="-5400000">
            <a:off x="10538615" y="8804860"/>
            <a:ext cx="667355" cy="687106"/>
            <a:chOff x="0" y="0"/>
            <a:chExt cx="812800" cy="812800"/>
          </a:xfrm>
        </p:grpSpPr>
        <p:sp>
          <p:nvSpPr>
            <p:cNvPr id="50" name="Freeform 23">
              <a:extLst>
                <a:ext uri="{FF2B5EF4-FFF2-40B4-BE49-F238E27FC236}">
                  <a16:creationId xmlns:a16="http://schemas.microsoft.com/office/drawing/2014/main" id="{4DAE7F71-AF27-655F-D461-28A4EDCED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sp>
        <p:sp>
          <p:nvSpPr>
            <p:cNvPr id="60" name="TextBox 24">
              <a:extLst>
                <a:ext uri="{FF2B5EF4-FFF2-40B4-BE49-F238E27FC236}">
                  <a16:creationId xmlns:a16="http://schemas.microsoft.com/office/drawing/2014/main" id="{9AB94623-BF46-0E87-EA75-4165637FF36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1" name="Group 25">
            <a:extLst>
              <a:ext uri="{FF2B5EF4-FFF2-40B4-BE49-F238E27FC236}">
                <a16:creationId xmlns:a16="http://schemas.microsoft.com/office/drawing/2014/main" id="{D5ED0F7B-AB5F-337B-0FDA-C5856DC44B6B}"/>
              </a:ext>
            </a:extLst>
          </p:cNvPr>
          <p:cNvGrpSpPr/>
          <p:nvPr/>
        </p:nvGrpSpPr>
        <p:grpSpPr>
          <a:xfrm rot="-5400000">
            <a:off x="14410369" y="8804860"/>
            <a:ext cx="667355" cy="687106"/>
            <a:chOff x="0" y="0"/>
            <a:chExt cx="812800" cy="812800"/>
          </a:xfrm>
        </p:grpSpPr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7D8014C9-2B0C-AC99-4A55-3D2A6FB8B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3" name="TextBox 27">
              <a:extLst>
                <a:ext uri="{FF2B5EF4-FFF2-40B4-BE49-F238E27FC236}">
                  <a16:creationId xmlns:a16="http://schemas.microsoft.com/office/drawing/2014/main" id="{86D3AB7D-0E07-473B-E807-72BA8DA3E51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4" name="TextBox 39">
            <a:extLst>
              <a:ext uri="{FF2B5EF4-FFF2-40B4-BE49-F238E27FC236}">
                <a16:creationId xmlns:a16="http://schemas.microsoft.com/office/drawing/2014/main" id="{AAFB2601-CE5E-5E6C-3429-E8DB76A2708E}"/>
              </a:ext>
            </a:extLst>
          </p:cNvPr>
          <p:cNvSpPr txBox="1"/>
          <p:nvPr/>
        </p:nvSpPr>
        <p:spPr>
          <a:xfrm>
            <a:off x="14579748" y="8814734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solidFill>
                  <a:srgbClr val="22C4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65" name="TextBox 40">
            <a:extLst>
              <a:ext uri="{FF2B5EF4-FFF2-40B4-BE49-F238E27FC236}">
                <a16:creationId xmlns:a16="http://schemas.microsoft.com/office/drawing/2014/main" id="{97C2E846-A1E1-EF22-09AA-FAF75E60E2C1}"/>
              </a:ext>
            </a:extLst>
          </p:cNvPr>
          <p:cNvSpPr txBox="1"/>
          <p:nvPr/>
        </p:nvSpPr>
        <p:spPr>
          <a:xfrm>
            <a:off x="10701666" y="8801100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66" name="TextBox 41">
            <a:extLst>
              <a:ext uri="{FF2B5EF4-FFF2-40B4-BE49-F238E27FC236}">
                <a16:creationId xmlns:a16="http://schemas.microsoft.com/office/drawing/2014/main" id="{927DC158-62EC-5F2C-FA49-9B101E5D80F9}"/>
              </a:ext>
            </a:extLst>
          </p:cNvPr>
          <p:cNvSpPr txBox="1"/>
          <p:nvPr/>
        </p:nvSpPr>
        <p:spPr>
          <a:xfrm>
            <a:off x="6842227" y="8824363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solidFill>
                  <a:srgbClr val="22C4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67" name="TextBox 42">
            <a:extLst>
              <a:ext uri="{FF2B5EF4-FFF2-40B4-BE49-F238E27FC236}">
                <a16:creationId xmlns:a16="http://schemas.microsoft.com/office/drawing/2014/main" id="{7F62EEA9-5D15-611A-92CA-3F2A36D1D358}"/>
              </a:ext>
            </a:extLst>
          </p:cNvPr>
          <p:cNvSpPr txBox="1"/>
          <p:nvPr/>
        </p:nvSpPr>
        <p:spPr>
          <a:xfrm>
            <a:off x="2941764" y="8828146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  <a:endParaRPr lang="en-US" sz="3172" b="1" dirty="0"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DE1D3CA-C638-95F9-575E-31B982956185}"/>
              </a:ext>
            </a:extLst>
          </p:cNvPr>
          <p:cNvGrpSpPr/>
          <p:nvPr/>
        </p:nvGrpSpPr>
        <p:grpSpPr>
          <a:xfrm>
            <a:off x="6709755" y="3133189"/>
            <a:ext cx="10138077" cy="5129560"/>
            <a:chOff x="10744200" y="3695700"/>
            <a:chExt cx="6665400" cy="525780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ECA26CA6-293A-DD3B-68BC-C73F428F25E3}"/>
                </a:ext>
              </a:extLst>
            </p:cNvPr>
            <p:cNvSpPr/>
            <p:nvPr/>
          </p:nvSpPr>
          <p:spPr>
            <a:xfrm>
              <a:off x="10744200" y="3695700"/>
              <a:ext cx="6629400" cy="5257800"/>
            </a:xfrm>
            <a:prstGeom prst="roundRect">
              <a:avLst>
                <a:gd name="adj" fmla="val 4040"/>
              </a:avLst>
            </a:prstGeom>
            <a:solidFill>
              <a:srgbClr val="85FFFF">
                <a:alpha val="2000"/>
              </a:srgbClr>
            </a:solidFill>
            <a:ln w="6350">
              <a:solidFill>
                <a:srgbClr val="00FFFF">
                  <a:alpha val="22000"/>
                </a:srgb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3A123AE0-2F62-C75E-76D5-B8DA112FCA03}"/>
                </a:ext>
              </a:extLst>
            </p:cNvPr>
            <p:cNvSpPr/>
            <p:nvPr/>
          </p:nvSpPr>
          <p:spPr>
            <a:xfrm>
              <a:off x="17373600" y="3876600"/>
              <a:ext cx="36000" cy="4896000"/>
            </a:xfrm>
            <a:prstGeom prst="roundRect">
              <a:avLst/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9087F26-D364-4187-0C28-3411E9DD544E}"/>
              </a:ext>
            </a:extLst>
          </p:cNvPr>
          <p:cNvCxnSpPr>
            <a:cxnSpLocks/>
          </p:cNvCxnSpPr>
          <p:nvPr/>
        </p:nvCxnSpPr>
        <p:spPr>
          <a:xfrm>
            <a:off x="7588885" y="4152900"/>
            <a:ext cx="8869876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0ADC185-9971-ED1B-138C-DD930F1465BB}"/>
              </a:ext>
            </a:extLst>
          </p:cNvPr>
          <p:cNvSpPr txBox="1"/>
          <p:nvPr/>
        </p:nvSpPr>
        <p:spPr>
          <a:xfrm>
            <a:off x="9569120" y="3439269"/>
            <a:ext cx="68896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1" i="0" dirty="0">
                <a:solidFill>
                  <a:srgbClr val="66FCF1"/>
                </a:solidFill>
                <a:effectLst/>
                <a:latin typeface="Noto Sans Arabic"/>
                <a:cs typeface="B Titr" panose="00000700000000000000" pitchFamily="2" charset="-78"/>
              </a:rPr>
              <a:t>IDE </a:t>
            </a:r>
            <a:r>
              <a:rPr lang="fa-IR" sz="2400" b="1" i="0" dirty="0">
                <a:solidFill>
                  <a:srgbClr val="66FCF1"/>
                </a:solidFill>
                <a:effectLst/>
                <a:latin typeface="Noto Sans Arabic"/>
                <a:cs typeface="B Titr" panose="00000700000000000000" pitchFamily="2" charset="-78"/>
              </a:rPr>
              <a:t>روند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50D2D1-33C1-D852-98D5-28A71353DA78}"/>
              </a:ext>
            </a:extLst>
          </p:cNvPr>
          <p:cNvSpPr txBox="1"/>
          <p:nvPr/>
        </p:nvSpPr>
        <p:spPr>
          <a:xfrm>
            <a:off x="7603512" y="4593374"/>
            <a:ext cx="8869875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rtl="1">
              <a:lnSpc>
                <a:spcPct val="200000"/>
              </a:lnSpc>
              <a:buClr>
                <a:srgbClr val="00FFFF"/>
              </a:buClr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در این بخش ابتدا ویژگی‌ها توسط یک لایه </a:t>
            </a:r>
            <a:r>
              <a:rPr lang="fa-IR" sz="2400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کانولوشن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و سپس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en-US" sz="2400" dirty="0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GDN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پردازش می‌شوند.</a:t>
            </a:r>
          </a:p>
          <a:p>
            <a:pPr marL="342900" indent="-342900" algn="just" rtl="1">
              <a:lnSpc>
                <a:spcPct val="200000"/>
              </a:lnSpc>
              <a:buClr>
                <a:srgbClr val="00FFFF"/>
              </a:buClr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در ادامه دو پارامتر </a:t>
            </a:r>
            <a:r>
              <a:rPr lang="el-GR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μ</a:t>
            </a:r>
            <a:r>
              <a:rPr lang="el-G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و </a:t>
            </a:r>
            <a:r>
              <a:rPr lang="el-GR" sz="2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θ</a:t>
            </a:r>
            <a:r>
              <a:rPr lang="el-G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تخمین زده می‌شوند.</a:t>
            </a:r>
          </a:p>
          <a:p>
            <a:pPr marL="342900" indent="-342900" algn="just" rtl="1">
              <a:lnSpc>
                <a:spcPct val="200000"/>
              </a:lnSpc>
              <a:buClr>
                <a:srgbClr val="00FFFF"/>
              </a:buClr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طبق مقاله، نقشه </a:t>
            </a:r>
            <a:r>
              <a:rPr lang="el-GR" sz="2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θ</a:t>
            </a:r>
            <a:r>
              <a:rPr lang="el-G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پس از آموزش به عنوان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en-US" sz="2400" u="sng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Information Density Map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مورد استفاده قرار می‌گیرد و در مراحل بعدی شبکه نقش هدایت‌کننده دارد.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E0983A25-0D73-6670-AC46-C4D87D1BF4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471" y="3256341"/>
            <a:ext cx="4206719" cy="488254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0C2BD125-9B79-2F9F-CD8F-02C8D8E1E19D}"/>
              </a:ext>
            </a:extLst>
          </p:cNvPr>
          <p:cNvSpPr txBox="1"/>
          <p:nvPr/>
        </p:nvSpPr>
        <p:spPr>
          <a:xfrm>
            <a:off x="14325600" y="327297"/>
            <a:ext cx="28194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ptos" panose="02110004020202020204"/>
                <a:cs typeface="B Titr" panose="00000700000000000000" pitchFamily="2" charset="-78"/>
              </a:rPr>
              <a:t>Efficient S</a:t>
            </a:r>
            <a:r>
              <a:rPr lang="en-US" sz="1600" b="1" dirty="0">
                <a:solidFill>
                  <a:srgbClr val="22C4C9"/>
                </a:solidFill>
                <a:latin typeface=" "/>
                <a:cs typeface="B Titr" panose="00000700000000000000" pitchFamily="2" charset="-78"/>
              </a:rPr>
              <a:t>uper-Resolution</a:t>
            </a:r>
            <a:endParaRPr lang="fa-IR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DF1F59C-31B4-D6C0-7CA9-B5E82D985B80}"/>
              </a:ext>
            </a:extLst>
          </p:cNvPr>
          <p:cNvSpPr txBox="1"/>
          <p:nvPr/>
        </p:nvSpPr>
        <p:spPr>
          <a:xfrm>
            <a:off x="1295400" y="395198"/>
            <a:ext cx="15240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b="1" dirty="0" err="1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IAFMNet</a:t>
            </a:r>
            <a:endParaRPr lang="fa-IR" b="1" dirty="0">
              <a:solidFill>
                <a:srgbClr val="22C4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D1E658-0A30-D53F-941B-793092F5274C}"/>
              </a:ext>
            </a:extLst>
          </p:cNvPr>
          <p:cNvSpPr txBox="1"/>
          <p:nvPr/>
        </p:nvSpPr>
        <p:spPr>
          <a:xfrm>
            <a:off x="1257300" y="9693409"/>
            <a:ext cx="14820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Xu, J., Liu, M., Wang, Z., Wu, F., Wu, S., Huang, T., &amp; Dong, W. (2026). </a:t>
            </a:r>
            <a:r>
              <a:rPr lang="en-US" sz="12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IAFMNet</a:t>
            </a:r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Information-Aware Feature Modulation for Efficient Super-Resolution. In Proceedings of the IEEE/CVF Conference on Computer Vision and Pattern Recognition (pp. 30564-30573).</a:t>
            </a:r>
            <a:endParaRPr lang="fa-IR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667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C5BC237-F8A7-AEB7-FF85-978B7ADD0F67}"/>
              </a:ext>
            </a:extLst>
          </p:cNvPr>
          <p:cNvSpPr txBox="1"/>
          <p:nvPr/>
        </p:nvSpPr>
        <p:spPr>
          <a:xfrm>
            <a:off x="8382001" y="1790700"/>
            <a:ext cx="828122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B Titr" panose="00000700000000000000" pitchFamily="2" charset="-78"/>
              </a:rPr>
              <a:t>تخمین</a:t>
            </a:r>
            <a:r>
              <a:rPr kumimoji="0" lang="fa-I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B Titr" panose="00000700000000000000" pitchFamily="2" charset="-78"/>
              </a:rPr>
              <a:t> 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چگ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الی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: </a:t>
            </a:r>
            <a:r>
              <a:rPr lang="en-US" sz="3200" b="1" u="sng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B Titr" panose="00000700000000000000" pitchFamily="2" charset="-78"/>
              </a:rPr>
              <a:t>Information Density Estimator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B Titr" panose="00000700000000000000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F2C81F-8631-417E-61E5-445382EAD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9"/>
          <a:stretch/>
        </p:blipFill>
        <p:spPr>
          <a:xfrm>
            <a:off x="17221200" y="0"/>
            <a:ext cx="1066800" cy="128396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A4C5EA-E404-83E0-9783-BA41CDA0C8AF}"/>
              </a:ext>
            </a:extLst>
          </p:cNvPr>
          <p:cNvCxnSpPr/>
          <p:nvPr/>
        </p:nvCxnSpPr>
        <p:spPr>
          <a:xfrm>
            <a:off x="1295400" y="800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62688F-9798-1FED-9114-2F5DBAA53FF2}"/>
              </a:ext>
            </a:extLst>
          </p:cNvPr>
          <p:cNvCxnSpPr/>
          <p:nvPr/>
        </p:nvCxnSpPr>
        <p:spPr>
          <a:xfrm>
            <a:off x="1257300" y="9563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90EAC38-9849-53F6-E5E7-A0A1D1D89E46}"/>
              </a:ext>
            </a:extLst>
          </p:cNvPr>
          <p:cNvSpPr txBox="1"/>
          <p:nvPr/>
        </p:nvSpPr>
        <p:spPr>
          <a:xfrm>
            <a:off x="16635608" y="9639300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09</a:t>
            </a:r>
            <a:endParaRPr lang="fa-I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1614AD-3114-8BAB-732F-74506316F444}"/>
              </a:ext>
            </a:extLst>
          </p:cNvPr>
          <p:cNvSpPr txBox="1"/>
          <p:nvPr/>
        </p:nvSpPr>
        <p:spPr>
          <a:xfrm>
            <a:off x="16176042" y="9648785"/>
            <a:ext cx="585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/ 19</a:t>
            </a:r>
            <a:endParaRPr lang="fa-IR" dirty="0"/>
          </a:p>
        </p:txBody>
      </p:sp>
      <p:sp>
        <p:nvSpPr>
          <p:cNvPr id="4" name="AutoShape 15">
            <a:extLst>
              <a:ext uri="{FF2B5EF4-FFF2-40B4-BE49-F238E27FC236}">
                <a16:creationId xmlns:a16="http://schemas.microsoft.com/office/drawing/2014/main" id="{C4FC02C0-B56A-0830-46E3-B07274CB0DE0}"/>
              </a:ext>
            </a:extLst>
          </p:cNvPr>
          <p:cNvSpPr/>
          <p:nvPr/>
        </p:nvSpPr>
        <p:spPr>
          <a:xfrm>
            <a:off x="3251916" y="9122626"/>
            <a:ext cx="11530884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grpSp>
        <p:nvGrpSpPr>
          <p:cNvPr id="5" name="Group 16">
            <a:extLst>
              <a:ext uri="{FF2B5EF4-FFF2-40B4-BE49-F238E27FC236}">
                <a16:creationId xmlns:a16="http://schemas.microsoft.com/office/drawing/2014/main" id="{BDE7A336-B622-F3D1-F418-C3B0CA68A151}"/>
              </a:ext>
            </a:extLst>
          </p:cNvPr>
          <p:cNvGrpSpPr/>
          <p:nvPr/>
        </p:nvGrpSpPr>
        <p:grpSpPr>
          <a:xfrm rot="-5400000">
            <a:off x="2797195" y="8804860"/>
            <a:ext cx="667355" cy="687106"/>
            <a:chOff x="0" y="0"/>
            <a:chExt cx="812800" cy="812800"/>
          </a:xfrm>
        </p:grpSpPr>
        <p:sp>
          <p:nvSpPr>
            <p:cNvPr id="6" name="Freeform 17">
              <a:extLst>
                <a:ext uri="{FF2B5EF4-FFF2-40B4-BE49-F238E27FC236}">
                  <a16:creationId xmlns:a16="http://schemas.microsoft.com/office/drawing/2014/main" id="{5DCEB216-3807-2771-741A-A499320FB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7" name="TextBox 18">
              <a:extLst>
                <a:ext uri="{FF2B5EF4-FFF2-40B4-BE49-F238E27FC236}">
                  <a16:creationId xmlns:a16="http://schemas.microsoft.com/office/drawing/2014/main" id="{3A31615D-70A5-BD9E-B79F-17864B452138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19">
            <a:extLst>
              <a:ext uri="{FF2B5EF4-FFF2-40B4-BE49-F238E27FC236}">
                <a16:creationId xmlns:a16="http://schemas.microsoft.com/office/drawing/2014/main" id="{EAC3830A-6176-3B16-8EE2-1FDC517B3E73}"/>
              </a:ext>
            </a:extLst>
          </p:cNvPr>
          <p:cNvGrpSpPr/>
          <p:nvPr/>
        </p:nvGrpSpPr>
        <p:grpSpPr>
          <a:xfrm rot="-5400000">
            <a:off x="6666861" y="8804860"/>
            <a:ext cx="667355" cy="687106"/>
            <a:chOff x="0" y="0"/>
            <a:chExt cx="812800" cy="812800"/>
          </a:xfrm>
        </p:grpSpPr>
        <p:sp>
          <p:nvSpPr>
            <p:cNvPr id="9" name="Freeform 20">
              <a:extLst>
                <a:ext uri="{FF2B5EF4-FFF2-40B4-BE49-F238E27FC236}">
                  <a16:creationId xmlns:a16="http://schemas.microsoft.com/office/drawing/2014/main" id="{6216871C-7632-5422-D8C4-C228DF98B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10" name="TextBox 21">
              <a:extLst>
                <a:ext uri="{FF2B5EF4-FFF2-40B4-BE49-F238E27FC236}">
                  <a16:creationId xmlns:a16="http://schemas.microsoft.com/office/drawing/2014/main" id="{29E18D1B-E27A-07C3-C4C4-739B8CE8EF4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DB3A361E-DAF6-9C0C-D8AA-EAF48F22AB99}"/>
              </a:ext>
            </a:extLst>
          </p:cNvPr>
          <p:cNvGrpSpPr/>
          <p:nvPr/>
        </p:nvGrpSpPr>
        <p:grpSpPr>
          <a:xfrm rot="-5400000">
            <a:off x="10538615" y="8804860"/>
            <a:ext cx="667355" cy="687106"/>
            <a:chOff x="0" y="0"/>
            <a:chExt cx="812800" cy="812800"/>
          </a:xfrm>
        </p:grpSpPr>
        <p:sp>
          <p:nvSpPr>
            <p:cNvPr id="50" name="Freeform 23">
              <a:extLst>
                <a:ext uri="{FF2B5EF4-FFF2-40B4-BE49-F238E27FC236}">
                  <a16:creationId xmlns:a16="http://schemas.microsoft.com/office/drawing/2014/main" id="{4DAE7F71-AF27-655F-D461-28A4EDCED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</p:sp>
        <p:sp>
          <p:nvSpPr>
            <p:cNvPr id="60" name="TextBox 24">
              <a:extLst>
                <a:ext uri="{FF2B5EF4-FFF2-40B4-BE49-F238E27FC236}">
                  <a16:creationId xmlns:a16="http://schemas.microsoft.com/office/drawing/2014/main" id="{9AB94623-BF46-0E87-EA75-4165637FF36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1" name="Group 25">
            <a:extLst>
              <a:ext uri="{FF2B5EF4-FFF2-40B4-BE49-F238E27FC236}">
                <a16:creationId xmlns:a16="http://schemas.microsoft.com/office/drawing/2014/main" id="{D5ED0F7B-AB5F-337B-0FDA-C5856DC44B6B}"/>
              </a:ext>
            </a:extLst>
          </p:cNvPr>
          <p:cNvGrpSpPr/>
          <p:nvPr/>
        </p:nvGrpSpPr>
        <p:grpSpPr>
          <a:xfrm rot="-5400000">
            <a:off x="14410369" y="8804860"/>
            <a:ext cx="667355" cy="687106"/>
            <a:chOff x="0" y="0"/>
            <a:chExt cx="812800" cy="812800"/>
          </a:xfrm>
        </p:grpSpPr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7D8014C9-2B0C-AC99-4A55-3D2A6FB8B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3" name="TextBox 27">
              <a:extLst>
                <a:ext uri="{FF2B5EF4-FFF2-40B4-BE49-F238E27FC236}">
                  <a16:creationId xmlns:a16="http://schemas.microsoft.com/office/drawing/2014/main" id="{86D3AB7D-0E07-473B-E807-72BA8DA3E51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4" name="TextBox 39">
            <a:extLst>
              <a:ext uri="{FF2B5EF4-FFF2-40B4-BE49-F238E27FC236}">
                <a16:creationId xmlns:a16="http://schemas.microsoft.com/office/drawing/2014/main" id="{AAFB2601-CE5E-5E6C-3429-E8DB76A2708E}"/>
              </a:ext>
            </a:extLst>
          </p:cNvPr>
          <p:cNvSpPr txBox="1"/>
          <p:nvPr/>
        </p:nvSpPr>
        <p:spPr>
          <a:xfrm>
            <a:off x="14579748" y="8814734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solidFill>
                  <a:srgbClr val="22C4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65" name="TextBox 40">
            <a:extLst>
              <a:ext uri="{FF2B5EF4-FFF2-40B4-BE49-F238E27FC236}">
                <a16:creationId xmlns:a16="http://schemas.microsoft.com/office/drawing/2014/main" id="{97C2E846-A1E1-EF22-09AA-FAF75E60E2C1}"/>
              </a:ext>
            </a:extLst>
          </p:cNvPr>
          <p:cNvSpPr txBox="1"/>
          <p:nvPr/>
        </p:nvSpPr>
        <p:spPr>
          <a:xfrm>
            <a:off x="10701666" y="8801100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66" name="TextBox 41">
            <a:extLst>
              <a:ext uri="{FF2B5EF4-FFF2-40B4-BE49-F238E27FC236}">
                <a16:creationId xmlns:a16="http://schemas.microsoft.com/office/drawing/2014/main" id="{927DC158-62EC-5F2C-FA49-9B101E5D80F9}"/>
              </a:ext>
            </a:extLst>
          </p:cNvPr>
          <p:cNvSpPr txBox="1"/>
          <p:nvPr/>
        </p:nvSpPr>
        <p:spPr>
          <a:xfrm>
            <a:off x="6842227" y="8824363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solidFill>
                  <a:srgbClr val="22C4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67" name="TextBox 42">
            <a:extLst>
              <a:ext uri="{FF2B5EF4-FFF2-40B4-BE49-F238E27FC236}">
                <a16:creationId xmlns:a16="http://schemas.microsoft.com/office/drawing/2014/main" id="{7F62EEA9-5D15-611A-92CA-3F2A36D1D358}"/>
              </a:ext>
            </a:extLst>
          </p:cNvPr>
          <p:cNvSpPr txBox="1"/>
          <p:nvPr/>
        </p:nvSpPr>
        <p:spPr>
          <a:xfrm>
            <a:off x="2941764" y="8828146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  <a:endParaRPr lang="en-US" sz="3172" b="1" dirty="0"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31FCC52-B727-8FC6-C141-CC17D54AE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067" y="2876203"/>
            <a:ext cx="3962401" cy="36089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99B8C6F-C99A-B187-948F-43E32F4B6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612" y="2870960"/>
            <a:ext cx="3962401" cy="360895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6302DEB-7CCF-311E-037F-C227EE2FEE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52157" y="2913795"/>
            <a:ext cx="3995084" cy="3642802"/>
          </a:xfrm>
          <a:prstGeom prst="rect">
            <a:avLst/>
          </a:prstGeom>
        </p:spPr>
      </p:pic>
      <p:sp>
        <p:nvSpPr>
          <p:cNvPr id="24" name="Arrow: Right 23">
            <a:extLst>
              <a:ext uri="{FF2B5EF4-FFF2-40B4-BE49-F238E27FC236}">
                <a16:creationId xmlns:a16="http://schemas.microsoft.com/office/drawing/2014/main" id="{5FA25125-67F0-C8F2-CBF9-BF65745E039A}"/>
              </a:ext>
            </a:extLst>
          </p:cNvPr>
          <p:cNvSpPr/>
          <p:nvPr/>
        </p:nvSpPr>
        <p:spPr>
          <a:xfrm>
            <a:off x="6627531" y="4752826"/>
            <a:ext cx="687107" cy="380997"/>
          </a:xfrm>
          <a:prstGeom prst="rightArrow">
            <a:avLst/>
          </a:prstGeom>
          <a:solidFill>
            <a:srgbClr val="6D68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DC264DD-C772-0911-FCC4-18B21CE08668}"/>
              </a:ext>
            </a:extLst>
          </p:cNvPr>
          <p:cNvSpPr/>
          <p:nvPr/>
        </p:nvSpPr>
        <p:spPr>
          <a:xfrm>
            <a:off x="11177415" y="4752825"/>
            <a:ext cx="687107" cy="380997"/>
          </a:xfrm>
          <a:prstGeom prst="rightArrow">
            <a:avLst/>
          </a:prstGeom>
          <a:solidFill>
            <a:srgbClr val="6D68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366E5D7-8A8A-6032-DB7E-F562971376BF}"/>
              </a:ext>
            </a:extLst>
          </p:cNvPr>
          <p:cNvSpPr/>
          <p:nvPr/>
        </p:nvSpPr>
        <p:spPr>
          <a:xfrm>
            <a:off x="1694125" y="7581900"/>
            <a:ext cx="15339433" cy="934765"/>
          </a:xfrm>
          <a:prstGeom prst="roundRect">
            <a:avLst>
              <a:gd name="adj" fmla="val 7159"/>
            </a:avLst>
          </a:prstGeom>
          <a:solidFill>
            <a:srgbClr val="202127"/>
          </a:solidFill>
        </p:spPr>
        <p:txBody>
          <a:bodyPr/>
          <a:lstStyle/>
          <a:p>
            <a:endParaRPr lang="fa-IR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212B34-9F2E-0768-96D8-86C8EB232B06}"/>
              </a:ext>
            </a:extLst>
          </p:cNvPr>
          <p:cNvSpPr txBox="1"/>
          <p:nvPr/>
        </p:nvSpPr>
        <p:spPr>
          <a:xfrm>
            <a:off x="2133600" y="7746307"/>
            <a:ext cx="1402080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2000" b="1" dirty="0">
                <a:solidFill>
                  <a:schemeClr val="bg1">
                    <a:lumMod val="95000"/>
                  </a:schemeClr>
                </a:solidFill>
                <a:latin typeface=" "/>
                <a:cs typeface="B Nazanin" panose="00000400000000000000" pitchFamily="2" charset="-78"/>
              </a:rPr>
              <a:t>اگر احتمال وقوع یک ویژگی </a:t>
            </a:r>
            <a:r>
              <a:rPr lang="fa-IR" sz="2000" b="1" dirty="0">
                <a:solidFill>
                  <a:srgbClr val="FF0000"/>
                </a:solidFill>
                <a:latin typeface=" "/>
                <a:cs typeface="B Nazanin" panose="00000400000000000000" pitchFamily="2" charset="-78"/>
              </a:rPr>
              <a:t>پایین</a:t>
            </a:r>
            <a:r>
              <a:rPr lang="fa-IR" sz="2000" b="1" dirty="0">
                <a:solidFill>
                  <a:schemeClr val="bg1">
                    <a:lumMod val="95000"/>
                  </a:schemeClr>
                </a:solidFill>
                <a:latin typeface=" "/>
                <a:cs typeface="B Nazanin" panose="00000400000000000000" pitchFamily="2" charset="-78"/>
              </a:rPr>
              <a:t> باشد، مقدار منفی لگاریتم احتمال، </a:t>
            </a:r>
            <a:r>
              <a:rPr lang="fa-IR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 "/>
                <a:cs typeface="B Nazanin" panose="00000400000000000000" pitchFamily="2" charset="-78"/>
              </a:rPr>
              <a:t>افزایش</a:t>
            </a:r>
            <a:r>
              <a:rPr lang="fa-IR" sz="2000" b="1" dirty="0">
                <a:solidFill>
                  <a:schemeClr val="bg1">
                    <a:lumMod val="95000"/>
                  </a:schemeClr>
                </a:solidFill>
                <a:latin typeface=" "/>
                <a:cs typeface="B Nazanin" panose="00000400000000000000" pitchFamily="2" charset="-78"/>
              </a:rPr>
              <a:t> پیدا می‌کند و شبکه </a:t>
            </a:r>
            <a:r>
              <a:rPr lang="fa-IR" sz="2000" b="1" dirty="0">
                <a:solidFill>
                  <a:srgbClr val="FF0000"/>
                </a:solidFill>
                <a:latin typeface=" "/>
                <a:cs typeface="B Nazanin" panose="00000400000000000000" pitchFamily="2" charset="-78"/>
              </a:rPr>
              <a:t>جریمه</a:t>
            </a:r>
            <a:r>
              <a:rPr lang="fa-IR" sz="2000" b="1" dirty="0">
                <a:solidFill>
                  <a:schemeClr val="bg1">
                    <a:lumMod val="95000"/>
                  </a:schemeClr>
                </a:solidFill>
                <a:latin typeface=" "/>
                <a:cs typeface="B Nazanin" panose="00000400000000000000" pitchFamily="2" charset="-78"/>
              </a:rPr>
              <a:t> </a:t>
            </a:r>
            <a:r>
              <a:rPr lang="fa-IR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 "/>
                <a:cs typeface="B Nazanin" panose="00000400000000000000" pitchFamily="2" charset="-78"/>
              </a:rPr>
              <a:t>بیشتری</a:t>
            </a:r>
            <a:r>
              <a:rPr lang="fa-IR" sz="2000" b="1" dirty="0">
                <a:solidFill>
                  <a:schemeClr val="bg1">
                    <a:lumMod val="95000"/>
                  </a:schemeClr>
                </a:solidFill>
                <a:latin typeface=" "/>
                <a:cs typeface="B Nazanin" panose="00000400000000000000" pitchFamily="2" charset="-78"/>
              </a:rPr>
              <a:t> دریافت می‌کند. در نتیجه نواحی</a:t>
            </a:r>
            <a:r>
              <a:rPr lang="fa-IR" sz="20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 "/>
                <a:cs typeface="B Nazanin" panose="00000400000000000000" pitchFamily="2" charset="-78"/>
              </a:rPr>
              <a:t> غیرقابل پیش‌بینی</a:t>
            </a:r>
            <a:r>
              <a:rPr lang="fa-IR" sz="2000" b="1" dirty="0">
                <a:solidFill>
                  <a:schemeClr val="bg1">
                    <a:lumMod val="95000"/>
                  </a:schemeClr>
                </a:solidFill>
                <a:latin typeface=" "/>
                <a:cs typeface="B Nazanin" panose="00000400000000000000" pitchFamily="2" charset="-78"/>
              </a:rPr>
              <a:t> یا دارای اطلاعات زیاد، به عنوان </a:t>
            </a:r>
            <a:r>
              <a:rPr lang="fa-IR" sz="2000" b="1" dirty="0">
                <a:solidFill>
                  <a:srgbClr val="22C4C9"/>
                </a:solidFill>
                <a:latin typeface=" "/>
                <a:cs typeface="B Nazanin" panose="00000400000000000000" pitchFamily="2" charset="-78"/>
              </a:rPr>
              <a:t>نواحی مهم </a:t>
            </a:r>
            <a:r>
              <a:rPr lang="fa-IR" sz="2000" b="1" dirty="0">
                <a:solidFill>
                  <a:schemeClr val="bg1">
                    <a:lumMod val="95000"/>
                  </a:schemeClr>
                </a:solidFill>
                <a:latin typeface=" "/>
                <a:cs typeface="B Nazanin" panose="00000400000000000000" pitchFamily="2" charset="-78"/>
              </a:rPr>
              <a:t>شناسایی می‌شوند و </a:t>
            </a:r>
            <a:r>
              <a:rPr lang="en-US" sz="2000" b="1" u="sng" dirty="0">
                <a:solidFill>
                  <a:srgbClr val="22C4C9"/>
                </a:solidFill>
                <a:latin typeface=" "/>
                <a:cs typeface="B Nazanin" panose="00000400000000000000" pitchFamily="2" charset="-78"/>
              </a:rPr>
              <a:t>Information Density Map </a:t>
            </a:r>
            <a:r>
              <a:rPr lang="fa-IR" sz="2000" b="1" dirty="0">
                <a:solidFill>
                  <a:schemeClr val="bg1">
                    <a:lumMod val="95000"/>
                  </a:schemeClr>
                </a:solidFill>
                <a:latin typeface=" "/>
                <a:cs typeface="B Nazanin" panose="00000400000000000000" pitchFamily="2" charset="-78"/>
              </a:rPr>
              <a:t>شکل می‌گیرد.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D885116-140F-6675-8134-09A8595E5C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7579" y="6690650"/>
            <a:ext cx="3780145" cy="36192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8877E26-27EB-FE9F-337F-571E459728D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3400" b="28755"/>
          <a:stretch/>
        </p:blipFill>
        <p:spPr>
          <a:xfrm>
            <a:off x="7945436" y="6682133"/>
            <a:ext cx="2143843" cy="58652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643369E-12E2-270F-1736-5E65603301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42448" y="6690650"/>
            <a:ext cx="4030951" cy="68184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1A68A47-7C52-0EBA-9705-08F9A8BB7931}"/>
              </a:ext>
            </a:extLst>
          </p:cNvPr>
          <p:cNvSpPr txBox="1"/>
          <p:nvPr/>
        </p:nvSpPr>
        <p:spPr>
          <a:xfrm>
            <a:off x="14325600" y="327297"/>
            <a:ext cx="28194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ptos" panose="02110004020202020204"/>
                <a:cs typeface="B Titr" panose="00000700000000000000" pitchFamily="2" charset="-78"/>
              </a:rPr>
              <a:t>Efficient S</a:t>
            </a:r>
            <a:r>
              <a:rPr lang="en-US" sz="1600" b="1" dirty="0">
                <a:solidFill>
                  <a:srgbClr val="22C4C9"/>
                </a:solidFill>
                <a:latin typeface=" "/>
                <a:cs typeface="B Titr" panose="00000700000000000000" pitchFamily="2" charset="-78"/>
              </a:rPr>
              <a:t>uper-Resolution</a:t>
            </a:r>
            <a:endParaRPr lang="fa-IR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04BF4D-BC72-2A8F-1EC7-FA2A3DBAAAD1}"/>
              </a:ext>
            </a:extLst>
          </p:cNvPr>
          <p:cNvSpPr txBox="1"/>
          <p:nvPr/>
        </p:nvSpPr>
        <p:spPr>
          <a:xfrm>
            <a:off x="1295400" y="395198"/>
            <a:ext cx="15240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b="1" dirty="0" err="1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IAFMNet</a:t>
            </a:r>
            <a:endParaRPr lang="fa-IR" b="1" dirty="0">
              <a:solidFill>
                <a:srgbClr val="22C4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3B2F0F-C15F-1E90-41A2-5EC0AD8824E5}"/>
              </a:ext>
            </a:extLst>
          </p:cNvPr>
          <p:cNvSpPr txBox="1"/>
          <p:nvPr/>
        </p:nvSpPr>
        <p:spPr>
          <a:xfrm>
            <a:off x="1257300" y="9693409"/>
            <a:ext cx="14820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Xu, J., Liu, M., Wang, Z., Wu, F., Wu, S., Huang, T., &amp; Dong, W. (2026). </a:t>
            </a:r>
            <a:r>
              <a:rPr lang="en-US" sz="12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IAFMNet</a:t>
            </a:r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Information-Aware Feature Modulation for Efficient Super-Resolution. In Proceedings of the IEEE/CVF Conference on Computer Vision and Pattern Recognition (pp. 30564-30573).</a:t>
            </a:r>
            <a:endParaRPr lang="fa-IR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442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C5BC237-F8A7-AEB7-FF85-978B7ADD0F67}"/>
              </a:ext>
            </a:extLst>
          </p:cNvPr>
          <p:cNvSpPr txBox="1"/>
          <p:nvPr/>
        </p:nvSpPr>
        <p:spPr>
          <a:xfrm>
            <a:off x="9001075" y="1963367"/>
            <a:ext cx="806772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تقویت چگالی: </a:t>
            </a:r>
            <a:r>
              <a:rPr kumimoji="0" lang="en-US" sz="32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B Titr" panose="00000700000000000000" pitchFamily="2" charset="-78"/>
              </a:rPr>
              <a:t>IFEB Blocks (IGRA + ARM)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F2C81F-8631-417E-61E5-445382EAD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9"/>
          <a:stretch/>
        </p:blipFill>
        <p:spPr>
          <a:xfrm>
            <a:off x="17221200" y="0"/>
            <a:ext cx="1066800" cy="128396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A4C5EA-E404-83E0-9783-BA41CDA0C8AF}"/>
              </a:ext>
            </a:extLst>
          </p:cNvPr>
          <p:cNvCxnSpPr/>
          <p:nvPr/>
        </p:nvCxnSpPr>
        <p:spPr>
          <a:xfrm>
            <a:off x="1295400" y="800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62688F-9798-1FED-9114-2F5DBAA53FF2}"/>
              </a:ext>
            </a:extLst>
          </p:cNvPr>
          <p:cNvCxnSpPr/>
          <p:nvPr/>
        </p:nvCxnSpPr>
        <p:spPr>
          <a:xfrm>
            <a:off x="1257300" y="9563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90EAC38-9849-53F6-E5E7-A0A1D1D89E46}"/>
              </a:ext>
            </a:extLst>
          </p:cNvPr>
          <p:cNvSpPr txBox="1"/>
          <p:nvPr/>
        </p:nvSpPr>
        <p:spPr>
          <a:xfrm>
            <a:off x="16635608" y="9639300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10</a:t>
            </a:r>
            <a:endParaRPr lang="fa-I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1614AD-3114-8BAB-732F-74506316F444}"/>
              </a:ext>
            </a:extLst>
          </p:cNvPr>
          <p:cNvSpPr txBox="1"/>
          <p:nvPr/>
        </p:nvSpPr>
        <p:spPr>
          <a:xfrm>
            <a:off x="16176042" y="9648785"/>
            <a:ext cx="585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/ 19</a:t>
            </a:r>
            <a:endParaRPr lang="fa-IR" dirty="0"/>
          </a:p>
        </p:txBody>
      </p:sp>
      <p:sp>
        <p:nvSpPr>
          <p:cNvPr id="4" name="AutoShape 15">
            <a:extLst>
              <a:ext uri="{FF2B5EF4-FFF2-40B4-BE49-F238E27FC236}">
                <a16:creationId xmlns:a16="http://schemas.microsoft.com/office/drawing/2014/main" id="{C4FC02C0-B56A-0830-46E3-B07274CB0DE0}"/>
              </a:ext>
            </a:extLst>
          </p:cNvPr>
          <p:cNvSpPr/>
          <p:nvPr/>
        </p:nvSpPr>
        <p:spPr>
          <a:xfrm>
            <a:off x="3251916" y="9122626"/>
            <a:ext cx="11530884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grpSp>
        <p:nvGrpSpPr>
          <p:cNvPr id="5" name="Group 16">
            <a:extLst>
              <a:ext uri="{FF2B5EF4-FFF2-40B4-BE49-F238E27FC236}">
                <a16:creationId xmlns:a16="http://schemas.microsoft.com/office/drawing/2014/main" id="{BDE7A336-B622-F3D1-F418-C3B0CA68A151}"/>
              </a:ext>
            </a:extLst>
          </p:cNvPr>
          <p:cNvGrpSpPr/>
          <p:nvPr/>
        </p:nvGrpSpPr>
        <p:grpSpPr>
          <a:xfrm rot="-5400000">
            <a:off x="2797195" y="8804860"/>
            <a:ext cx="667355" cy="687106"/>
            <a:chOff x="0" y="0"/>
            <a:chExt cx="812800" cy="812800"/>
          </a:xfrm>
        </p:grpSpPr>
        <p:sp>
          <p:nvSpPr>
            <p:cNvPr id="6" name="Freeform 17">
              <a:extLst>
                <a:ext uri="{FF2B5EF4-FFF2-40B4-BE49-F238E27FC236}">
                  <a16:creationId xmlns:a16="http://schemas.microsoft.com/office/drawing/2014/main" id="{5DCEB216-3807-2771-741A-A499320FB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7" name="TextBox 18">
              <a:extLst>
                <a:ext uri="{FF2B5EF4-FFF2-40B4-BE49-F238E27FC236}">
                  <a16:creationId xmlns:a16="http://schemas.microsoft.com/office/drawing/2014/main" id="{3A31615D-70A5-BD9E-B79F-17864B452138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19">
            <a:extLst>
              <a:ext uri="{FF2B5EF4-FFF2-40B4-BE49-F238E27FC236}">
                <a16:creationId xmlns:a16="http://schemas.microsoft.com/office/drawing/2014/main" id="{EAC3830A-6176-3B16-8EE2-1FDC517B3E73}"/>
              </a:ext>
            </a:extLst>
          </p:cNvPr>
          <p:cNvGrpSpPr/>
          <p:nvPr/>
        </p:nvGrpSpPr>
        <p:grpSpPr>
          <a:xfrm rot="-5400000">
            <a:off x="6666861" y="8804860"/>
            <a:ext cx="667355" cy="687106"/>
            <a:chOff x="0" y="0"/>
            <a:chExt cx="812800" cy="812800"/>
          </a:xfrm>
        </p:grpSpPr>
        <p:sp>
          <p:nvSpPr>
            <p:cNvPr id="9" name="Freeform 20">
              <a:extLst>
                <a:ext uri="{FF2B5EF4-FFF2-40B4-BE49-F238E27FC236}">
                  <a16:creationId xmlns:a16="http://schemas.microsoft.com/office/drawing/2014/main" id="{6216871C-7632-5422-D8C4-C228DF98B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sp>
        <p:sp>
          <p:nvSpPr>
            <p:cNvPr id="10" name="TextBox 21">
              <a:extLst>
                <a:ext uri="{FF2B5EF4-FFF2-40B4-BE49-F238E27FC236}">
                  <a16:creationId xmlns:a16="http://schemas.microsoft.com/office/drawing/2014/main" id="{29E18D1B-E27A-07C3-C4C4-739B8CE8EF4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DB3A361E-DAF6-9C0C-D8AA-EAF48F22AB99}"/>
              </a:ext>
            </a:extLst>
          </p:cNvPr>
          <p:cNvGrpSpPr/>
          <p:nvPr/>
        </p:nvGrpSpPr>
        <p:grpSpPr>
          <a:xfrm rot="-5400000">
            <a:off x="10538615" y="8804860"/>
            <a:ext cx="667355" cy="687106"/>
            <a:chOff x="0" y="0"/>
            <a:chExt cx="812800" cy="812800"/>
          </a:xfrm>
        </p:grpSpPr>
        <p:sp>
          <p:nvSpPr>
            <p:cNvPr id="50" name="Freeform 23">
              <a:extLst>
                <a:ext uri="{FF2B5EF4-FFF2-40B4-BE49-F238E27FC236}">
                  <a16:creationId xmlns:a16="http://schemas.microsoft.com/office/drawing/2014/main" id="{4DAE7F71-AF27-655F-D461-28A4EDCED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0" name="TextBox 24">
              <a:extLst>
                <a:ext uri="{FF2B5EF4-FFF2-40B4-BE49-F238E27FC236}">
                  <a16:creationId xmlns:a16="http://schemas.microsoft.com/office/drawing/2014/main" id="{9AB94623-BF46-0E87-EA75-4165637FF36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1" name="Group 25">
            <a:extLst>
              <a:ext uri="{FF2B5EF4-FFF2-40B4-BE49-F238E27FC236}">
                <a16:creationId xmlns:a16="http://schemas.microsoft.com/office/drawing/2014/main" id="{D5ED0F7B-AB5F-337B-0FDA-C5856DC44B6B}"/>
              </a:ext>
            </a:extLst>
          </p:cNvPr>
          <p:cNvGrpSpPr/>
          <p:nvPr/>
        </p:nvGrpSpPr>
        <p:grpSpPr>
          <a:xfrm rot="-5400000">
            <a:off x="14410369" y="8804860"/>
            <a:ext cx="667355" cy="687106"/>
            <a:chOff x="0" y="0"/>
            <a:chExt cx="812800" cy="812800"/>
          </a:xfrm>
        </p:grpSpPr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7D8014C9-2B0C-AC99-4A55-3D2A6FB8B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3" name="TextBox 27">
              <a:extLst>
                <a:ext uri="{FF2B5EF4-FFF2-40B4-BE49-F238E27FC236}">
                  <a16:creationId xmlns:a16="http://schemas.microsoft.com/office/drawing/2014/main" id="{86D3AB7D-0E07-473B-E807-72BA8DA3E51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4" name="TextBox 39">
            <a:extLst>
              <a:ext uri="{FF2B5EF4-FFF2-40B4-BE49-F238E27FC236}">
                <a16:creationId xmlns:a16="http://schemas.microsoft.com/office/drawing/2014/main" id="{AAFB2601-CE5E-5E6C-3429-E8DB76A2708E}"/>
              </a:ext>
            </a:extLst>
          </p:cNvPr>
          <p:cNvSpPr txBox="1"/>
          <p:nvPr/>
        </p:nvSpPr>
        <p:spPr>
          <a:xfrm>
            <a:off x="14579748" y="8814734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solidFill>
                  <a:srgbClr val="22C4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65" name="TextBox 40">
            <a:extLst>
              <a:ext uri="{FF2B5EF4-FFF2-40B4-BE49-F238E27FC236}">
                <a16:creationId xmlns:a16="http://schemas.microsoft.com/office/drawing/2014/main" id="{97C2E846-A1E1-EF22-09AA-FAF75E60E2C1}"/>
              </a:ext>
            </a:extLst>
          </p:cNvPr>
          <p:cNvSpPr txBox="1"/>
          <p:nvPr/>
        </p:nvSpPr>
        <p:spPr>
          <a:xfrm>
            <a:off x="10701666" y="8801100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66" name="TextBox 41">
            <a:extLst>
              <a:ext uri="{FF2B5EF4-FFF2-40B4-BE49-F238E27FC236}">
                <a16:creationId xmlns:a16="http://schemas.microsoft.com/office/drawing/2014/main" id="{927DC158-62EC-5F2C-FA49-9B101E5D80F9}"/>
              </a:ext>
            </a:extLst>
          </p:cNvPr>
          <p:cNvSpPr txBox="1"/>
          <p:nvPr/>
        </p:nvSpPr>
        <p:spPr>
          <a:xfrm>
            <a:off x="6842227" y="8824363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solidFill>
                  <a:srgbClr val="22C4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67" name="TextBox 42">
            <a:extLst>
              <a:ext uri="{FF2B5EF4-FFF2-40B4-BE49-F238E27FC236}">
                <a16:creationId xmlns:a16="http://schemas.microsoft.com/office/drawing/2014/main" id="{7F62EEA9-5D15-611A-92CA-3F2A36D1D358}"/>
              </a:ext>
            </a:extLst>
          </p:cNvPr>
          <p:cNvSpPr txBox="1"/>
          <p:nvPr/>
        </p:nvSpPr>
        <p:spPr>
          <a:xfrm>
            <a:off x="2941764" y="8828146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  <a:endParaRPr lang="en-US" sz="3172" b="1" dirty="0"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ED342BC-8B4D-C6AB-5483-2B6BF82B3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541" y="4029191"/>
            <a:ext cx="8515634" cy="3660928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E29EA6EB-8368-93FD-6368-7E3653059D57}"/>
              </a:ext>
            </a:extLst>
          </p:cNvPr>
          <p:cNvGrpSpPr/>
          <p:nvPr/>
        </p:nvGrpSpPr>
        <p:grpSpPr>
          <a:xfrm>
            <a:off x="10568998" y="3133189"/>
            <a:ext cx="6278833" cy="5466936"/>
            <a:chOff x="10744200" y="3695700"/>
            <a:chExt cx="6665400" cy="5257800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7DA4DE9-7CED-8247-6B53-2DD6E415BB37}"/>
                </a:ext>
              </a:extLst>
            </p:cNvPr>
            <p:cNvSpPr/>
            <p:nvPr/>
          </p:nvSpPr>
          <p:spPr>
            <a:xfrm>
              <a:off x="10744200" y="3695700"/>
              <a:ext cx="6629400" cy="5257800"/>
            </a:xfrm>
            <a:prstGeom prst="roundRect">
              <a:avLst>
                <a:gd name="adj" fmla="val 4040"/>
              </a:avLst>
            </a:prstGeom>
            <a:solidFill>
              <a:srgbClr val="85FFFF">
                <a:alpha val="2000"/>
              </a:srgbClr>
            </a:solidFill>
            <a:ln w="6350">
              <a:solidFill>
                <a:srgbClr val="00FFFF">
                  <a:alpha val="22000"/>
                </a:srgb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ED995B03-FC18-719B-DFF9-AF3C2AF6A73D}"/>
                </a:ext>
              </a:extLst>
            </p:cNvPr>
            <p:cNvSpPr/>
            <p:nvPr/>
          </p:nvSpPr>
          <p:spPr>
            <a:xfrm>
              <a:off x="17373600" y="3876600"/>
              <a:ext cx="36000" cy="4896000"/>
            </a:xfrm>
            <a:prstGeom prst="roundRect">
              <a:avLst/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3518E9D-1609-EAEB-2E14-5A80B7416BF4}"/>
              </a:ext>
            </a:extLst>
          </p:cNvPr>
          <p:cNvCxnSpPr>
            <a:cxnSpLocks/>
          </p:cNvCxnSpPr>
          <p:nvPr/>
        </p:nvCxnSpPr>
        <p:spPr>
          <a:xfrm>
            <a:off x="10965365" y="4152900"/>
            <a:ext cx="5493396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A76D679-3C61-050A-1FE9-F13B69ECAB28}"/>
              </a:ext>
            </a:extLst>
          </p:cNvPr>
          <p:cNvSpPr txBox="1"/>
          <p:nvPr/>
        </p:nvSpPr>
        <p:spPr>
          <a:xfrm>
            <a:off x="10965365" y="3547817"/>
            <a:ext cx="5597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B Titr" panose="00000700000000000000" pitchFamily="2" charset="-78"/>
              </a:rPr>
              <a:t>Information-guided Feature Enhancement Module</a:t>
            </a:r>
            <a:endParaRPr lang="fa-IR" sz="2000" b="1" i="0" dirty="0">
              <a:solidFill>
                <a:srgbClr val="66FCF1"/>
              </a:solidFill>
              <a:effectLst/>
              <a:latin typeface="Noto Sans Arabic"/>
              <a:cs typeface="B Titr" panose="00000700000000000000" pitchFamily="2" charset="-78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2C3FE0-190B-AC22-BA91-2A2E8C0D196B}"/>
              </a:ext>
            </a:extLst>
          </p:cNvPr>
          <p:cNvSpPr txBox="1"/>
          <p:nvPr/>
        </p:nvSpPr>
        <p:spPr>
          <a:xfrm>
            <a:off x="10975465" y="4090335"/>
            <a:ext cx="5493395" cy="4420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rtl="1">
              <a:lnSpc>
                <a:spcPct val="200000"/>
              </a:lnSpc>
              <a:buClr>
                <a:srgbClr val="00FFFF"/>
              </a:buClr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ویژگی‌ها وارد چند</a:t>
            </a:r>
            <a:r>
              <a:rPr lang="en-US" sz="2000" b="1" dirty="0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Information-guided Feature Enhancement Block (IFEB) </a:t>
            </a:r>
            <a:r>
              <a:rPr lang="fa-IR" sz="2000" b="1" dirty="0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می‌شوند.</a:t>
            </a:r>
          </a:p>
          <a:p>
            <a:pPr marL="342900" indent="-342900" algn="just" rtl="1">
              <a:lnSpc>
                <a:spcPct val="200000"/>
              </a:lnSpc>
              <a:buClr>
                <a:srgbClr val="00FFFF"/>
              </a:buClr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طبق مقاله، شبکه اصلی شامل </a:t>
            </a:r>
            <a:r>
              <a:rPr lang="fa-IR" sz="2400" u="sng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۶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IFEB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است.</a:t>
            </a:r>
          </a:p>
          <a:p>
            <a:pPr marL="342900" indent="-342900" algn="just" rtl="1">
              <a:lnSpc>
                <a:spcPct val="200000"/>
              </a:lnSpc>
              <a:buClr>
                <a:srgbClr val="00FFFF"/>
              </a:buClr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هر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IFEB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دو مسیر موازی دارد:</a:t>
            </a:r>
            <a:endParaRPr lang="en-US" sz="2400" dirty="0">
              <a:solidFill>
                <a:schemeClr val="bg1">
                  <a:lumMod val="95000"/>
                </a:schemeClr>
              </a:solidFill>
              <a:cs typeface="B Nazanin" panose="00000400000000000000" pitchFamily="2" charset="-78"/>
            </a:endParaRPr>
          </a:p>
          <a:p>
            <a:pPr marL="800100" lvl="1" indent="-342900" algn="just" rtl="1">
              <a:lnSpc>
                <a:spcPct val="200000"/>
              </a:lnSpc>
              <a:buClr>
                <a:srgbClr val="00FFFF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IGRA</a:t>
            </a:r>
          </a:p>
          <a:p>
            <a:pPr marL="800100" lvl="1" indent="-342900" algn="just" rtl="1">
              <a:lnSpc>
                <a:spcPct val="200000"/>
              </a:lnSpc>
              <a:buClr>
                <a:srgbClr val="00FFFF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ARM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8FC9B5-4F1B-B07F-D82F-E94A7119DCD1}"/>
              </a:ext>
            </a:extLst>
          </p:cNvPr>
          <p:cNvSpPr txBox="1"/>
          <p:nvPr/>
        </p:nvSpPr>
        <p:spPr>
          <a:xfrm>
            <a:off x="14325600" y="327297"/>
            <a:ext cx="28194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ptos" panose="02110004020202020204"/>
                <a:cs typeface="B Titr" panose="00000700000000000000" pitchFamily="2" charset="-78"/>
              </a:rPr>
              <a:t>Efficient S</a:t>
            </a:r>
            <a:r>
              <a:rPr lang="en-US" sz="1600" b="1" dirty="0">
                <a:solidFill>
                  <a:srgbClr val="22C4C9"/>
                </a:solidFill>
                <a:latin typeface=" "/>
                <a:cs typeface="B Titr" panose="00000700000000000000" pitchFamily="2" charset="-78"/>
              </a:rPr>
              <a:t>uper-Resolution</a:t>
            </a:r>
            <a:endParaRPr lang="fa-IR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D7770C-EAF3-1D81-7E85-259A9C9A2025}"/>
              </a:ext>
            </a:extLst>
          </p:cNvPr>
          <p:cNvSpPr txBox="1"/>
          <p:nvPr/>
        </p:nvSpPr>
        <p:spPr>
          <a:xfrm>
            <a:off x="1295400" y="395198"/>
            <a:ext cx="15240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b="1" dirty="0" err="1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IAFMNet</a:t>
            </a:r>
            <a:endParaRPr lang="fa-IR" b="1" dirty="0">
              <a:solidFill>
                <a:srgbClr val="22C4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E4E655-7CA3-B7AA-2999-020B26AEAC59}"/>
              </a:ext>
            </a:extLst>
          </p:cNvPr>
          <p:cNvSpPr txBox="1"/>
          <p:nvPr/>
        </p:nvSpPr>
        <p:spPr>
          <a:xfrm>
            <a:off x="1257300" y="9693409"/>
            <a:ext cx="14820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Xu, J., Liu, M., Wang, Z., Wu, F., Wu, S., Huang, T., &amp; Dong, W. (2026). </a:t>
            </a:r>
            <a:r>
              <a:rPr lang="en-US" sz="12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IAFMNet</a:t>
            </a:r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Information-Aware Feature Modulation for Efficient Super-Resolution. In Proceedings of the IEEE/CVF Conference on Computer Vision and Pattern Recognition (pp. 30564-30573).</a:t>
            </a:r>
            <a:endParaRPr lang="fa-IR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06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C5BC237-F8A7-AEB7-FF85-978B7ADD0F67}"/>
              </a:ext>
            </a:extLst>
          </p:cNvPr>
          <p:cNvSpPr txBox="1"/>
          <p:nvPr/>
        </p:nvSpPr>
        <p:spPr>
          <a:xfrm>
            <a:off x="9001075" y="1963367"/>
            <a:ext cx="806772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تخصیص منابع هدایت‌شده: </a:t>
            </a:r>
            <a:r>
              <a:rPr kumimoji="0" lang="en-US" sz="32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B Titr" panose="00000700000000000000" pitchFamily="2" charset="-78"/>
              </a:rPr>
              <a:t>IGRA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F2C81F-8631-417E-61E5-445382EAD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9"/>
          <a:stretch/>
        </p:blipFill>
        <p:spPr>
          <a:xfrm>
            <a:off x="17221200" y="0"/>
            <a:ext cx="1066800" cy="128396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A4C5EA-E404-83E0-9783-BA41CDA0C8AF}"/>
              </a:ext>
            </a:extLst>
          </p:cNvPr>
          <p:cNvCxnSpPr/>
          <p:nvPr/>
        </p:nvCxnSpPr>
        <p:spPr>
          <a:xfrm>
            <a:off x="1295400" y="800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62688F-9798-1FED-9114-2F5DBAA53FF2}"/>
              </a:ext>
            </a:extLst>
          </p:cNvPr>
          <p:cNvCxnSpPr/>
          <p:nvPr/>
        </p:nvCxnSpPr>
        <p:spPr>
          <a:xfrm>
            <a:off x="1257300" y="9563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90EAC38-9849-53F6-E5E7-A0A1D1D89E46}"/>
              </a:ext>
            </a:extLst>
          </p:cNvPr>
          <p:cNvSpPr txBox="1"/>
          <p:nvPr/>
        </p:nvSpPr>
        <p:spPr>
          <a:xfrm>
            <a:off x="16635608" y="9639300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dirty="0">
                <a:solidFill>
                  <a:srgbClr val="66FCF1"/>
                </a:solidFill>
                <a:latin typeface="Inter"/>
              </a:rPr>
              <a:t>11</a:t>
            </a:r>
            <a:endParaRPr lang="fa-I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1614AD-3114-8BAB-732F-74506316F444}"/>
              </a:ext>
            </a:extLst>
          </p:cNvPr>
          <p:cNvSpPr txBox="1"/>
          <p:nvPr/>
        </p:nvSpPr>
        <p:spPr>
          <a:xfrm>
            <a:off x="16176042" y="9648785"/>
            <a:ext cx="585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/ 19</a:t>
            </a:r>
            <a:endParaRPr lang="fa-IR" dirty="0"/>
          </a:p>
        </p:txBody>
      </p:sp>
      <p:sp>
        <p:nvSpPr>
          <p:cNvPr id="4" name="AutoShape 15">
            <a:extLst>
              <a:ext uri="{FF2B5EF4-FFF2-40B4-BE49-F238E27FC236}">
                <a16:creationId xmlns:a16="http://schemas.microsoft.com/office/drawing/2014/main" id="{C4FC02C0-B56A-0830-46E3-B07274CB0DE0}"/>
              </a:ext>
            </a:extLst>
          </p:cNvPr>
          <p:cNvSpPr/>
          <p:nvPr/>
        </p:nvSpPr>
        <p:spPr>
          <a:xfrm>
            <a:off x="3251916" y="9122626"/>
            <a:ext cx="11530884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grpSp>
        <p:nvGrpSpPr>
          <p:cNvPr id="5" name="Group 16">
            <a:extLst>
              <a:ext uri="{FF2B5EF4-FFF2-40B4-BE49-F238E27FC236}">
                <a16:creationId xmlns:a16="http://schemas.microsoft.com/office/drawing/2014/main" id="{BDE7A336-B622-F3D1-F418-C3B0CA68A151}"/>
              </a:ext>
            </a:extLst>
          </p:cNvPr>
          <p:cNvGrpSpPr/>
          <p:nvPr/>
        </p:nvGrpSpPr>
        <p:grpSpPr>
          <a:xfrm rot="-5400000">
            <a:off x="2797195" y="8804860"/>
            <a:ext cx="667355" cy="687106"/>
            <a:chOff x="0" y="0"/>
            <a:chExt cx="812800" cy="812800"/>
          </a:xfrm>
        </p:grpSpPr>
        <p:sp>
          <p:nvSpPr>
            <p:cNvPr id="6" name="Freeform 17">
              <a:extLst>
                <a:ext uri="{FF2B5EF4-FFF2-40B4-BE49-F238E27FC236}">
                  <a16:creationId xmlns:a16="http://schemas.microsoft.com/office/drawing/2014/main" id="{5DCEB216-3807-2771-741A-A499320FB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7" name="TextBox 18">
              <a:extLst>
                <a:ext uri="{FF2B5EF4-FFF2-40B4-BE49-F238E27FC236}">
                  <a16:creationId xmlns:a16="http://schemas.microsoft.com/office/drawing/2014/main" id="{3A31615D-70A5-BD9E-B79F-17864B452138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19">
            <a:extLst>
              <a:ext uri="{FF2B5EF4-FFF2-40B4-BE49-F238E27FC236}">
                <a16:creationId xmlns:a16="http://schemas.microsoft.com/office/drawing/2014/main" id="{EAC3830A-6176-3B16-8EE2-1FDC517B3E73}"/>
              </a:ext>
            </a:extLst>
          </p:cNvPr>
          <p:cNvGrpSpPr/>
          <p:nvPr/>
        </p:nvGrpSpPr>
        <p:grpSpPr>
          <a:xfrm rot="-5400000">
            <a:off x="6666861" y="8804860"/>
            <a:ext cx="667355" cy="687106"/>
            <a:chOff x="0" y="0"/>
            <a:chExt cx="812800" cy="812800"/>
          </a:xfrm>
        </p:grpSpPr>
        <p:sp>
          <p:nvSpPr>
            <p:cNvPr id="9" name="Freeform 20">
              <a:extLst>
                <a:ext uri="{FF2B5EF4-FFF2-40B4-BE49-F238E27FC236}">
                  <a16:creationId xmlns:a16="http://schemas.microsoft.com/office/drawing/2014/main" id="{6216871C-7632-5422-D8C4-C228DF98B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sp>
        <p:sp>
          <p:nvSpPr>
            <p:cNvPr id="10" name="TextBox 21">
              <a:extLst>
                <a:ext uri="{FF2B5EF4-FFF2-40B4-BE49-F238E27FC236}">
                  <a16:creationId xmlns:a16="http://schemas.microsoft.com/office/drawing/2014/main" id="{29E18D1B-E27A-07C3-C4C4-739B8CE8EF4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DB3A361E-DAF6-9C0C-D8AA-EAF48F22AB99}"/>
              </a:ext>
            </a:extLst>
          </p:cNvPr>
          <p:cNvGrpSpPr/>
          <p:nvPr/>
        </p:nvGrpSpPr>
        <p:grpSpPr>
          <a:xfrm rot="-5400000">
            <a:off x="10538615" y="8804860"/>
            <a:ext cx="667355" cy="687106"/>
            <a:chOff x="0" y="0"/>
            <a:chExt cx="812800" cy="812800"/>
          </a:xfrm>
        </p:grpSpPr>
        <p:sp>
          <p:nvSpPr>
            <p:cNvPr id="50" name="Freeform 23">
              <a:extLst>
                <a:ext uri="{FF2B5EF4-FFF2-40B4-BE49-F238E27FC236}">
                  <a16:creationId xmlns:a16="http://schemas.microsoft.com/office/drawing/2014/main" id="{4DAE7F71-AF27-655F-D461-28A4EDCED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0" name="TextBox 24">
              <a:extLst>
                <a:ext uri="{FF2B5EF4-FFF2-40B4-BE49-F238E27FC236}">
                  <a16:creationId xmlns:a16="http://schemas.microsoft.com/office/drawing/2014/main" id="{9AB94623-BF46-0E87-EA75-4165637FF36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1" name="Group 25">
            <a:extLst>
              <a:ext uri="{FF2B5EF4-FFF2-40B4-BE49-F238E27FC236}">
                <a16:creationId xmlns:a16="http://schemas.microsoft.com/office/drawing/2014/main" id="{D5ED0F7B-AB5F-337B-0FDA-C5856DC44B6B}"/>
              </a:ext>
            </a:extLst>
          </p:cNvPr>
          <p:cNvGrpSpPr/>
          <p:nvPr/>
        </p:nvGrpSpPr>
        <p:grpSpPr>
          <a:xfrm rot="-5400000">
            <a:off x="14410369" y="8804860"/>
            <a:ext cx="667355" cy="687106"/>
            <a:chOff x="0" y="0"/>
            <a:chExt cx="812800" cy="812800"/>
          </a:xfrm>
        </p:grpSpPr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7D8014C9-2B0C-AC99-4A55-3D2A6FB8B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3" name="TextBox 27">
              <a:extLst>
                <a:ext uri="{FF2B5EF4-FFF2-40B4-BE49-F238E27FC236}">
                  <a16:creationId xmlns:a16="http://schemas.microsoft.com/office/drawing/2014/main" id="{86D3AB7D-0E07-473B-E807-72BA8DA3E51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4" name="TextBox 39">
            <a:extLst>
              <a:ext uri="{FF2B5EF4-FFF2-40B4-BE49-F238E27FC236}">
                <a16:creationId xmlns:a16="http://schemas.microsoft.com/office/drawing/2014/main" id="{AAFB2601-CE5E-5E6C-3429-E8DB76A2708E}"/>
              </a:ext>
            </a:extLst>
          </p:cNvPr>
          <p:cNvSpPr txBox="1"/>
          <p:nvPr/>
        </p:nvSpPr>
        <p:spPr>
          <a:xfrm>
            <a:off x="14579748" y="8814734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solidFill>
                  <a:srgbClr val="22C4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65" name="TextBox 40">
            <a:extLst>
              <a:ext uri="{FF2B5EF4-FFF2-40B4-BE49-F238E27FC236}">
                <a16:creationId xmlns:a16="http://schemas.microsoft.com/office/drawing/2014/main" id="{97C2E846-A1E1-EF22-09AA-FAF75E60E2C1}"/>
              </a:ext>
            </a:extLst>
          </p:cNvPr>
          <p:cNvSpPr txBox="1"/>
          <p:nvPr/>
        </p:nvSpPr>
        <p:spPr>
          <a:xfrm>
            <a:off x="10701666" y="8801100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66" name="TextBox 41">
            <a:extLst>
              <a:ext uri="{FF2B5EF4-FFF2-40B4-BE49-F238E27FC236}">
                <a16:creationId xmlns:a16="http://schemas.microsoft.com/office/drawing/2014/main" id="{927DC158-62EC-5F2C-FA49-9B101E5D80F9}"/>
              </a:ext>
            </a:extLst>
          </p:cNvPr>
          <p:cNvSpPr txBox="1"/>
          <p:nvPr/>
        </p:nvSpPr>
        <p:spPr>
          <a:xfrm>
            <a:off x="6842227" y="8824363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solidFill>
                  <a:srgbClr val="22C4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67" name="TextBox 42">
            <a:extLst>
              <a:ext uri="{FF2B5EF4-FFF2-40B4-BE49-F238E27FC236}">
                <a16:creationId xmlns:a16="http://schemas.microsoft.com/office/drawing/2014/main" id="{7F62EEA9-5D15-611A-92CA-3F2A36D1D358}"/>
              </a:ext>
            </a:extLst>
          </p:cNvPr>
          <p:cNvSpPr txBox="1"/>
          <p:nvPr/>
        </p:nvSpPr>
        <p:spPr>
          <a:xfrm>
            <a:off x="2941764" y="8828146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  <a:endParaRPr lang="en-US" sz="3172" b="1" dirty="0"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29EA6EB-8368-93FD-6368-7E3653059D57}"/>
              </a:ext>
            </a:extLst>
          </p:cNvPr>
          <p:cNvGrpSpPr/>
          <p:nvPr/>
        </p:nvGrpSpPr>
        <p:grpSpPr>
          <a:xfrm>
            <a:off x="1524000" y="3133189"/>
            <a:ext cx="15095232" cy="5466936"/>
            <a:chOff x="10744200" y="3695700"/>
            <a:chExt cx="6665400" cy="5257800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7DA4DE9-7CED-8247-6B53-2DD6E415BB37}"/>
                </a:ext>
              </a:extLst>
            </p:cNvPr>
            <p:cNvSpPr/>
            <p:nvPr/>
          </p:nvSpPr>
          <p:spPr>
            <a:xfrm>
              <a:off x="10744200" y="3695700"/>
              <a:ext cx="6629400" cy="5257800"/>
            </a:xfrm>
            <a:prstGeom prst="roundRect">
              <a:avLst>
                <a:gd name="adj" fmla="val 4040"/>
              </a:avLst>
            </a:prstGeom>
            <a:solidFill>
              <a:srgbClr val="85FFFF">
                <a:alpha val="2000"/>
              </a:srgbClr>
            </a:solidFill>
            <a:ln w="6350">
              <a:solidFill>
                <a:srgbClr val="00FFFF">
                  <a:alpha val="22000"/>
                </a:srgb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ED995B03-FC18-719B-DFF9-AF3C2AF6A73D}"/>
                </a:ext>
              </a:extLst>
            </p:cNvPr>
            <p:cNvSpPr/>
            <p:nvPr/>
          </p:nvSpPr>
          <p:spPr>
            <a:xfrm>
              <a:off x="17373600" y="3876600"/>
              <a:ext cx="36000" cy="4896000"/>
            </a:xfrm>
            <a:prstGeom prst="roundRect">
              <a:avLst/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3518E9D-1609-EAEB-2E14-5A80B7416BF4}"/>
              </a:ext>
            </a:extLst>
          </p:cNvPr>
          <p:cNvCxnSpPr>
            <a:cxnSpLocks/>
          </p:cNvCxnSpPr>
          <p:nvPr/>
        </p:nvCxnSpPr>
        <p:spPr>
          <a:xfrm>
            <a:off x="2787319" y="4152900"/>
            <a:ext cx="13671442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A76D679-3C61-050A-1FE9-F13B69ECAB28}"/>
              </a:ext>
            </a:extLst>
          </p:cNvPr>
          <p:cNvSpPr txBox="1"/>
          <p:nvPr/>
        </p:nvSpPr>
        <p:spPr>
          <a:xfrm>
            <a:off x="10681648" y="3523359"/>
            <a:ext cx="55976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B Titr" panose="00000700000000000000" pitchFamily="2" charset="-78"/>
              </a:rPr>
              <a:t>Information-Guided Resource Allocation</a:t>
            </a:r>
            <a:endParaRPr lang="fa-IR" sz="2400" b="1" i="0" dirty="0">
              <a:solidFill>
                <a:srgbClr val="66FCF1"/>
              </a:solidFill>
              <a:effectLst/>
              <a:latin typeface="Noto Sans Arabic"/>
              <a:cs typeface="B Titr" panose="00000700000000000000" pitchFamily="2" charset="-78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2C3FE0-190B-AC22-BA91-2A2E8C0D196B}"/>
              </a:ext>
            </a:extLst>
          </p:cNvPr>
          <p:cNvSpPr txBox="1"/>
          <p:nvPr/>
        </p:nvSpPr>
        <p:spPr>
          <a:xfrm>
            <a:off x="1879182" y="4152900"/>
            <a:ext cx="1434883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rtl="1">
              <a:lnSpc>
                <a:spcPct val="150000"/>
              </a:lnSpc>
              <a:buClr>
                <a:srgbClr val="00FFFF"/>
              </a:buClr>
              <a:buFont typeface="Wingdings" panose="05000000000000000000" pitchFamily="2" charset="2"/>
              <a:buChar char="q"/>
            </a:pP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ابتدا </a:t>
            </a:r>
            <a:r>
              <a:rPr lang="en-US" sz="2400" dirty="0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IDM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نواحی دارای اطلاعات </a:t>
            </a:r>
            <a:r>
              <a:rPr lang="fa-IR" sz="2400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زیاد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را مشخص می‌کند.</a:t>
            </a:r>
          </a:p>
          <a:p>
            <a:pPr marL="342900" indent="-342900" algn="just" rtl="1">
              <a:lnSpc>
                <a:spcPct val="200000"/>
              </a:lnSpc>
              <a:buClr>
                <a:srgbClr val="00FFFF"/>
              </a:buClr>
              <a:buFont typeface="Wingdings" panose="05000000000000000000" pitchFamily="2" charset="2"/>
              <a:buChar char="q"/>
            </a:pP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سپس با اعمال یک </a:t>
            </a:r>
            <a:r>
              <a:rPr lang="fa-IR" sz="2400" b="1" dirty="0">
                <a:solidFill>
                  <a:srgbClr val="22C4C9"/>
                </a:solidFill>
                <a:cs typeface="B Nazanin" panose="00000400000000000000" pitchFamily="2" charset="-78"/>
              </a:rPr>
              <a:t>آستانه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، تنها این نواحی برای انجام محاسبات انتخاب می‌شوند.</a:t>
            </a:r>
          </a:p>
          <a:p>
            <a:pPr marL="342900" indent="-342900" algn="just" rtl="1">
              <a:lnSpc>
                <a:spcPct val="200000"/>
              </a:lnSpc>
              <a:buClr>
                <a:srgbClr val="00FFFF"/>
              </a:buClr>
              <a:buFont typeface="Wingdings" panose="05000000000000000000" pitchFamily="2" charset="2"/>
              <a:buChar char="q"/>
            </a:pP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ویژگی‌های انتخاب‌شده به صورت </a:t>
            </a:r>
            <a:r>
              <a:rPr lang="en-US" sz="2400" b="1" dirty="0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Sparse Tensor </a:t>
            </a:r>
            <a:r>
              <a:rPr lang="fa-IR" sz="2400" b="1" dirty="0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نمایش داده می‌شوند و عملیات کانولوشن فقط روی همین نقاط انجام می‌شود.</a:t>
            </a:r>
          </a:p>
          <a:p>
            <a:pPr marL="342900" indent="-342900" algn="just" rtl="1">
              <a:lnSpc>
                <a:spcPct val="200000"/>
              </a:lnSpc>
              <a:buClr>
                <a:srgbClr val="00FFFF"/>
              </a:buClr>
              <a:buFont typeface="Wingdings" panose="05000000000000000000" pitchFamily="2" charset="2"/>
              <a:buChar char="q"/>
            </a:pP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در مقاله از </a:t>
            </a:r>
            <a:r>
              <a:rPr lang="en-US" sz="2400" b="1" i="1" dirty="0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Submanifold Sparse Convolution </a:t>
            </a:r>
            <a:r>
              <a:rPr lang="fa-IR" sz="2400" b="1" i="1" dirty="0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استفاده شده است که برخلاف کانولوشن معمولی، فقط روی مختصات فعال عملیات انجام می‌دهد.</a:t>
            </a:r>
          </a:p>
          <a:p>
            <a:pPr marL="342900" indent="-342900" algn="just" rtl="1">
              <a:lnSpc>
                <a:spcPct val="200000"/>
              </a:lnSpc>
              <a:buClr>
                <a:srgbClr val="00FFFF"/>
              </a:buClr>
              <a:buFont typeface="Wingdings" panose="05000000000000000000" pitchFamily="2" charset="2"/>
              <a:buChar char="Ø"/>
            </a:pP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در نتیجه، بدون نیاز به پردازش کل تصویر، محاسبات روی نواحی مهم متمرکز می‌شود و هزینه محاسباتی کاهش می‌یابد</a:t>
            </a:r>
            <a:endParaRPr lang="en-US" sz="24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8168A51-39BA-16AA-6ABE-203470DB3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448" y="2044778"/>
            <a:ext cx="8516539" cy="196242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A017D02-B1FA-CE4E-9D98-FFE7D8BA6E31}"/>
              </a:ext>
            </a:extLst>
          </p:cNvPr>
          <p:cNvSpPr txBox="1"/>
          <p:nvPr/>
        </p:nvSpPr>
        <p:spPr>
          <a:xfrm>
            <a:off x="14325600" y="327297"/>
            <a:ext cx="28194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ptos" panose="02110004020202020204"/>
                <a:cs typeface="B Titr" panose="00000700000000000000" pitchFamily="2" charset="-78"/>
              </a:rPr>
              <a:t>Efficient S</a:t>
            </a:r>
            <a:r>
              <a:rPr lang="en-US" sz="1600" b="1" dirty="0">
                <a:solidFill>
                  <a:srgbClr val="22C4C9"/>
                </a:solidFill>
                <a:latin typeface=" "/>
                <a:cs typeface="B Titr" panose="00000700000000000000" pitchFamily="2" charset="-78"/>
              </a:rPr>
              <a:t>uper-Resolution</a:t>
            </a:r>
            <a:endParaRPr lang="fa-IR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4B7B6B-2381-CB1D-B605-6979E91C928D}"/>
              </a:ext>
            </a:extLst>
          </p:cNvPr>
          <p:cNvSpPr txBox="1"/>
          <p:nvPr/>
        </p:nvSpPr>
        <p:spPr>
          <a:xfrm>
            <a:off x="1295400" y="395198"/>
            <a:ext cx="15240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b="1" dirty="0" err="1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IAFMNet</a:t>
            </a:r>
            <a:endParaRPr lang="fa-IR" b="1" dirty="0">
              <a:solidFill>
                <a:srgbClr val="22C4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BBF52C-48AD-037B-4901-8CA0C06F744F}"/>
              </a:ext>
            </a:extLst>
          </p:cNvPr>
          <p:cNvSpPr txBox="1"/>
          <p:nvPr/>
        </p:nvSpPr>
        <p:spPr>
          <a:xfrm>
            <a:off x="1257300" y="9693409"/>
            <a:ext cx="14820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Xu, J., Liu, M., Wang, Z., Wu, F., Wu, S., Huang, T., &amp; Dong, W. (2026). </a:t>
            </a:r>
            <a:r>
              <a:rPr lang="en-US" sz="12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IAFMNet</a:t>
            </a:r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Information-Aware Feature Modulation for Efficient Super-Resolution. In Proceedings of the IEEE/CVF Conference on Computer Vision and Pattern Recognition (pp. 30564-30573).</a:t>
            </a:r>
            <a:endParaRPr lang="fa-IR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624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C5BC237-F8A7-AEB7-FF85-978B7ADD0F67}"/>
              </a:ext>
            </a:extLst>
          </p:cNvPr>
          <p:cNvSpPr txBox="1"/>
          <p:nvPr/>
        </p:nvSpPr>
        <p:spPr>
          <a:xfrm>
            <a:off x="9001075" y="1963367"/>
            <a:ext cx="806772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 err="1">
                <a:solidFill>
                  <a:srgbClr val="FFFFFF"/>
                </a:solidFill>
                <a:cs typeface="B Titr" panose="00000700000000000000" pitchFamily="2" charset="-78"/>
              </a:rPr>
              <a:t>بازتنظیم</a:t>
            </a:r>
            <a:r>
              <a:rPr lang="en-US" sz="2800" b="1" dirty="0">
                <a:solidFill>
                  <a:srgbClr val="FFFFFF"/>
                </a:solidFill>
                <a:cs typeface="B Titr" panose="00000700000000000000" pitchFamily="2" charset="-78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cs typeface="B Titr" panose="00000700000000000000" pitchFamily="2" charset="-78"/>
              </a:rPr>
              <a:t>تطبیقی</a:t>
            </a:r>
            <a:r>
              <a:rPr lang="en-US" sz="2800" b="1" dirty="0">
                <a:solidFill>
                  <a:srgbClr val="FFFFFF"/>
                </a:solidFill>
                <a:cs typeface="B Titr" panose="00000700000000000000" pitchFamily="2" charset="-78"/>
              </a:rPr>
              <a:t> 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: </a:t>
            </a:r>
            <a:r>
              <a:rPr kumimoji="0" lang="en-US" sz="32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B Titr" panose="00000700000000000000" pitchFamily="2" charset="-78"/>
              </a:rPr>
              <a:t>ARM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F2C81F-8631-417E-61E5-445382EAD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9"/>
          <a:stretch/>
        </p:blipFill>
        <p:spPr>
          <a:xfrm>
            <a:off x="17221200" y="0"/>
            <a:ext cx="1066800" cy="128396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A4C5EA-E404-83E0-9783-BA41CDA0C8AF}"/>
              </a:ext>
            </a:extLst>
          </p:cNvPr>
          <p:cNvCxnSpPr/>
          <p:nvPr/>
        </p:nvCxnSpPr>
        <p:spPr>
          <a:xfrm>
            <a:off x="1295400" y="800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62688F-9798-1FED-9114-2F5DBAA53FF2}"/>
              </a:ext>
            </a:extLst>
          </p:cNvPr>
          <p:cNvCxnSpPr/>
          <p:nvPr/>
        </p:nvCxnSpPr>
        <p:spPr>
          <a:xfrm>
            <a:off x="1257300" y="9563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90EAC38-9849-53F6-E5E7-A0A1D1D89E46}"/>
              </a:ext>
            </a:extLst>
          </p:cNvPr>
          <p:cNvSpPr txBox="1"/>
          <p:nvPr/>
        </p:nvSpPr>
        <p:spPr>
          <a:xfrm>
            <a:off x="16635608" y="9639300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12</a:t>
            </a:r>
            <a:endParaRPr lang="fa-I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1614AD-3114-8BAB-732F-74506316F444}"/>
              </a:ext>
            </a:extLst>
          </p:cNvPr>
          <p:cNvSpPr txBox="1"/>
          <p:nvPr/>
        </p:nvSpPr>
        <p:spPr>
          <a:xfrm>
            <a:off x="16176042" y="9648785"/>
            <a:ext cx="585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/ 19</a:t>
            </a:r>
            <a:endParaRPr lang="fa-IR" dirty="0"/>
          </a:p>
        </p:txBody>
      </p:sp>
      <p:sp>
        <p:nvSpPr>
          <p:cNvPr id="4" name="AutoShape 15">
            <a:extLst>
              <a:ext uri="{FF2B5EF4-FFF2-40B4-BE49-F238E27FC236}">
                <a16:creationId xmlns:a16="http://schemas.microsoft.com/office/drawing/2014/main" id="{C4FC02C0-B56A-0830-46E3-B07274CB0DE0}"/>
              </a:ext>
            </a:extLst>
          </p:cNvPr>
          <p:cNvSpPr/>
          <p:nvPr/>
        </p:nvSpPr>
        <p:spPr>
          <a:xfrm>
            <a:off x="3251916" y="9122626"/>
            <a:ext cx="11530884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grpSp>
        <p:nvGrpSpPr>
          <p:cNvPr id="5" name="Group 16">
            <a:extLst>
              <a:ext uri="{FF2B5EF4-FFF2-40B4-BE49-F238E27FC236}">
                <a16:creationId xmlns:a16="http://schemas.microsoft.com/office/drawing/2014/main" id="{BDE7A336-B622-F3D1-F418-C3B0CA68A151}"/>
              </a:ext>
            </a:extLst>
          </p:cNvPr>
          <p:cNvGrpSpPr/>
          <p:nvPr/>
        </p:nvGrpSpPr>
        <p:grpSpPr>
          <a:xfrm rot="-5400000">
            <a:off x="2797195" y="8804860"/>
            <a:ext cx="667355" cy="687106"/>
            <a:chOff x="0" y="0"/>
            <a:chExt cx="812800" cy="812800"/>
          </a:xfrm>
        </p:grpSpPr>
        <p:sp>
          <p:nvSpPr>
            <p:cNvPr id="6" name="Freeform 17">
              <a:extLst>
                <a:ext uri="{FF2B5EF4-FFF2-40B4-BE49-F238E27FC236}">
                  <a16:creationId xmlns:a16="http://schemas.microsoft.com/office/drawing/2014/main" id="{5DCEB216-3807-2771-741A-A499320FB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7" name="TextBox 18">
              <a:extLst>
                <a:ext uri="{FF2B5EF4-FFF2-40B4-BE49-F238E27FC236}">
                  <a16:creationId xmlns:a16="http://schemas.microsoft.com/office/drawing/2014/main" id="{3A31615D-70A5-BD9E-B79F-17864B452138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19">
            <a:extLst>
              <a:ext uri="{FF2B5EF4-FFF2-40B4-BE49-F238E27FC236}">
                <a16:creationId xmlns:a16="http://schemas.microsoft.com/office/drawing/2014/main" id="{EAC3830A-6176-3B16-8EE2-1FDC517B3E73}"/>
              </a:ext>
            </a:extLst>
          </p:cNvPr>
          <p:cNvGrpSpPr/>
          <p:nvPr/>
        </p:nvGrpSpPr>
        <p:grpSpPr>
          <a:xfrm rot="-5400000">
            <a:off x="6666861" y="8804860"/>
            <a:ext cx="667355" cy="687106"/>
            <a:chOff x="0" y="0"/>
            <a:chExt cx="812800" cy="812800"/>
          </a:xfrm>
        </p:grpSpPr>
        <p:sp>
          <p:nvSpPr>
            <p:cNvPr id="9" name="Freeform 20">
              <a:extLst>
                <a:ext uri="{FF2B5EF4-FFF2-40B4-BE49-F238E27FC236}">
                  <a16:creationId xmlns:a16="http://schemas.microsoft.com/office/drawing/2014/main" id="{6216871C-7632-5422-D8C4-C228DF98B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sp>
        <p:sp>
          <p:nvSpPr>
            <p:cNvPr id="10" name="TextBox 21">
              <a:extLst>
                <a:ext uri="{FF2B5EF4-FFF2-40B4-BE49-F238E27FC236}">
                  <a16:creationId xmlns:a16="http://schemas.microsoft.com/office/drawing/2014/main" id="{29E18D1B-E27A-07C3-C4C4-739B8CE8EF4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DB3A361E-DAF6-9C0C-D8AA-EAF48F22AB99}"/>
              </a:ext>
            </a:extLst>
          </p:cNvPr>
          <p:cNvGrpSpPr/>
          <p:nvPr/>
        </p:nvGrpSpPr>
        <p:grpSpPr>
          <a:xfrm rot="-5400000">
            <a:off x="10538615" y="8804860"/>
            <a:ext cx="667355" cy="687106"/>
            <a:chOff x="0" y="0"/>
            <a:chExt cx="812800" cy="812800"/>
          </a:xfrm>
        </p:grpSpPr>
        <p:sp>
          <p:nvSpPr>
            <p:cNvPr id="50" name="Freeform 23">
              <a:extLst>
                <a:ext uri="{FF2B5EF4-FFF2-40B4-BE49-F238E27FC236}">
                  <a16:creationId xmlns:a16="http://schemas.microsoft.com/office/drawing/2014/main" id="{4DAE7F71-AF27-655F-D461-28A4EDCED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0" name="TextBox 24">
              <a:extLst>
                <a:ext uri="{FF2B5EF4-FFF2-40B4-BE49-F238E27FC236}">
                  <a16:creationId xmlns:a16="http://schemas.microsoft.com/office/drawing/2014/main" id="{9AB94623-BF46-0E87-EA75-4165637FF36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1" name="Group 25">
            <a:extLst>
              <a:ext uri="{FF2B5EF4-FFF2-40B4-BE49-F238E27FC236}">
                <a16:creationId xmlns:a16="http://schemas.microsoft.com/office/drawing/2014/main" id="{D5ED0F7B-AB5F-337B-0FDA-C5856DC44B6B}"/>
              </a:ext>
            </a:extLst>
          </p:cNvPr>
          <p:cNvGrpSpPr/>
          <p:nvPr/>
        </p:nvGrpSpPr>
        <p:grpSpPr>
          <a:xfrm rot="-5400000">
            <a:off x="14410369" y="8804860"/>
            <a:ext cx="667355" cy="687106"/>
            <a:chOff x="0" y="0"/>
            <a:chExt cx="812800" cy="812800"/>
          </a:xfrm>
        </p:grpSpPr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7D8014C9-2B0C-AC99-4A55-3D2A6FB8B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3" name="TextBox 27">
              <a:extLst>
                <a:ext uri="{FF2B5EF4-FFF2-40B4-BE49-F238E27FC236}">
                  <a16:creationId xmlns:a16="http://schemas.microsoft.com/office/drawing/2014/main" id="{86D3AB7D-0E07-473B-E807-72BA8DA3E51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4" name="TextBox 39">
            <a:extLst>
              <a:ext uri="{FF2B5EF4-FFF2-40B4-BE49-F238E27FC236}">
                <a16:creationId xmlns:a16="http://schemas.microsoft.com/office/drawing/2014/main" id="{AAFB2601-CE5E-5E6C-3429-E8DB76A2708E}"/>
              </a:ext>
            </a:extLst>
          </p:cNvPr>
          <p:cNvSpPr txBox="1"/>
          <p:nvPr/>
        </p:nvSpPr>
        <p:spPr>
          <a:xfrm>
            <a:off x="14579748" y="8814734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solidFill>
                  <a:srgbClr val="22C4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65" name="TextBox 40">
            <a:extLst>
              <a:ext uri="{FF2B5EF4-FFF2-40B4-BE49-F238E27FC236}">
                <a16:creationId xmlns:a16="http://schemas.microsoft.com/office/drawing/2014/main" id="{97C2E846-A1E1-EF22-09AA-FAF75E60E2C1}"/>
              </a:ext>
            </a:extLst>
          </p:cNvPr>
          <p:cNvSpPr txBox="1"/>
          <p:nvPr/>
        </p:nvSpPr>
        <p:spPr>
          <a:xfrm>
            <a:off x="10701666" y="8801100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66" name="TextBox 41">
            <a:extLst>
              <a:ext uri="{FF2B5EF4-FFF2-40B4-BE49-F238E27FC236}">
                <a16:creationId xmlns:a16="http://schemas.microsoft.com/office/drawing/2014/main" id="{927DC158-62EC-5F2C-FA49-9B101E5D80F9}"/>
              </a:ext>
            </a:extLst>
          </p:cNvPr>
          <p:cNvSpPr txBox="1"/>
          <p:nvPr/>
        </p:nvSpPr>
        <p:spPr>
          <a:xfrm>
            <a:off x="6842227" y="8824363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solidFill>
                  <a:srgbClr val="22C4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67" name="TextBox 42">
            <a:extLst>
              <a:ext uri="{FF2B5EF4-FFF2-40B4-BE49-F238E27FC236}">
                <a16:creationId xmlns:a16="http://schemas.microsoft.com/office/drawing/2014/main" id="{7F62EEA9-5D15-611A-92CA-3F2A36D1D358}"/>
              </a:ext>
            </a:extLst>
          </p:cNvPr>
          <p:cNvSpPr txBox="1"/>
          <p:nvPr/>
        </p:nvSpPr>
        <p:spPr>
          <a:xfrm>
            <a:off x="2941764" y="8828146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  <a:endParaRPr lang="en-US" sz="3172" b="1" dirty="0"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29EA6EB-8368-93FD-6368-7E3653059D57}"/>
              </a:ext>
            </a:extLst>
          </p:cNvPr>
          <p:cNvGrpSpPr/>
          <p:nvPr/>
        </p:nvGrpSpPr>
        <p:grpSpPr>
          <a:xfrm>
            <a:off x="1524000" y="3133189"/>
            <a:ext cx="15095232" cy="5466936"/>
            <a:chOff x="10744200" y="3695700"/>
            <a:chExt cx="6665400" cy="5257800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7DA4DE9-7CED-8247-6B53-2DD6E415BB37}"/>
                </a:ext>
              </a:extLst>
            </p:cNvPr>
            <p:cNvSpPr/>
            <p:nvPr/>
          </p:nvSpPr>
          <p:spPr>
            <a:xfrm>
              <a:off x="10744200" y="3695700"/>
              <a:ext cx="6629400" cy="5257800"/>
            </a:xfrm>
            <a:prstGeom prst="roundRect">
              <a:avLst>
                <a:gd name="adj" fmla="val 4040"/>
              </a:avLst>
            </a:prstGeom>
            <a:solidFill>
              <a:srgbClr val="85FFFF">
                <a:alpha val="2000"/>
              </a:srgbClr>
            </a:solidFill>
            <a:ln w="6350">
              <a:solidFill>
                <a:srgbClr val="00FFFF">
                  <a:alpha val="22000"/>
                </a:srgb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ED995B03-FC18-719B-DFF9-AF3C2AF6A73D}"/>
                </a:ext>
              </a:extLst>
            </p:cNvPr>
            <p:cNvSpPr/>
            <p:nvPr/>
          </p:nvSpPr>
          <p:spPr>
            <a:xfrm>
              <a:off x="17373600" y="3876600"/>
              <a:ext cx="36000" cy="4896000"/>
            </a:xfrm>
            <a:prstGeom prst="roundRect">
              <a:avLst/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3518E9D-1609-EAEB-2E14-5A80B7416BF4}"/>
              </a:ext>
            </a:extLst>
          </p:cNvPr>
          <p:cNvCxnSpPr>
            <a:cxnSpLocks/>
          </p:cNvCxnSpPr>
          <p:nvPr/>
        </p:nvCxnSpPr>
        <p:spPr>
          <a:xfrm>
            <a:off x="2787319" y="4152900"/>
            <a:ext cx="13671442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A76D679-3C61-050A-1FE9-F13B69ECAB28}"/>
              </a:ext>
            </a:extLst>
          </p:cNvPr>
          <p:cNvSpPr txBox="1"/>
          <p:nvPr/>
        </p:nvSpPr>
        <p:spPr>
          <a:xfrm>
            <a:off x="10681648" y="3523359"/>
            <a:ext cx="55976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B Titr" panose="00000700000000000000" pitchFamily="2" charset="-78"/>
              </a:rPr>
              <a:t>Affine Recalibration Module</a:t>
            </a:r>
            <a:endParaRPr lang="fa-IR" sz="2400" b="1" i="0" dirty="0">
              <a:solidFill>
                <a:srgbClr val="66FCF1"/>
              </a:solidFill>
              <a:effectLst/>
              <a:latin typeface="Noto Sans Arabic"/>
              <a:cs typeface="B Titr" panose="00000700000000000000" pitchFamily="2" charset="-78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2C3FE0-190B-AC22-BA91-2A2E8C0D196B}"/>
              </a:ext>
            </a:extLst>
          </p:cNvPr>
          <p:cNvSpPr txBox="1"/>
          <p:nvPr/>
        </p:nvSpPr>
        <p:spPr>
          <a:xfrm>
            <a:off x="1856436" y="4328755"/>
            <a:ext cx="1434883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rtl="1">
              <a:lnSpc>
                <a:spcPct val="200000"/>
              </a:lnSpc>
              <a:buClr>
                <a:srgbClr val="00FFFF"/>
              </a:buClr>
              <a:buFont typeface="Wingdings" panose="05000000000000000000" pitchFamily="2" charset="2"/>
              <a:buChar char="q"/>
            </a:pP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برخلاف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en-US" sz="2200" b="1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IGRA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که تنها روی نواحی منتخب عملیات انجام می‌دهد،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en-US" sz="2400" b="1" dirty="0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ARM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تمام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en-US" sz="2200" b="1" i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Feature Map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را حفظ می‌کند.</a:t>
            </a:r>
          </a:p>
          <a:p>
            <a:pPr marL="342900" indent="-342900" algn="just" rtl="1">
              <a:lnSpc>
                <a:spcPct val="200000"/>
              </a:lnSpc>
              <a:buClr>
                <a:srgbClr val="00FFFF"/>
              </a:buClr>
              <a:buFont typeface="Wingdings" panose="05000000000000000000" pitchFamily="2" charset="2"/>
              <a:buChar char="q"/>
            </a:pP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ابتدا ویژگی‌ها به صورت سراسری خلاصه می‌شوند و سپس با استفاده از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IDM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پارامترهای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en-US" sz="2400" i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Scale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و </a:t>
            </a:r>
            <a:r>
              <a:rPr lang="en-US" sz="2400" i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Bias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تولید می‌شوند.</a:t>
            </a:r>
          </a:p>
          <a:p>
            <a:pPr marL="342900" indent="-342900" algn="just" rtl="1">
              <a:lnSpc>
                <a:spcPct val="200000"/>
              </a:lnSpc>
              <a:buClr>
                <a:srgbClr val="00FFFF"/>
              </a:buClr>
              <a:buFont typeface="Wingdings" panose="05000000000000000000" pitchFamily="2" charset="2"/>
              <a:buChar char="q"/>
            </a:pP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در نهایت ویژگی‌های هر کانال با یک تبدیل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en-US" sz="2400" b="1" dirty="0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Affine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تنظیم می‌شوند.</a:t>
            </a:r>
          </a:p>
          <a:p>
            <a:pPr marL="342900" indent="-342900" algn="just" rtl="1">
              <a:lnSpc>
                <a:spcPct val="200000"/>
              </a:lnSpc>
              <a:buClr>
                <a:srgbClr val="00FFFF"/>
              </a:buClr>
              <a:buFont typeface="Wingdings" panose="05000000000000000000" pitchFamily="2" charset="2"/>
              <a:buChar char="q"/>
            </a:pPr>
            <a:r>
              <a:rPr lang="fa-IR" sz="2600" b="1" i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به این ترتیب ویژگی‌های مهم تقویت و ویژگی‌های کم‌اهمیت به صورت نرم تعدیل می‌شوند.</a:t>
            </a:r>
          </a:p>
          <a:p>
            <a:pPr marL="342900" indent="-342900" algn="just" rtl="1">
              <a:lnSpc>
                <a:spcPct val="200000"/>
              </a:lnSpc>
              <a:buClr>
                <a:srgbClr val="00FFFF"/>
              </a:buClr>
              <a:buFont typeface="Wingdings" panose="05000000000000000000" pitchFamily="2" charset="2"/>
              <a:buChar char="q"/>
            </a:pP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وجود </a:t>
            </a:r>
            <a:r>
              <a:rPr lang="fa-IR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هم‌زمان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en-US" sz="2400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IGRA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و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en-US" sz="2400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ARM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باعث می‌شود هم </a:t>
            </a:r>
            <a:r>
              <a:rPr lang="fa-IR" sz="2400" b="1" u="sng" dirty="0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هزینه محاسباتی کاهش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یابد و </a:t>
            </a:r>
            <a:r>
              <a:rPr lang="fa-IR" sz="2400" b="1" u="sng" dirty="0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هم کیفیت بازسازی حفظ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شود.</a:t>
            </a:r>
            <a:endParaRPr lang="en-US" sz="24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7C0944F-B474-AA96-8DD6-42037A8E5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223" y="2026130"/>
            <a:ext cx="8516539" cy="208626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50264D3-E23D-440A-8150-E99BA035225A}"/>
              </a:ext>
            </a:extLst>
          </p:cNvPr>
          <p:cNvSpPr txBox="1"/>
          <p:nvPr/>
        </p:nvSpPr>
        <p:spPr>
          <a:xfrm>
            <a:off x="14325600" y="327297"/>
            <a:ext cx="28194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ptos" panose="02110004020202020204"/>
                <a:cs typeface="B Titr" panose="00000700000000000000" pitchFamily="2" charset="-78"/>
              </a:rPr>
              <a:t>Efficient S</a:t>
            </a:r>
            <a:r>
              <a:rPr lang="en-US" sz="1600" b="1" dirty="0">
                <a:solidFill>
                  <a:srgbClr val="22C4C9"/>
                </a:solidFill>
                <a:latin typeface=" "/>
                <a:cs typeface="B Titr" panose="00000700000000000000" pitchFamily="2" charset="-78"/>
              </a:rPr>
              <a:t>uper-Resolution</a:t>
            </a:r>
            <a:endParaRPr lang="fa-IR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A084A9-1CEC-1406-9571-62FCB032BFF2}"/>
              </a:ext>
            </a:extLst>
          </p:cNvPr>
          <p:cNvSpPr txBox="1"/>
          <p:nvPr/>
        </p:nvSpPr>
        <p:spPr>
          <a:xfrm>
            <a:off x="1295400" y="395198"/>
            <a:ext cx="15240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b="1" dirty="0" err="1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IAFMNet</a:t>
            </a:r>
            <a:endParaRPr lang="fa-IR" b="1" dirty="0">
              <a:solidFill>
                <a:srgbClr val="22C4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C6F424-C667-128E-0DA5-8F299BFD2C7F}"/>
              </a:ext>
            </a:extLst>
          </p:cNvPr>
          <p:cNvSpPr txBox="1"/>
          <p:nvPr/>
        </p:nvSpPr>
        <p:spPr>
          <a:xfrm>
            <a:off x="1257300" y="9693409"/>
            <a:ext cx="14820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Xu, J., Liu, M., Wang, Z., Wu, F., Wu, S., Huang, T., &amp; Dong, W. (2026). </a:t>
            </a:r>
            <a:r>
              <a:rPr lang="en-US" sz="12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IAFMNet</a:t>
            </a:r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Information-Aware Feature Modulation for Efficient Super-Resolution. In Proceedings of the IEEE/CVF Conference on Computer Vision and Pattern Recognition (pp. 30564-30573).</a:t>
            </a:r>
            <a:endParaRPr lang="fa-IR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636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C5BC237-F8A7-AEB7-FF85-978B7ADD0F67}"/>
              </a:ext>
            </a:extLst>
          </p:cNvPr>
          <p:cNvSpPr txBox="1"/>
          <p:nvPr/>
        </p:nvSpPr>
        <p:spPr>
          <a:xfrm>
            <a:off x="9001075" y="1963367"/>
            <a:ext cx="806772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مقای</a:t>
            </a:r>
            <a:r>
              <a:rPr lang="fa-IR" sz="2800" b="1" dirty="0">
                <a:solidFill>
                  <a:srgbClr val="FFFFFF"/>
                </a:solidFill>
                <a:latin typeface="Calibri" panose="020F0502020204030204"/>
                <a:cs typeface="B Titr" panose="00000700000000000000" pitchFamily="2" charset="-78"/>
              </a:rPr>
              <a:t>سه </a:t>
            </a:r>
            <a:r>
              <a:rPr kumimoji="0" lang="en-US" sz="32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B Titr" panose="00000700000000000000" pitchFamily="2" charset="-78"/>
              </a:rPr>
              <a:t>IGRA </a:t>
            </a:r>
            <a:r>
              <a:rPr lang="en-US" sz="32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B Titr" panose="00000700000000000000" pitchFamily="2" charset="-78"/>
              </a:rPr>
              <a:t>vs </a:t>
            </a:r>
            <a:r>
              <a:rPr kumimoji="0" lang="en-US" sz="32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B Titr" panose="00000700000000000000" pitchFamily="2" charset="-78"/>
              </a:rPr>
              <a:t>ARM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F2C81F-8631-417E-61E5-445382EAD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9"/>
          <a:stretch/>
        </p:blipFill>
        <p:spPr>
          <a:xfrm>
            <a:off x="17221200" y="0"/>
            <a:ext cx="1066800" cy="128396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A4C5EA-E404-83E0-9783-BA41CDA0C8AF}"/>
              </a:ext>
            </a:extLst>
          </p:cNvPr>
          <p:cNvCxnSpPr/>
          <p:nvPr/>
        </p:nvCxnSpPr>
        <p:spPr>
          <a:xfrm>
            <a:off x="1295400" y="800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62688F-9798-1FED-9114-2F5DBAA53FF2}"/>
              </a:ext>
            </a:extLst>
          </p:cNvPr>
          <p:cNvCxnSpPr/>
          <p:nvPr/>
        </p:nvCxnSpPr>
        <p:spPr>
          <a:xfrm>
            <a:off x="1257300" y="9563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90EAC38-9849-53F6-E5E7-A0A1D1D89E46}"/>
              </a:ext>
            </a:extLst>
          </p:cNvPr>
          <p:cNvSpPr txBox="1"/>
          <p:nvPr/>
        </p:nvSpPr>
        <p:spPr>
          <a:xfrm>
            <a:off x="16635608" y="9639300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13</a:t>
            </a:r>
            <a:endParaRPr lang="fa-I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1614AD-3114-8BAB-732F-74506316F444}"/>
              </a:ext>
            </a:extLst>
          </p:cNvPr>
          <p:cNvSpPr txBox="1"/>
          <p:nvPr/>
        </p:nvSpPr>
        <p:spPr>
          <a:xfrm>
            <a:off x="16176042" y="9648785"/>
            <a:ext cx="585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/ 19</a:t>
            </a:r>
            <a:endParaRPr lang="fa-IR" dirty="0"/>
          </a:p>
        </p:txBody>
      </p:sp>
      <p:sp>
        <p:nvSpPr>
          <p:cNvPr id="4" name="AutoShape 15">
            <a:extLst>
              <a:ext uri="{FF2B5EF4-FFF2-40B4-BE49-F238E27FC236}">
                <a16:creationId xmlns:a16="http://schemas.microsoft.com/office/drawing/2014/main" id="{C4FC02C0-B56A-0830-46E3-B07274CB0DE0}"/>
              </a:ext>
            </a:extLst>
          </p:cNvPr>
          <p:cNvSpPr/>
          <p:nvPr/>
        </p:nvSpPr>
        <p:spPr>
          <a:xfrm>
            <a:off x="3251916" y="9122626"/>
            <a:ext cx="11530884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grpSp>
        <p:nvGrpSpPr>
          <p:cNvPr id="5" name="Group 16">
            <a:extLst>
              <a:ext uri="{FF2B5EF4-FFF2-40B4-BE49-F238E27FC236}">
                <a16:creationId xmlns:a16="http://schemas.microsoft.com/office/drawing/2014/main" id="{BDE7A336-B622-F3D1-F418-C3B0CA68A151}"/>
              </a:ext>
            </a:extLst>
          </p:cNvPr>
          <p:cNvGrpSpPr/>
          <p:nvPr/>
        </p:nvGrpSpPr>
        <p:grpSpPr>
          <a:xfrm rot="-5400000">
            <a:off x="2797195" y="8804860"/>
            <a:ext cx="667355" cy="687106"/>
            <a:chOff x="0" y="0"/>
            <a:chExt cx="812800" cy="812800"/>
          </a:xfrm>
        </p:grpSpPr>
        <p:sp>
          <p:nvSpPr>
            <p:cNvPr id="6" name="Freeform 17">
              <a:extLst>
                <a:ext uri="{FF2B5EF4-FFF2-40B4-BE49-F238E27FC236}">
                  <a16:creationId xmlns:a16="http://schemas.microsoft.com/office/drawing/2014/main" id="{5DCEB216-3807-2771-741A-A499320FB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7" name="TextBox 18">
              <a:extLst>
                <a:ext uri="{FF2B5EF4-FFF2-40B4-BE49-F238E27FC236}">
                  <a16:creationId xmlns:a16="http://schemas.microsoft.com/office/drawing/2014/main" id="{3A31615D-70A5-BD9E-B79F-17864B452138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19">
            <a:extLst>
              <a:ext uri="{FF2B5EF4-FFF2-40B4-BE49-F238E27FC236}">
                <a16:creationId xmlns:a16="http://schemas.microsoft.com/office/drawing/2014/main" id="{EAC3830A-6176-3B16-8EE2-1FDC517B3E73}"/>
              </a:ext>
            </a:extLst>
          </p:cNvPr>
          <p:cNvGrpSpPr/>
          <p:nvPr/>
        </p:nvGrpSpPr>
        <p:grpSpPr>
          <a:xfrm rot="-5400000">
            <a:off x="6666861" y="8804860"/>
            <a:ext cx="667355" cy="687106"/>
            <a:chOff x="0" y="0"/>
            <a:chExt cx="812800" cy="812800"/>
          </a:xfrm>
        </p:grpSpPr>
        <p:sp>
          <p:nvSpPr>
            <p:cNvPr id="9" name="Freeform 20">
              <a:extLst>
                <a:ext uri="{FF2B5EF4-FFF2-40B4-BE49-F238E27FC236}">
                  <a16:creationId xmlns:a16="http://schemas.microsoft.com/office/drawing/2014/main" id="{6216871C-7632-5422-D8C4-C228DF98B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</p:sp>
        <p:sp>
          <p:nvSpPr>
            <p:cNvPr id="10" name="TextBox 21">
              <a:extLst>
                <a:ext uri="{FF2B5EF4-FFF2-40B4-BE49-F238E27FC236}">
                  <a16:creationId xmlns:a16="http://schemas.microsoft.com/office/drawing/2014/main" id="{29E18D1B-E27A-07C3-C4C4-739B8CE8EF4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DB3A361E-DAF6-9C0C-D8AA-EAF48F22AB99}"/>
              </a:ext>
            </a:extLst>
          </p:cNvPr>
          <p:cNvGrpSpPr/>
          <p:nvPr/>
        </p:nvGrpSpPr>
        <p:grpSpPr>
          <a:xfrm rot="-5400000">
            <a:off x="10538615" y="8804860"/>
            <a:ext cx="667355" cy="687106"/>
            <a:chOff x="0" y="0"/>
            <a:chExt cx="812800" cy="812800"/>
          </a:xfrm>
        </p:grpSpPr>
        <p:sp>
          <p:nvSpPr>
            <p:cNvPr id="50" name="Freeform 23">
              <a:extLst>
                <a:ext uri="{FF2B5EF4-FFF2-40B4-BE49-F238E27FC236}">
                  <a16:creationId xmlns:a16="http://schemas.microsoft.com/office/drawing/2014/main" id="{4DAE7F71-AF27-655F-D461-28A4EDCED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0" name="TextBox 24">
              <a:extLst>
                <a:ext uri="{FF2B5EF4-FFF2-40B4-BE49-F238E27FC236}">
                  <a16:creationId xmlns:a16="http://schemas.microsoft.com/office/drawing/2014/main" id="{9AB94623-BF46-0E87-EA75-4165637FF36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1" name="Group 25">
            <a:extLst>
              <a:ext uri="{FF2B5EF4-FFF2-40B4-BE49-F238E27FC236}">
                <a16:creationId xmlns:a16="http://schemas.microsoft.com/office/drawing/2014/main" id="{D5ED0F7B-AB5F-337B-0FDA-C5856DC44B6B}"/>
              </a:ext>
            </a:extLst>
          </p:cNvPr>
          <p:cNvGrpSpPr/>
          <p:nvPr/>
        </p:nvGrpSpPr>
        <p:grpSpPr>
          <a:xfrm rot="-5400000">
            <a:off x="14410369" y="8804860"/>
            <a:ext cx="667355" cy="687106"/>
            <a:chOff x="0" y="0"/>
            <a:chExt cx="812800" cy="812800"/>
          </a:xfrm>
        </p:grpSpPr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7D8014C9-2B0C-AC99-4A55-3D2A6FB8B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3" name="TextBox 27">
              <a:extLst>
                <a:ext uri="{FF2B5EF4-FFF2-40B4-BE49-F238E27FC236}">
                  <a16:creationId xmlns:a16="http://schemas.microsoft.com/office/drawing/2014/main" id="{86D3AB7D-0E07-473B-E807-72BA8DA3E51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4" name="TextBox 39">
            <a:extLst>
              <a:ext uri="{FF2B5EF4-FFF2-40B4-BE49-F238E27FC236}">
                <a16:creationId xmlns:a16="http://schemas.microsoft.com/office/drawing/2014/main" id="{AAFB2601-CE5E-5E6C-3429-E8DB76A2708E}"/>
              </a:ext>
            </a:extLst>
          </p:cNvPr>
          <p:cNvSpPr txBox="1"/>
          <p:nvPr/>
        </p:nvSpPr>
        <p:spPr>
          <a:xfrm>
            <a:off x="14579748" y="8814734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solidFill>
                  <a:srgbClr val="22C4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65" name="TextBox 40">
            <a:extLst>
              <a:ext uri="{FF2B5EF4-FFF2-40B4-BE49-F238E27FC236}">
                <a16:creationId xmlns:a16="http://schemas.microsoft.com/office/drawing/2014/main" id="{97C2E846-A1E1-EF22-09AA-FAF75E60E2C1}"/>
              </a:ext>
            </a:extLst>
          </p:cNvPr>
          <p:cNvSpPr txBox="1"/>
          <p:nvPr/>
        </p:nvSpPr>
        <p:spPr>
          <a:xfrm>
            <a:off x="10701666" y="8801100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66" name="TextBox 41">
            <a:extLst>
              <a:ext uri="{FF2B5EF4-FFF2-40B4-BE49-F238E27FC236}">
                <a16:creationId xmlns:a16="http://schemas.microsoft.com/office/drawing/2014/main" id="{927DC158-62EC-5F2C-FA49-9B101E5D80F9}"/>
              </a:ext>
            </a:extLst>
          </p:cNvPr>
          <p:cNvSpPr txBox="1"/>
          <p:nvPr/>
        </p:nvSpPr>
        <p:spPr>
          <a:xfrm>
            <a:off x="6842227" y="8824363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solidFill>
                  <a:srgbClr val="22C4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67" name="TextBox 42">
            <a:extLst>
              <a:ext uri="{FF2B5EF4-FFF2-40B4-BE49-F238E27FC236}">
                <a16:creationId xmlns:a16="http://schemas.microsoft.com/office/drawing/2014/main" id="{7F62EEA9-5D15-611A-92CA-3F2A36D1D358}"/>
              </a:ext>
            </a:extLst>
          </p:cNvPr>
          <p:cNvSpPr txBox="1"/>
          <p:nvPr/>
        </p:nvSpPr>
        <p:spPr>
          <a:xfrm>
            <a:off x="2941764" y="8828146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  <a:endParaRPr lang="en-US" sz="3172" b="1" dirty="0"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aphicFrame>
        <p:nvGraphicFramePr>
          <p:cNvPr id="18" name="Table 0">
            <a:extLst>
              <a:ext uri="{FF2B5EF4-FFF2-40B4-BE49-F238E27FC236}">
                <a16:creationId xmlns:a16="http://schemas.microsoft.com/office/drawing/2014/main" id="{4DB60256-97AA-37DB-59F1-4799D6652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831277"/>
              </p:ext>
            </p:extLst>
          </p:nvPr>
        </p:nvGraphicFramePr>
        <p:xfrm>
          <a:off x="3087151" y="3133728"/>
          <a:ext cx="11936031" cy="4829172"/>
        </p:xfrm>
        <a:graphic>
          <a:graphicData uri="http://schemas.openxmlformats.org/drawingml/2006/table">
            <a:tbl>
              <a:tblPr rtl="1">
                <a:tableStyleId>{5A111915-BE36-4E01-A7E5-04B1672EAD32}</a:tableStyleId>
              </a:tblPr>
              <a:tblGrid>
                <a:gridCol w="3978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8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86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862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3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cs typeface="B Titr" panose="00000700000000000000" pitchFamily="2" charset="-78"/>
                        </a:rPr>
                        <a:t>ویژگی</a:t>
                      </a:r>
                      <a:endParaRPr lang="en-US" sz="3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cs typeface="B Titr" panose="00000700000000000000" pitchFamily="2" charset="-78"/>
                      </a:endParaRPr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3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cs typeface="B Titr" panose="00000700000000000000" pitchFamily="2" charset="-78"/>
                        </a:rPr>
                        <a:t>IGRA (Hard)</a:t>
                      </a:r>
                      <a:endParaRPr lang="en-US" sz="3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cs typeface="B Titr" panose="00000700000000000000" pitchFamily="2" charset="-78"/>
                      </a:endParaRPr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3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cs typeface="B Titr" panose="00000700000000000000" pitchFamily="2" charset="-78"/>
                        </a:rPr>
                        <a:t>ARM (Soft)</a:t>
                      </a:r>
                      <a:endParaRPr lang="en-US" sz="3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cs typeface="B Titr" panose="00000700000000000000" pitchFamily="2" charset="-78"/>
                      </a:endParaRPr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862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cs typeface="B Titr" panose="00000700000000000000" pitchFamily="2" charset="-78"/>
                        </a:rPr>
                        <a:t>پردازش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2400" b="1" dirty="0" err="1">
                          <a:solidFill>
                            <a:srgbClr val="22C4C9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فقط</a:t>
                      </a:r>
                      <a:r>
                        <a:rPr lang="en-US" sz="2400" b="1" dirty="0">
                          <a:solidFill>
                            <a:srgbClr val="22C4C9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  k% </a:t>
                      </a:r>
                      <a:r>
                        <a:rPr lang="fa-IR" sz="2400" b="1" dirty="0">
                          <a:solidFill>
                            <a:srgbClr val="22C4C9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22C4C9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پیکسل</a:t>
                      </a:r>
                      <a:endParaRPr lang="en-US" sz="2400" b="1" dirty="0">
                        <a:solidFill>
                          <a:srgbClr val="22C4C9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cs typeface="B Nazanin" panose="000004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2400" b="1" dirty="0">
                          <a:solidFill>
                            <a:srgbClr val="22C4C9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همه پیکسل‌ها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862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cs typeface="B Titr" panose="00000700000000000000" pitchFamily="2" charset="-78"/>
                        </a:rPr>
                        <a:t>ماسک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2400" b="1" dirty="0">
                          <a:solidFill>
                            <a:srgbClr val="00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باینری (0/1)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2400" b="1" dirty="0">
                          <a:solidFill>
                            <a:srgbClr val="00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پیوسته (0~1)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862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cs typeface="B Titr" panose="00000700000000000000" pitchFamily="2" charset="-78"/>
                        </a:rPr>
                        <a:t>سرعت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2400" b="1" dirty="0">
                          <a:solidFill>
                            <a:srgbClr val="22C4C9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خیلی سریع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2400" b="1" dirty="0">
                          <a:solidFill>
                            <a:srgbClr val="22C4C9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کمی کندتر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862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cs typeface="B Titr" panose="00000700000000000000" pitchFamily="2" charset="-78"/>
                        </a:rPr>
                        <a:t>دقت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2400" b="1" dirty="0" err="1">
                          <a:solidFill>
                            <a:srgbClr val="00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بالا</a:t>
                      </a:r>
                      <a:r>
                        <a:rPr lang="en-US" sz="2400" b="1" dirty="0">
                          <a:solidFill>
                            <a:srgbClr val="00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2400" b="1" dirty="0">
                          <a:solidFill>
                            <a:srgbClr val="00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(</a:t>
                      </a:r>
                      <a:r>
                        <a:rPr lang="en-US" sz="2400" b="1" dirty="0" err="1">
                          <a:solidFill>
                            <a:srgbClr val="00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فقط</a:t>
                      </a:r>
                      <a:r>
                        <a:rPr lang="en-US" sz="2400" b="1" dirty="0">
                          <a:solidFill>
                            <a:srgbClr val="00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00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مهم‌ها</a:t>
                      </a:r>
                      <a:r>
                        <a:rPr lang="en-US" sz="2400" b="1" dirty="0">
                          <a:solidFill>
                            <a:srgbClr val="00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(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2400" b="1" dirty="0" err="1">
                          <a:solidFill>
                            <a:srgbClr val="00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خوب</a:t>
                      </a:r>
                      <a:r>
                        <a:rPr lang="en-US" sz="2400" b="1" dirty="0">
                          <a:solidFill>
                            <a:srgbClr val="00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 )</a:t>
                      </a:r>
                      <a:r>
                        <a:rPr lang="en-US" sz="2400" b="1" dirty="0" err="1">
                          <a:solidFill>
                            <a:srgbClr val="00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همه</a:t>
                      </a:r>
                      <a:r>
                        <a:rPr lang="en-US" sz="2400" b="1" dirty="0">
                          <a:solidFill>
                            <a:srgbClr val="00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00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ولی</a:t>
                      </a:r>
                      <a:r>
                        <a:rPr lang="en-US" sz="2400" b="1" dirty="0">
                          <a:solidFill>
                            <a:srgbClr val="00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00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هوشمند</a:t>
                      </a:r>
                      <a:r>
                        <a:rPr lang="en-US" sz="2400" b="1" dirty="0">
                          <a:solidFill>
                            <a:srgbClr val="00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(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862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cs typeface="B Titr" panose="00000700000000000000" pitchFamily="2" charset="-78"/>
                        </a:rPr>
                        <a:t>منبع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2400" b="1" dirty="0">
                          <a:solidFill>
                            <a:srgbClr val="22C4C9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صرفه‌جویی 95%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2400" b="1" dirty="0">
                          <a:solidFill>
                            <a:srgbClr val="22C4C9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cs typeface="B Nazanin" panose="00000400000000000000" pitchFamily="2" charset="-78"/>
                        </a:rPr>
                        <a:t>صرفه‌جویی کمتر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2C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C90B0A0-F62A-0BB4-819E-D2657DB816F7}"/>
              </a:ext>
            </a:extLst>
          </p:cNvPr>
          <p:cNvSpPr txBox="1"/>
          <p:nvPr/>
        </p:nvSpPr>
        <p:spPr>
          <a:xfrm>
            <a:off x="14325600" y="327297"/>
            <a:ext cx="28194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ptos" panose="02110004020202020204"/>
                <a:cs typeface="B Titr" panose="00000700000000000000" pitchFamily="2" charset="-78"/>
              </a:rPr>
              <a:t>Efficient S</a:t>
            </a:r>
            <a:r>
              <a:rPr lang="en-US" sz="1600" b="1" dirty="0">
                <a:solidFill>
                  <a:srgbClr val="22C4C9"/>
                </a:solidFill>
                <a:latin typeface=" "/>
                <a:cs typeface="B Titr" panose="00000700000000000000" pitchFamily="2" charset="-78"/>
              </a:rPr>
              <a:t>uper-Resolution</a:t>
            </a:r>
            <a:endParaRPr lang="fa-IR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AD0E1F-6D16-FB36-C20A-AB699C83963E}"/>
              </a:ext>
            </a:extLst>
          </p:cNvPr>
          <p:cNvSpPr txBox="1"/>
          <p:nvPr/>
        </p:nvSpPr>
        <p:spPr>
          <a:xfrm>
            <a:off x="1295400" y="395198"/>
            <a:ext cx="15240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b="1" dirty="0" err="1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IAFMNet</a:t>
            </a:r>
            <a:endParaRPr lang="fa-IR" b="1" dirty="0">
              <a:solidFill>
                <a:srgbClr val="22C4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122AF5-CB4B-2E02-41EB-B5F38885D6BE}"/>
              </a:ext>
            </a:extLst>
          </p:cNvPr>
          <p:cNvSpPr txBox="1"/>
          <p:nvPr/>
        </p:nvSpPr>
        <p:spPr>
          <a:xfrm>
            <a:off x="1257300" y="9693409"/>
            <a:ext cx="14820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Xu, J., Liu, M., Wang, Z., Wu, F., Wu, S., Huang, T., &amp; Dong, W. (2026). </a:t>
            </a:r>
            <a:r>
              <a:rPr lang="en-US" sz="12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IAFMNet</a:t>
            </a:r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Information-Aware Feature Modulation for Efficient Super-Resolution. In Proceedings of the IEEE/CVF Conference on Computer Vision and Pattern Recognition (pp. 30564-30573).</a:t>
            </a:r>
            <a:endParaRPr lang="fa-IR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824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F2C81F-8631-417E-61E5-445382EAD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9"/>
          <a:stretch/>
        </p:blipFill>
        <p:spPr>
          <a:xfrm>
            <a:off x="17221200" y="0"/>
            <a:ext cx="1066800" cy="128396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A4C5EA-E404-83E0-9783-BA41CDA0C8AF}"/>
              </a:ext>
            </a:extLst>
          </p:cNvPr>
          <p:cNvCxnSpPr/>
          <p:nvPr/>
        </p:nvCxnSpPr>
        <p:spPr>
          <a:xfrm>
            <a:off x="1295400" y="800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62688F-9798-1FED-9114-2F5DBAA53FF2}"/>
              </a:ext>
            </a:extLst>
          </p:cNvPr>
          <p:cNvCxnSpPr/>
          <p:nvPr/>
        </p:nvCxnSpPr>
        <p:spPr>
          <a:xfrm>
            <a:off x="1257300" y="9563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90EAC38-9849-53F6-E5E7-A0A1D1D89E46}"/>
              </a:ext>
            </a:extLst>
          </p:cNvPr>
          <p:cNvSpPr txBox="1"/>
          <p:nvPr/>
        </p:nvSpPr>
        <p:spPr>
          <a:xfrm>
            <a:off x="16635608" y="9639300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14</a:t>
            </a:r>
            <a:endParaRPr lang="fa-I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1614AD-3114-8BAB-732F-74506316F444}"/>
              </a:ext>
            </a:extLst>
          </p:cNvPr>
          <p:cNvSpPr txBox="1"/>
          <p:nvPr/>
        </p:nvSpPr>
        <p:spPr>
          <a:xfrm>
            <a:off x="16176042" y="9648785"/>
            <a:ext cx="585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/ 19</a:t>
            </a:r>
            <a:endParaRPr lang="fa-IR" dirty="0"/>
          </a:p>
        </p:txBody>
      </p:sp>
      <p:sp>
        <p:nvSpPr>
          <p:cNvPr id="4" name="AutoShape 15">
            <a:extLst>
              <a:ext uri="{FF2B5EF4-FFF2-40B4-BE49-F238E27FC236}">
                <a16:creationId xmlns:a16="http://schemas.microsoft.com/office/drawing/2014/main" id="{C4FC02C0-B56A-0830-46E3-B07274CB0DE0}"/>
              </a:ext>
            </a:extLst>
          </p:cNvPr>
          <p:cNvSpPr/>
          <p:nvPr/>
        </p:nvSpPr>
        <p:spPr>
          <a:xfrm>
            <a:off x="3251916" y="9122626"/>
            <a:ext cx="11530884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grpSp>
        <p:nvGrpSpPr>
          <p:cNvPr id="5" name="Group 16">
            <a:extLst>
              <a:ext uri="{FF2B5EF4-FFF2-40B4-BE49-F238E27FC236}">
                <a16:creationId xmlns:a16="http://schemas.microsoft.com/office/drawing/2014/main" id="{BDE7A336-B622-F3D1-F418-C3B0CA68A151}"/>
              </a:ext>
            </a:extLst>
          </p:cNvPr>
          <p:cNvGrpSpPr/>
          <p:nvPr/>
        </p:nvGrpSpPr>
        <p:grpSpPr>
          <a:xfrm rot="-5400000">
            <a:off x="2797195" y="8804860"/>
            <a:ext cx="667355" cy="687106"/>
            <a:chOff x="0" y="0"/>
            <a:chExt cx="812800" cy="812800"/>
          </a:xfrm>
        </p:grpSpPr>
        <p:sp>
          <p:nvSpPr>
            <p:cNvPr id="6" name="Freeform 17">
              <a:extLst>
                <a:ext uri="{FF2B5EF4-FFF2-40B4-BE49-F238E27FC236}">
                  <a16:creationId xmlns:a16="http://schemas.microsoft.com/office/drawing/2014/main" id="{5DCEB216-3807-2771-741A-A499320FB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</p:sp>
        <p:sp>
          <p:nvSpPr>
            <p:cNvPr id="7" name="TextBox 18">
              <a:extLst>
                <a:ext uri="{FF2B5EF4-FFF2-40B4-BE49-F238E27FC236}">
                  <a16:creationId xmlns:a16="http://schemas.microsoft.com/office/drawing/2014/main" id="{3A31615D-70A5-BD9E-B79F-17864B452138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19">
            <a:extLst>
              <a:ext uri="{FF2B5EF4-FFF2-40B4-BE49-F238E27FC236}">
                <a16:creationId xmlns:a16="http://schemas.microsoft.com/office/drawing/2014/main" id="{EAC3830A-6176-3B16-8EE2-1FDC517B3E73}"/>
              </a:ext>
            </a:extLst>
          </p:cNvPr>
          <p:cNvGrpSpPr/>
          <p:nvPr/>
        </p:nvGrpSpPr>
        <p:grpSpPr>
          <a:xfrm rot="-5400000">
            <a:off x="6666861" y="8804860"/>
            <a:ext cx="667355" cy="687106"/>
            <a:chOff x="0" y="0"/>
            <a:chExt cx="812800" cy="812800"/>
          </a:xfrm>
        </p:grpSpPr>
        <p:sp>
          <p:nvSpPr>
            <p:cNvPr id="9" name="Freeform 20">
              <a:extLst>
                <a:ext uri="{FF2B5EF4-FFF2-40B4-BE49-F238E27FC236}">
                  <a16:creationId xmlns:a16="http://schemas.microsoft.com/office/drawing/2014/main" id="{6216871C-7632-5422-D8C4-C228DF98B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10" name="TextBox 21">
              <a:extLst>
                <a:ext uri="{FF2B5EF4-FFF2-40B4-BE49-F238E27FC236}">
                  <a16:creationId xmlns:a16="http://schemas.microsoft.com/office/drawing/2014/main" id="{29E18D1B-E27A-07C3-C4C4-739B8CE8EF4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DB3A361E-DAF6-9C0C-D8AA-EAF48F22AB99}"/>
              </a:ext>
            </a:extLst>
          </p:cNvPr>
          <p:cNvGrpSpPr/>
          <p:nvPr/>
        </p:nvGrpSpPr>
        <p:grpSpPr>
          <a:xfrm rot="-5400000">
            <a:off x="10538615" y="8804860"/>
            <a:ext cx="667355" cy="687106"/>
            <a:chOff x="0" y="0"/>
            <a:chExt cx="812800" cy="812800"/>
          </a:xfrm>
        </p:grpSpPr>
        <p:sp>
          <p:nvSpPr>
            <p:cNvPr id="50" name="Freeform 23">
              <a:extLst>
                <a:ext uri="{FF2B5EF4-FFF2-40B4-BE49-F238E27FC236}">
                  <a16:creationId xmlns:a16="http://schemas.microsoft.com/office/drawing/2014/main" id="{4DAE7F71-AF27-655F-D461-28A4EDCED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0" name="TextBox 24">
              <a:extLst>
                <a:ext uri="{FF2B5EF4-FFF2-40B4-BE49-F238E27FC236}">
                  <a16:creationId xmlns:a16="http://schemas.microsoft.com/office/drawing/2014/main" id="{9AB94623-BF46-0E87-EA75-4165637FF36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1" name="Group 25">
            <a:extLst>
              <a:ext uri="{FF2B5EF4-FFF2-40B4-BE49-F238E27FC236}">
                <a16:creationId xmlns:a16="http://schemas.microsoft.com/office/drawing/2014/main" id="{D5ED0F7B-AB5F-337B-0FDA-C5856DC44B6B}"/>
              </a:ext>
            </a:extLst>
          </p:cNvPr>
          <p:cNvGrpSpPr/>
          <p:nvPr/>
        </p:nvGrpSpPr>
        <p:grpSpPr>
          <a:xfrm rot="-5400000">
            <a:off x="14410369" y="8804860"/>
            <a:ext cx="667355" cy="687106"/>
            <a:chOff x="0" y="0"/>
            <a:chExt cx="812800" cy="812800"/>
          </a:xfrm>
        </p:grpSpPr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7D8014C9-2B0C-AC99-4A55-3D2A6FB8B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3" name="TextBox 27">
              <a:extLst>
                <a:ext uri="{FF2B5EF4-FFF2-40B4-BE49-F238E27FC236}">
                  <a16:creationId xmlns:a16="http://schemas.microsoft.com/office/drawing/2014/main" id="{86D3AB7D-0E07-473B-E807-72BA8DA3E51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96546" tIns="96546" rIns="96546" bIns="96546" rtlCol="0" anchor="ctr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4" name="TextBox 39">
            <a:extLst>
              <a:ext uri="{FF2B5EF4-FFF2-40B4-BE49-F238E27FC236}">
                <a16:creationId xmlns:a16="http://schemas.microsoft.com/office/drawing/2014/main" id="{AAFB2601-CE5E-5E6C-3429-E8DB76A2708E}"/>
              </a:ext>
            </a:extLst>
          </p:cNvPr>
          <p:cNvSpPr txBox="1"/>
          <p:nvPr/>
        </p:nvSpPr>
        <p:spPr>
          <a:xfrm>
            <a:off x="14579748" y="8814734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solidFill>
                  <a:srgbClr val="22C4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65" name="TextBox 40">
            <a:extLst>
              <a:ext uri="{FF2B5EF4-FFF2-40B4-BE49-F238E27FC236}">
                <a16:creationId xmlns:a16="http://schemas.microsoft.com/office/drawing/2014/main" id="{97C2E846-A1E1-EF22-09AA-FAF75E60E2C1}"/>
              </a:ext>
            </a:extLst>
          </p:cNvPr>
          <p:cNvSpPr txBox="1"/>
          <p:nvPr/>
        </p:nvSpPr>
        <p:spPr>
          <a:xfrm>
            <a:off x="10701666" y="8801100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66" name="TextBox 41">
            <a:extLst>
              <a:ext uri="{FF2B5EF4-FFF2-40B4-BE49-F238E27FC236}">
                <a16:creationId xmlns:a16="http://schemas.microsoft.com/office/drawing/2014/main" id="{927DC158-62EC-5F2C-FA49-9B101E5D80F9}"/>
              </a:ext>
            </a:extLst>
          </p:cNvPr>
          <p:cNvSpPr txBox="1"/>
          <p:nvPr/>
        </p:nvSpPr>
        <p:spPr>
          <a:xfrm>
            <a:off x="6842227" y="8824363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solidFill>
                  <a:srgbClr val="22C4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67" name="TextBox 42">
            <a:extLst>
              <a:ext uri="{FF2B5EF4-FFF2-40B4-BE49-F238E27FC236}">
                <a16:creationId xmlns:a16="http://schemas.microsoft.com/office/drawing/2014/main" id="{7F62EEA9-5D15-611A-92CA-3F2A36D1D358}"/>
              </a:ext>
            </a:extLst>
          </p:cNvPr>
          <p:cNvSpPr txBox="1"/>
          <p:nvPr/>
        </p:nvSpPr>
        <p:spPr>
          <a:xfrm>
            <a:off x="2941764" y="8828146"/>
            <a:ext cx="317096" cy="49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400" b="1" dirty="0"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  <a:endParaRPr lang="en-US" sz="3172" b="1" dirty="0"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CE5970-40C5-A953-8B9A-46410114996D}"/>
              </a:ext>
            </a:extLst>
          </p:cNvPr>
          <p:cNvSpPr txBox="1"/>
          <p:nvPr/>
        </p:nvSpPr>
        <p:spPr>
          <a:xfrm>
            <a:off x="9001075" y="1963367"/>
            <a:ext cx="806772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/>
            </a:pPr>
            <a:r>
              <a:rPr lang="en-US" sz="2800" b="1" dirty="0" err="1">
                <a:solidFill>
                  <a:srgbClr val="FFFFFF"/>
                </a:solidFill>
                <a:cs typeface="B Titr" panose="00000700000000000000" pitchFamily="2" charset="-78"/>
              </a:rPr>
              <a:t>بازسازی</a:t>
            </a:r>
            <a:r>
              <a:rPr lang="en-US" sz="2800" b="1" dirty="0">
                <a:solidFill>
                  <a:srgbClr val="FFFFFF"/>
                </a:solidFill>
                <a:cs typeface="B Titr" panose="00000700000000000000" pitchFamily="2" charset="-78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cs typeface="B Titr" panose="00000700000000000000" pitchFamily="2" charset="-78"/>
              </a:rPr>
              <a:t>تصویر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: </a:t>
            </a:r>
            <a:r>
              <a:rPr kumimoji="0" lang="en-US" sz="3200" b="1" i="0" u="sng" strike="noStrike" kern="1200" cap="none" spc="0" normalizeH="0" baseline="0" noProof="0" dirty="0" err="1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B Titr" panose="00000700000000000000" pitchFamily="2" charset="-78"/>
              </a:rPr>
              <a:t>PixelShuffle</a:t>
            </a:r>
            <a:r>
              <a:rPr kumimoji="0" lang="en-US" sz="32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B Titr" panose="00000700000000000000" pitchFamily="2" charset="-78"/>
              </a:rPr>
              <a:t> Reconstruction 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58340BD-1ED0-9DBF-01F2-CAA185266825}"/>
              </a:ext>
            </a:extLst>
          </p:cNvPr>
          <p:cNvGrpSpPr/>
          <p:nvPr/>
        </p:nvGrpSpPr>
        <p:grpSpPr>
          <a:xfrm>
            <a:off x="8878915" y="3029548"/>
            <a:ext cx="7297127" cy="5094442"/>
            <a:chOff x="10744200" y="3695700"/>
            <a:chExt cx="6665400" cy="5257800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B3B6682A-2C32-95AE-0897-596493A06798}"/>
                </a:ext>
              </a:extLst>
            </p:cNvPr>
            <p:cNvSpPr/>
            <p:nvPr/>
          </p:nvSpPr>
          <p:spPr>
            <a:xfrm>
              <a:off x="10744200" y="3695700"/>
              <a:ext cx="6629400" cy="5257800"/>
            </a:xfrm>
            <a:prstGeom prst="roundRect">
              <a:avLst>
                <a:gd name="adj" fmla="val 4040"/>
              </a:avLst>
            </a:prstGeom>
            <a:solidFill>
              <a:srgbClr val="85FFFF">
                <a:alpha val="2000"/>
              </a:srgbClr>
            </a:solidFill>
            <a:ln w="6350">
              <a:solidFill>
                <a:srgbClr val="00FFFF">
                  <a:alpha val="22000"/>
                </a:srgb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409BC62D-A1D7-818F-7155-8B8F0C68D4BF}"/>
                </a:ext>
              </a:extLst>
            </p:cNvPr>
            <p:cNvSpPr/>
            <p:nvPr/>
          </p:nvSpPr>
          <p:spPr>
            <a:xfrm>
              <a:off x="17373600" y="3876600"/>
              <a:ext cx="36000" cy="4896000"/>
            </a:xfrm>
            <a:prstGeom prst="roundRect">
              <a:avLst/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7CEB73D-8309-DFE1-38D4-D9BAD6246D8A}"/>
              </a:ext>
            </a:extLst>
          </p:cNvPr>
          <p:cNvCxnSpPr>
            <a:cxnSpLocks/>
          </p:cNvCxnSpPr>
          <p:nvPr/>
        </p:nvCxnSpPr>
        <p:spPr>
          <a:xfrm>
            <a:off x="10958973" y="3953257"/>
            <a:ext cx="4827998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E01B185-E27C-46A1-3CA6-BF9E70845268}"/>
              </a:ext>
            </a:extLst>
          </p:cNvPr>
          <p:cNvSpPr txBox="1"/>
          <p:nvPr/>
        </p:nvSpPr>
        <p:spPr>
          <a:xfrm>
            <a:off x="12107848" y="3357133"/>
            <a:ext cx="37501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1" i="0" dirty="0" err="1">
                <a:solidFill>
                  <a:srgbClr val="66FCF1"/>
                </a:solidFill>
                <a:effectLst/>
                <a:latin typeface="Noto Sans Arabic"/>
                <a:cs typeface="B Titr" panose="00000700000000000000" pitchFamily="2" charset="-78"/>
              </a:rPr>
              <a:t>PixelShuffle</a:t>
            </a:r>
            <a:r>
              <a:rPr lang="en-US" sz="2400" b="1" i="0" dirty="0">
                <a:solidFill>
                  <a:srgbClr val="66FCF1"/>
                </a:solidFill>
                <a:effectLst/>
                <a:latin typeface="Noto Sans Arabic"/>
                <a:cs typeface="B Titr" panose="00000700000000000000" pitchFamily="2" charset="-78"/>
              </a:rPr>
              <a:t> Reconstruction </a:t>
            </a:r>
            <a:endParaRPr lang="fa-IR" sz="2400" b="1" i="0" dirty="0">
              <a:solidFill>
                <a:srgbClr val="66FCF1"/>
              </a:solidFill>
              <a:effectLst/>
              <a:latin typeface="Noto Sans Arabic"/>
              <a:cs typeface="B Titr" panose="00000700000000000000" pitchFamily="2" charset="-78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A321AB-6291-6FF2-2362-8E809A2524F0}"/>
              </a:ext>
            </a:extLst>
          </p:cNvPr>
          <p:cNvSpPr txBox="1"/>
          <p:nvPr/>
        </p:nvSpPr>
        <p:spPr>
          <a:xfrm>
            <a:off x="9677400" y="4418378"/>
            <a:ext cx="5957171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rtl="1">
              <a:lnSpc>
                <a:spcPct val="200000"/>
              </a:lnSpc>
              <a:buClr>
                <a:srgbClr val="00FFFF"/>
              </a:buClr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خروجی آخرین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en-US" sz="2400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IFEB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با نقشه میانگین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el-G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μ</a:t>
            </a:r>
            <a:r>
              <a:rPr lang="el-G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fa-IR" sz="2400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ادغام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(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Fuse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) می‌شود.</a:t>
            </a:r>
          </a:p>
          <a:p>
            <a:pPr marL="342900" indent="-342900" algn="just" rtl="1">
              <a:lnSpc>
                <a:spcPct val="200000"/>
              </a:lnSpc>
              <a:buClr>
                <a:srgbClr val="00FFFF"/>
              </a:buClr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سپس یک لایه </a:t>
            </a:r>
            <a:r>
              <a:rPr lang="fa-IR" sz="2400" b="1" dirty="0">
                <a:solidFill>
                  <a:srgbClr val="00FFFF"/>
                </a:solidFill>
                <a:cs typeface="B Nazanin" panose="00000400000000000000" pitchFamily="2" charset="-78"/>
              </a:rPr>
              <a:t>کانولوشن سبک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اعمال می‌شود.</a:t>
            </a:r>
          </a:p>
          <a:p>
            <a:pPr marL="342900" indent="-342900" algn="just" rtl="1">
              <a:lnSpc>
                <a:spcPct val="200000"/>
              </a:lnSpc>
              <a:buClr>
                <a:srgbClr val="00FFFF"/>
              </a:buClr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در نهایت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en-US" sz="2400" b="1" u="sng" dirty="0" err="1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PixelShuffle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تصویر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 HR </a:t>
            </a:r>
            <a:r>
              <a:rPr lang="fa-IR" sz="2400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را بازسازی می‌کند.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F1558B8-678D-76D7-17D4-85310A4D2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7579" y="2167183"/>
            <a:ext cx="5402021" cy="6391921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7A26271B-5A96-3A9C-A2F6-A3D32B55D89D}"/>
              </a:ext>
            </a:extLst>
          </p:cNvPr>
          <p:cNvSpPr txBox="1"/>
          <p:nvPr/>
        </p:nvSpPr>
        <p:spPr>
          <a:xfrm>
            <a:off x="14325600" y="327297"/>
            <a:ext cx="28194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ptos" panose="02110004020202020204"/>
                <a:cs typeface="B Titr" panose="00000700000000000000" pitchFamily="2" charset="-78"/>
              </a:rPr>
              <a:t>Efficient S</a:t>
            </a:r>
            <a:r>
              <a:rPr lang="en-US" sz="1600" b="1" dirty="0">
                <a:solidFill>
                  <a:srgbClr val="22C4C9"/>
                </a:solidFill>
                <a:latin typeface=" "/>
                <a:cs typeface="B Titr" panose="00000700000000000000" pitchFamily="2" charset="-78"/>
              </a:rPr>
              <a:t>uper-Resolution</a:t>
            </a:r>
            <a:endParaRPr lang="fa-IR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E02383-19A5-3D9C-4254-153F3636AC4D}"/>
              </a:ext>
            </a:extLst>
          </p:cNvPr>
          <p:cNvSpPr txBox="1"/>
          <p:nvPr/>
        </p:nvSpPr>
        <p:spPr>
          <a:xfrm>
            <a:off x="1295400" y="395198"/>
            <a:ext cx="15240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b="1" dirty="0" err="1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IAFMNet</a:t>
            </a:r>
            <a:endParaRPr lang="fa-IR" b="1" dirty="0">
              <a:solidFill>
                <a:srgbClr val="22C4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B213D00-5727-D351-F4FE-8C1EADA94CBE}"/>
              </a:ext>
            </a:extLst>
          </p:cNvPr>
          <p:cNvSpPr txBox="1"/>
          <p:nvPr/>
        </p:nvSpPr>
        <p:spPr>
          <a:xfrm>
            <a:off x="1257300" y="9693409"/>
            <a:ext cx="14820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Xu, J., Liu, M., Wang, Z., Wu, F., Wu, S., Huang, T., &amp; Dong, W. (2026). </a:t>
            </a:r>
            <a:r>
              <a:rPr lang="en-US" sz="12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IAFMNet</a:t>
            </a:r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Information-Aware Feature Modulation for Efficient Super-Resolution. In Proceedings of the IEEE/CVF Conference on Computer Vision and Pattern Recognition (pp. 30564-30573).</a:t>
            </a:r>
            <a:endParaRPr lang="fa-IR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8319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7"/>
          <p:cNvSpPr/>
          <p:nvPr/>
        </p:nvSpPr>
        <p:spPr>
          <a:xfrm>
            <a:off x="1678489" y="3091250"/>
            <a:ext cx="14790349" cy="6246954"/>
          </a:xfrm>
          <a:custGeom>
            <a:avLst/>
            <a:gdLst/>
            <a:ahLst/>
            <a:cxnLst/>
            <a:rect l="l" t="t" r="r" b="b"/>
            <a:pathLst>
              <a:path w="1834320" h="1750276">
                <a:moveTo>
                  <a:pt x="56691" y="0"/>
                </a:moveTo>
                <a:lnTo>
                  <a:pt x="1777629" y="0"/>
                </a:lnTo>
                <a:cubicBezTo>
                  <a:pt x="1808939" y="0"/>
                  <a:pt x="1834320" y="25382"/>
                  <a:pt x="1834320" y="56691"/>
                </a:cubicBezTo>
                <a:lnTo>
                  <a:pt x="1834320" y="1693585"/>
                </a:lnTo>
                <a:cubicBezTo>
                  <a:pt x="1834320" y="1708620"/>
                  <a:pt x="1828348" y="1723040"/>
                  <a:pt x="1817716" y="1733672"/>
                </a:cubicBezTo>
                <a:cubicBezTo>
                  <a:pt x="1807084" y="1744303"/>
                  <a:pt x="1792664" y="1750276"/>
                  <a:pt x="1777629" y="1750276"/>
                </a:cubicBezTo>
                <a:lnTo>
                  <a:pt x="56691" y="1750276"/>
                </a:lnTo>
                <a:cubicBezTo>
                  <a:pt x="41656" y="1750276"/>
                  <a:pt x="27236" y="1744303"/>
                  <a:pt x="16605" y="1733672"/>
                </a:cubicBezTo>
                <a:cubicBezTo>
                  <a:pt x="5973" y="1723040"/>
                  <a:pt x="0" y="1708620"/>
                  <a:pt x="0" y="1693585"/>
                </a:cubicBezTo>
                <a:lnTo>
                  <a:pt x="0" y="56691"/>
                </a:lnTo>
                <a:cubicBezTo>
                  <a:pt x="0" y="41656"/>
                  <a:pt x="5973" y="27236"/>
                  <a:pt x="16605" y="16605"/>
                </a:cubicBezTo>
                <a:cubicBezTo>
                  <a:pt x="27236" y="5973"/>
                  <a:pt x="41656" y="0"/>
                  <a:pt x="56691" y="0"/>
                </a:cubicBezTo>
                <a:close/>
              </a:path>
            </a:pathLst>
          </a:custGeom>
          <a:solidFill>
            <a:srgbClr val="202127"/>
          </a:solidFill>
        </p:spPr>
        <p:txBody>
          <a:bodyPr/>
          <a:lstStyle/>
          <a:p>
            <a:endParaRPr lang="fa-IR" dirty="0"/>
          </a:p>
        </p:txBody>
      </p:sp>
      <p:sp>
        <p:nvSpPr>
          <p:cNvPr id="23" name="TextBox 23"/>
          <p:cNvSpPr txBox="1"/>
          <p:nvPr/>
        </p:nvSpPr>
        <p:spPr>
          <a:xfrm>
            <a:off x="9233556" y="8091460"/>
            <a:ext cx="7351120" cy="63219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387"/>
              </a:lnSpc>
            </a:pPr>
            <a:endParaRPr/>
          </a:p>
        </p:txBody>
      </p:sp>
      <p:sp>
        <p:nvSpPr>
          <p:cNvPr id="28" name="Freeform 19"/>
          <p:cNvSpPr/>
          <p:nvPr/>
        </p:nvSpPr>
        <p:spPr>
          <a:xfrm>
            <a:off x="1859901" y="8001174"/>
            <a:ext cx="14427524" cy="991840"/>
          </a:xfrm>
          <a:custGeom>
            <a:avLst/>
            <a:gdLst/>
            <a:ahLst/>
            <a:cxnLst/>
            <a:rect l="l" t="t" r="r" b="b"/>
            <a:pathLst>
              <a:path w="1417549" h="183966">
                <a:moveTo>
                  <a:pt x="29919" y="0"/>
                </a:moveTo>
                <a:lnTo>
                  <a:pt x="1387630" y="0"/>
                </a:lnTo>
                <a:cubicBezTo>
                  <a:pt x="1404154" y="0"/>
                  <a:pt x="1417549" y="13395"/>
                  <a:pt x="1417549" y="29919"/>
                </a:cubicBezTo>
                <a:lnTo>
                  <a:pt x="1417549" y="154047"/>
                </a:lnTo>
                <a:cubicBezTo>
                  <a:pt x="1417549" y="170571"/>
                  <a:pt x="1404154" y="183966"/>
                  <a:pt x="1387630" y="183966"/>
                </a:cubicBezTo>
                <a:lnTo>
                  <a:pt x="29919" y="183966"/>
                </a:lnTo>
                <a:cubicBezTo>
                  <a:pt x="13395" y="183966"/>
                  <a:pt x="0" y="170571"/>
                  <a:pt x="0" y="154047"/>
                </a:cubicBezTo>
                <a:lnTo>
                  <a:pt x="0" y="29919"/>
                </a:lnTo>
                <a:cubicBezTo>
                  <a:pt x="0" y="13395"/>
                  <a:pt x="13395" y="0"/>
                  <a:pt x="29919" y="0"/>
                </a:cubicBezTo>
                <a:close/>
              </a:path>
            </a:pathLst>
          </a:custGeom>
          <a:solidFill>
            <a:srgbClr val="00FFFF">
              <a:alpha val="2000"/>
            </a:srgbClr>
          </a:solidFill>
          <a:ln w="3175" cap="rnd">
            <a:solidFill>
              <a:srgbClr val="00FFFF">
                <a:alpha val="27000"/>
              </a:srgbClr>
            </a:solidFill>
            <a:prstDash val="solid"/>
            <a:round/>
          </a:ln>
        </p:spPr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D72C05-C734-5269-6134-3173956BC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9"/>
          <a:stretch/>
        </p:blipFill>
        <p:spPr>
          <a:xfrm>
            <a:off x="17221200" y="0"/>
            <a:ext cx="1066800" cy="128396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9E727D7-7FDC-4D9A-81AA-D13F5F4C0CDA}"/>
              </a:ext>
            </a:extLst>
          </p:cNvPr>
          <p:cNvCxnSpPr/>
          <p:nvPr/>
        </p:nvCxnSpPr>
        <p:spPr>
          <a:xfrm>
            <a:off x="1295400" y="800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4776E2-6AE6-A1F8-62DE-F245AB99A3EE}"/>
              </a:ext>
            </a:extLst>
          </p:cNvPr>
          <p:cNvCxnSpPr/>
          <p:nvPr/>
        </p:nvCxnSpPr>
        <p:spPr>
          <a:xfrm>
            <a:off x="1257300" y="9563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A4B1A3C-9DCC-CE64-E83E-26076CEDCD81}"/>
              </a:ext>
            </a:extLst>
          </p:cNvPr>
          <p:cNvSpPr txBox="1"/>
          <p:nvPr/>
        </p:nvSpPr>
        <p:spPr>
          <a:xfrm>
            <a:off x="16635608" y="9639300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15</a:t>
            </a:r>
            <a:endParaRPr lang="fa-I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8DB31A-B1E9-55E7-963B-39F644299DC8}"/>
              </a:ext>
            </a:extLst>
          </p:cNvPr>
          <p:cNvSpPr txBox="1"/>
          <p:nvPr/>
        </p:nvSpPr>
        <p:spPr>
          <a:xfrm>
            <a:off x="16176042" y="9648785"/>
            <a:ext cx="585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/ </a:t>
            </a:r>
            <a:r>
              <a:rPr lang="fa-IR" b="1" dirty="0">
                <a:solidFill>
                  <a:srgbClr val="66FCF1"/>
                </a:solidFill>
                <a:latin typeface="Inter"/>
              </a:rPr>
              <a:t>19</a:t>
            </a:r>
            <a:endParaRPr lang="fa-IR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EF70146-03EE-214D-6582-3A1F16A862CE}"/>
              </a:ext>
            </a:extLst>
          </p:cNvPr>
          <p:cNvCxnSpPr>
            <a:cxnSpLocks/>
          </p:cNvCxnSpPr>
          <p:nvPr/>
        </p:nvCxnSpPr>
        <p:spPr>
          <a:xfrm>
            <a:off x="2667000" y="3911509"/>
            <a:ext cx="13432961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60EC730-6C65-9DC6-E5DA-BE715C13BCBE}"/>
              </a:ext>
            </a:extLst>
          </p:cNvPr>
          <p:cNvSpPr txBox="1"/>
          <p:nvPr/>
        </p:nvSpPr>
        <p:spPr>
          <a:xfrm>
            <a:off x="10876122" y="2001877"/>
            <a:ext cx="57594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3200" dirty="0">
                <a:solidFill>
                  <a:schemeClr val="bg1"/>
                </a:solidFill>
                <a:cs typeface="B Titr" panose="00000700000000000000" pitchFamily="2" charset="-78"/>
              </a:rPr>
              <a:t>ارزیابی تجربی: </a:t>
            </a:r>
            <a:r>
              <a:rPr lang="fa-IR" sz="3200" u="sng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نتایج کمی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70EC47-E9F0-6414-A947-87C7E7FE663B}"/>
              </a:ext>
            </a:extLst>
          </p:cNvPr>
          <p:cNvSpPr txBox="1"/>
          <p:nvPr/>
        </p:nvSpPr>
        <p:spPr>
          <a:xfrm>
            <a:off x="10900185" y="3268915"/>
            <a:ext cx="51997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400" i="0" u="none" strike="noStrike" kern="1200" cap="none" spc="0" normalizeH="0" baseline="0" noProof="0" dirty="0">
                <a:ln>
                  <a:noFill/>
                </a:ln>
                <a:solidFill>
                  <a:srgbClr val="66FCF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ارزیابی گسترده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66FCF1"/>
              </a:solidFill>
              <a:effectLst/>
              <a:uLnTx/>
              <a:uFillTx/>
              <a:cs typeface="B Titr" panose="00000700000000000000" pitchFamily="2" charset="-78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EF25C3F-B506-FCB8-94BA-73C68F32B04F}"/>
              </a:ext>
            </a:extLst>
          </p:cNvPr>
          <p:cNvSpPr txBox="1"/>
          <p:nvPr/>
        </p:nvSpPr>
        <p:spPr>
          <a:xfrm>
            <a:off x="1990866" y="8200431"/>
            <a:ext cx="141151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/>
            <a:r>
              <a:rPr lang="fa-IR" sz="2400" b="1" dirty="0">
                <a:solidFill>
                  <a:srgbClr val="00FFFF"/>
                </a:solidFill>
                <a:cs typeface="B Nazanin" panose="00000400000000000000" pitchFamily="2" charset="-78"/>
              </a:rPr>
              <a:t>نتیجه: </a:t>
            </a:r>
            <a:r>
              <a:rPr lang="en-US" sz="2400" b="1" dirty="0">
                <a:solidFill>
                  <a:srgbClr val="00FFFF"/>
                </a:solidFill>
                <a:cs typeface="B Nazanin" panose="00000400000000000000" pitchFamily="2" charset="-78"/>
              </a:rPr>
              <a:t> </a:t>
            </a:r>
            <a:r>
              <a:rPr lang="fa-IR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دستیابی به تعادل مناسب بین کیفیت بازسازی و کارایی محاسباتی</a:t>
            </a:r>
            <a:r>
              <a:rPr lang="fa-IR" sz="2400" b="1" dirty="0">
                <a:solidFill>
                  <a:srgbClr val="00FFFF"/>
                </a:solidFill>
                <a:cs typeface="B Nazanin" panose="00000400000000000000" pitchFamily="2" charset="-78"/>
              </a:rPr>
              <a:t>.</a:t>
            </a:r>
            <a:endParaRPr lang="fa-IR" sz="2400" b="1" dirty="0">
              <a:solidFill>
                <a:schemeClr val="bg1">
                  <a:lumMod val="85000"/>
                </a:schemeClr>
              </a:solidFill>
              <a:cs typeface="B Nazanin" panose="00000400000000000000" pitchFamily="2" charset="-78"/>
            </a:endParaRP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2FF663E8-BB88-AC8D-F620-90480607294F}"/>
              </a:ext>
            </a:extLst>
          </p:cNvPr>
          <p:cNvSpPr txBox="1"/>
          <p:nvPr/>
        </p:nvSpPr>
        <p:spPr>
          <a:xfrm>
            <a:off x="9205482" y="3911509"/>
            <a:ext cx="7351120" cy="63219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387"/>
              </a:lnSpc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7252A6-995D-EF3E-2889-E2F4F8579E06}"/>
              </a:ext>
            </a:extLst>
          </p:cNvPr>
          <p:cNvSpPr txBox="1"/>
          <p:nvPr/>
        </p:nvSpPr>
        <p:spPr>
          <a:xfrm>
            <a:off x="1988001" y="4108364"/>
            <a:ext cx="141151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800" b="1" dirty="0">
                <a:solidFill>
                  <a:schemeClr val="bg1"/>
                </a:solidFill>
                <a:cs typeface="B Nazanin" panose="00000400000000000000" pitchFamily="2" charset="-78"/>
              </a:rPr>
              <a:t>مجموعه داده آموزشی: </a:t>
            </a:r>
            <a:r>
              <a:rPr lang="en-US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DF2K (DIV2K + Flickr2K)</a:t>
            </a:r>
            <a:endParaRPr lang="fa-IR" sz="2800" b="1" dirty="0">
              <a:solidFill>
                <a:srgbClr val="22C4C9"/>
              </a:solidFill>
              <a:cs typeface="B Nazanin" panose="000004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11F53C-33B6-AE68-289B-EF964CF03199}"/>
              </a:ext>
            </a:extLst>
          </p:cNvPr>
          <p:cNvSpPr txBox="1"/>
          <p:nvPr/>
        </p:nvSpPr>
        <p:spPr>
          <a:xfrm>
            <a:off x="1257300" y="9693408"/>
            <a:ext cx="12611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[3] Ding, X., Zhou, J., Dou, L., Chen, Q., Wu, Y., Chen, A., &amp; He, L. (2024, November). Boosting large language models with continual learning for aspect-based sentiment analysis. In Findings of the Association for Computational Linguistics: EMNLP 2024 (pp. 4367-4377).</a:t>
            </a:r>
            <a:endParaRPr lang="fa-IR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EE7512-F2EF-7FFB-42F6-6EA233A380B5}"/>
              </a:ext>
            </a:extLst>
          </p:cNvPr>
          <p:cNvSpPr txBox="1"/>
          <p:nvPr/>
        </p:nvSpPr>
        <p:spPr>
          <a:xfrm>
            <a:off x="2026035" y="4776545"/>
            <a:ext cx="141151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800" b="1" dirty="0">
                <a:solidFill>
                  <a:schemeClr val="bg1"/>
                </a:solidFill>
                <a:cs typeface="B Nazanin" panose="00000400000000000000" pitchFamily="2" charset="-78"/>
              </a:rPr>
              <a:t>مجموعه</a:t>
            </a:r>
            <a:r>
              <a:rPr lang="fa-IR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 </a:t>
            </a:r>
            <a:r>
              <a:rPr lang="fa-IR" sz="2800" b="1" dirty="0">
                <a:solidFill>
                  <a:schemeClr val="bg1"/>
                </a:solidFill>
                <a:cs typeface="B Nazanin" panose="00000400000000000000" pitchFamily="2" charset="-78"/>
              </a:rPr>
              <a:t>داده</a:t>
            </a:r>
            <a:r>
              <a:rPr lang="fa-IR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 </a:t>
            </a:r>
            <a:r>
              <a:rPr lang="fa-IR" sz="2800" b="1" dirty="0">
                <a:solidFill>
                  <a:schemeClr val="bg1"/>
                </a:solidFill>
                <a:cs typeface="B Nazanin" panose="00000400000000000000" pitchFamily="2" charset="-78"/>
              </a:rPr>
              <a:t>تست:</a:t>
            </a:r>
            <a:r>
              <a:rPr lang="fa-IR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 </a:t>
            </a:r>
            <a:r>
              <a:rPr lang="en-US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 Set5، Set14، BSD100، Urban100، Manga109</a:t>
            </a:r>
            <a:endParaRPr lang="fa-IR" sz="2800" b="1" dirty="0">
              <a:solidFill>
                <a:srgbClr val="22C4C9"/>
              </a:solidFill>
              <a:cs typeface="B Nazanin" panose="00000400000000000000" pitchFamily="2" charset="-78"/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49895223-23F1-E233-A885-F9E5B224C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a-IR" altLang="fa-I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Testing:</a:t>
            </a:r>
            <a:r>
              <a:rPr kumimoji="0" lang="fa-IR" altLang="fa-I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Set5، Set14، BSD100، Urban100، Manga109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a-IR" altLang="fa-I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8DB3BF-C186-A151-1F05-8B58957655F3}"/>
              </a:ext>
            </a:extLst>
          </p:cNvPr>
          <p:cNvSpPr txBox="1"/>
          <p:nvPr/>
        </p:nvSpPr>
        <p:spPr>
          <a:xfrm>
            <a:off x="1988001" y="5467331"/>
            <a:ext cx="141151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800" b="1" dirty="0">
                <a:solidFill>
                  <a:schemeClr val="bg1"/>
                </a:solidFill>
                <a:cs typeface="B Nazanin" panose="00000400000000000000" pitchFamily="2" charset="-78"/>
              </a:rPr>
              <a:t>معیارهای</a:t>
            </a:r>
            <a:r>
              <a:rPr lang="fa-IR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 </a:t>
            </a:r>
            <a:r>
              <a:rPr lang="fa-IR" sz="2800" b="1" dirty="0">
                <a:solidFill>
                  <a:schemeClr val="bg1"/>
                </a:solidFill>
                <a:cs typeface="B Nazanin" panose="00000400000000000000" pitchFamily="2" charset="-78"/>
              </a:rPr>
              <a:t>ارزیابی:</a:t>
            </a:r>
            <a:r>
              <a:rPr lang="fa-IR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 </a:t>
            </a:r>
            <a:r>
              <a:rPr lang="en-US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 PSNR، SSIM</a:t>
            </a:r>
            <a:r>
              <a:rPr lang="fa-IR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 (روی کانال </a:t>
            </a:r>
            <a:r>
              <a:rPr lang="en-US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 Y </a:t>
            </a:r>
            <a:r>
              <a:rPr lang="fa-IR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 در فضای </a:t>
            </a:r>
            <a:r>
              <a:rPr lang="en-US" sz="2800" b="1" dirty="0" err="1">
                <a:solidFill>
                  <a:srgbClr val="22C4C9"/>
                </a:solidFill>
                <a:cs typeface="B Nazanin" panose="00000400000000000000" pitchFamily="2" charset="-78"/>
              </a:rPr>
              <a:t>YCbCr</a:t>
            </a:r>
            <a:r>
              <a:rPr lang="fa-IR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 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30C520-C6C8-5BEA-9867-33CA2D6532B5}"/>
              </a:ext>
            </a:extLst>
          </p:cNvPr>
          <p:cNvSpPr txBox="1"/>
          <p:nvPr/>
        </p:nvSpPr>
        <p:spPr>
          <a:xfrm>
            <a:off x="1980557" y="6348296"/>
            <a:ext cx="1411517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cs typeface="B Nazanin" panose="00000400000000000000" pitchFamily="2" charset="-78"/>
              </a:rPr>
              <a:t>Training</a:t>
            </a:r>
            <a:r>
              <a:rPr lang="en-US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: Adam، </a:t>
            </a:r>
            <a:r>
              <a:rPr lang="fa-IR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پچ‌های 64×64، </a:t>
            </a:r>
            <a:r>
              <a:rPr lang="en-US" sz="2800" b="1" dirty="0">
                <a:solidFill>
                  <a:schemeClr val="bg1"/>
                </a:solidFill>
                <a:cs typeface="B Nazanin" panose="00000400000000000000" pitchFamily="2" charset="-78"/>
              </a:rPr>
              <a:t>Data</a:t>
            </a:r>
            <a:r>
              <a:rPr lang="en-US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 </a:t>
            </a:r>
            <a:r>
              <a:rPr lang="en-US" sz="2800" b="1" dirty="0">
                <a:solidFill>
                  <a:schemeClr val="bg1"/>
                </a:solidFill>
                <a:cs typeface="B Nazanin" panose="00000400000000000000" pitchFamily="2" charset="-78"/>
              </a:rPr>
              <a:t>Augmentation</a:t>
            </a:r>
            <a:r>
              <a:rPr lang="en-US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، L=L</a:t>
            </a:r>
            <a:r>
              <a:rPr lang="en-US" sz="2000" b="1" dirty="0">
                <a:solidFill>
                  <a:srgbClr val="22C4C9"/>
                </a:solidFill>
                <a:cs typeface="B Nazanin" panose="00000400000000000000" pitchFamily="2" charset="-78"/>
              </a:rPr>
              <a:t>1</a:t>
            </a:r>
            <a:r>
              <a:rPr lang="en-US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	​+</a:t>
            </a:r>
            <a:r>
              <a:rPr lang="el-GR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λ</a:t>
            </a:r>
            <a:r>
              <a:rPr lang="en-US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L</a:t>
            </a:r>
            <a:r>
              <a:rPr lang="en-US" b="1" dirty="0">
                <a:solidFill>
                  <a:srgbClr val="22C4C9"/>
                </a:solidFill>
                <a:cs typeface="B Nazanin" panose="00000400000000000000" pitchFamily="2" charset="-78"/>
              </a:rPr>
              <a:t>IE</a:t>
            </a:r>
            <a:r>
              <a:rPr lang="en-US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	​</a:t>
            </a:r>
          </a:p>
          <a:p>
            <a:endParaRPr lang="en-US" sz="2400" b="1" dirty="0">
              <a:solidFill>
                <a:srgbClr val="22C4C9"/>
              </a:solidFill>
              <a:cs typeface="B Nazanin" panose="00000400000000000000" pitchFamily="2" charset="-78"/>
            </a:endParaRPr>
          </a:p>
          <a:p>
            <a:pPr algn="r" rtl="1"/>
            <a:r>
              <a:rPr lang="fa-IR" sz="2800" b="1" dirty="0">
                <a:solidFill>
                  <a:schemeClr val="bg1"/>
                </a:solidFill>
                <a:cs typeface="B Nazanin" panose="00000400000000000000" pitchFamily="2" charset="-78"/>
              </a:rPr>
              <a:t>مقایسه</a:t>
            </a:r>
            <a:r>
              <a:rPr lang="en-US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: </a:t>
            </a:r>
            <a:r>
              <a:rPr lang="fa-IR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با مدل‌های سبک </a:t>
            </a:r>
            <a:r>
              <a:rPr lang="en-US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 CNN </a:t>
            </a:r>
            <a:r>
              <a:rPr lang="fa-IR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و </a:t>
            </a:r>
            <a:r>
              <a:rPr lang="en-US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 Transformer </a:t>
            </a:r>
            <a:r>
              <a:rPr lang="fa-IR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بر اساس </a:t>
            </a:r>
            <a:r>
              <a:rPr lang="en-US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PSNR، SSIM، Params </a:t>
            </a:r>
            <a:r>
              <a:rPr lang="fa-IR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 و </a:t>
            </a:r>
            <a:r>
              <a:rPr lang="en-US" sz="2800" b="1" dirty="0">
                <a:solidFill>
                  <a:srgbClr val="22C4C9"/>
                </a:solidFill>
                <a:cs typeface="B Nazanin" panose="00000400000000000000" pitchFamily="2" charset="-78"/>
              </a:rPr>
              <a:t>FLOPs</a:t>
            </a:r>
            <a:endParaRPr lang="fa-IR" sz="2800" b="1" dirty="0">
              <a:solidFill>
                <a:srgbClr val="22C4C9"/>
              </a:solidFill>
              <a:cs typeface="B Nazanin" panose="00000400000000000000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F542FA-D6D3-C215-6AC4-13FE18FF0686}"/>
              </a:ext>
            </a:extLst>
          </p:cNvPr>
          <p:cNvSpPr txBox="1"/>
          <p:nvPr/>
        </p:nvSpPr>
        <p:spPr>
          <a:xfrm>
            <a:off x="14325600" y="327297"/>
            <a:ext cx="28194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ptos" panose="02110004020202020204"/>
                <a:cs typeface="B Titr" panose="00000700000000000000" pitchFamily="2" charset="-78"/>
              </a:rPr>
              <a:t>Efficient S</a:t>
            </a:r>
            <a:r>
              <a:rPr lang="en-US" sz="1600" b="1" dirty="0">
                <a:solidFill>
                  <a:srgbClr val="22C4C9"/>
                </a:solidFill>
                <a:latin typeface=" "/>
                <a:cs typeface="B Titr" panose="00000700000000000000" pitchFamily="2" charset="-78"/>
              </a:rPr>
              <a:t>uper-Resolution</a:t>
            </a:r>
            <a:endParaRPr lang="fa-IR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78F896-A67E-6062-C2D7-86E09ADBFC47}"/>
              </a:ext>
            </a:extLst>
          </p:cNvPr>
          <p:cNvSpPr txBox="1"/>
          <p:nvPr/>
        </p:nvSpPr>
        <p:spPr>
          <a:xfrm>
            <a:off x="1295400" y="395198"/>
            <a:ext cx="15240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b="1" dirty="0" err="1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IAFMNet</a:t>
            </a:r>
            <a:endParaRPr lang="fa-IR" b="1" dirty="0">
              <a:solidFill>
                <a:srgbClr val="22C4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3E10AD-B0EB-0764-B3D0-B2243770B719}"/>
              </a:ext>
            </a:extLst>
          </p:cNvPr>
          <p:cNvSpPr txBox="1"/>
          <p:nvPr/>
        </p:nvSpPr>
        <p:spPr>
          <a:xfrm>
            <a:off x="1257300" y="9693409"/>
            <a:ext cx="14820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Xu, J., Liu, M., Wang, Z., Wu, F., Wu, S., Huang, T., &amp; Dong, W. (2026). </a:t>
            </a:r>
            <a:r>
              <a:rPr lang="en-US" sz="12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IAFMNet</a:t>
            </a:r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Information-Aware Feature Modulation for Efficient Super-Resolution. In Proceedings of the IEEE/CVF Conference on Computer Vision and Pattern Recognition (pp. 30564-30573).</a:t>
            </a:r>
            <a:endParaRPr lang="fa-IR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3678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7EF7B0-CEE8-ED28-9CAC-0C277CABC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9"/>
          <a:stretch/>
        </p:blipFill>
        <p:spPr>
          <a:xfrm>
            <a:off x="17221200" y="0"/>
            <a:ext cx="1066800" cy="1283967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FDCEF9E-52AA-E645-60A9-FBCE77C2BEC2}"/>
              </a:ext>
            </a:extLst>
          </p:cNvPr>
          <p:cNvCxnSpPr/>
          <p:nvPr/>
        </p:nvCxnSpPr>
        <p:spPr>
          <a:xfrm>
            <a:off x="1295400" y="800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DD0FAEE-BB0F-FD93-A7A2-518EA49E60F3}"/>
              </a:ext>
            </a:extLst>
          </p:cNvPr>
          <p:cNvCxnSpPr/>
          <p:nvPr/>
        </p:nvCxnSpPr>
        <p:spPr>
          <a:xfrm>
            <a:off x="1257300" y="9563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EDC9040-0519-41E7-76B2-7E99F5C2942B}"/>
              </a:ext>
            </a:extLst>
          </p:cNvPr>
          <p:cNvSpPr txBox="1"/>
          <p:nvPr/>
        </p:nvSpPr>
        <p:spPr>
          <a:xfrm>
            <a:off x="16635608" y="9639300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16</a:t>
            </a:r>
            <a:endParaRPr lang="fa-I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3ACBAD-6D72-65E8-61AA-AFA75D4A278F}"/>
              </a:ext>
            </a:extLst>
          </p:cNvPr>
          <p:cNvSpPr txBox="1"/>
          <p:nvPr/>
        </p:nvSpPr>
        <p:spPr>
          <a:xfrm>
            <a:off x="16176042" y="9648785"/>
            <a:ext cx="585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/ 19</a:t>
            </a:r>
            <a:endParaRPr lang="fa-IR" dirty="0"/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95929C32-8E66-D855-5D04-3DF135953915}"/>
              </a:ext>
            </a:extLst>
          </p:cNvPr>
          <p:cNvSpPr/>
          <p:nvPr/>
        </p:nvSpPr>
        <p:spPr>
          <a:xfrm>
            <a:off x="11699666" y="2781301"/>
            <a:ext cx="5331033" cy="6324597"/>
          </a:xfrm>
          <a:custGeom>
            <a:avLst/>
            <a:gdLst/>
            <a:ahLst/>
            <a:cxnLst/>
            <a:rect l="l" t="t" r="r" b="b"/>
            <a:pathLst>
              <a:path w="1834320" h="1750276">
                <a:moveTo>
                  <a:pt x="56691" y="0"/>
                </a:moveTo>
                <a:lnTo>
                  <a:pt x="1777629" y="0"/>
                </a:lnTo>
                <a:cubicBezTo>
                  <a:pt x="1808939" y="0"/>
                  <a:pt x="1834320" y="25382"/>
                  <a:pt x="1834320" y="56691"/>
                </a:cubicBezTo>
                <a:lnTo>
                  <a:pt x="1834320" y="1693585"/>
                </a:lnTo>
                <a:cubicBezTo>
                  <a:pt x="1834320" y="1708620"/>
                  <a:pt x="1828348" y="1723040"/>
                  <a:pt x="1817716" y="1733672"/>
                </a:cubicBezTo>
                <a:cubicBezTo>
                  <a:pt x="1807084" y="1744303"/>
                  <a:pt x="1792664" y="1750276"/>
                  <a:pt x="1777629" y="1750276"/>
                </a:cubicBezTo>
                <a:lnTo>
                  <a:pt x="56691" y="1750276"/>
                </a:lnTo>
                <a:cubicBezTo>
                  <a:pt x="41656" y="1750276"/>
                  <a:pt x="27236" y="1744303"/>
                  <a:pt x="16605" y="1733672"/>
                </a:cubicBezTo>
                <a:cubicBezTo>
                  <a:pt x="5973" y="1723040"/>
                  <a:pt x="0" y="1708620"/>
                  <a:pt x="0" y="1693585"/>
                </a:cubicBezTo>
                <a:lnTo>
                  <a:pt x="0" y="56691"/>
                </a:lnTo>
                <a:cubicBezTo>
                  <a:pt x="0" y="41656"/>
                  <a:pt x="5973" y="27236"/>
                  <a:pt x="16605" y="16605"/>
                </a:cubicBezTo>
                <a:cubicBezTo>
                  <a:pt x="27236" y="5973"/>
                  <a:pt x="41656" y="0"/>
                  <a:pt x="56691" y="0"/>
                </a:cubicBezTo>
                <a:close/>
              </a:path>
            </a:pathLst>
          </a:custGeom>
          <a:solidFill>
            <a:srgbClr val="202127"/>
          </a:solidFill>
        </p:spPr>
        <p:txBody>
          <a:bodyPr/>
          <a:lstStyle/>
          <a:p>
            <a:endParaRPr lang="fa-IR" dirty="0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92ADD0F-9892-7F6C-578F-0170F1B00198}"/>
              </a:ext>
            </a:extLst>
          </p:cNvPr>
          <p:cNvSpPr txBox="1"/>
          <p:nvPr/>
        </p:nvSpPr>
        <p:spPr>
          <a:xfrm>
            <a:off x="9126255" y="7899545"/>
            <a:ext cx="7351120" cy="63219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387"/>
              </a:lnSpc>
            </a:pPr>
            <a:endParaRPr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CED3EDA-9774-2ECC-DF4F-F30D53E87DA6}"/>
              </a:ext>
            </a:extLst>
          </p:cNvPr>
          <p:cNvCxnSpPr/>
          <p:nvPr/>
        </p:nvCxnSpPr>
        <p:spPr>
          <a:xfrm>
            <a:off x="1257300" y="9563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9E2BEDA-14E6-C4A4-8A98-2AE3D1848B25}"/>
              </a:ext>
            </a:extLst>
          </p:cNvPr>
          <p:cNvCxnSpPr>
            <a:cxnSpLocks/>
          </p:cNvCxnSpPr>
          <p:nvPr/>
        </p:nvCxnSpPr>
        <p:spPr>
          <a:xfrm>
            <a:off x="12184402" y="6515100"/>
            <a:ext cx="4569635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AEF4B74-3104-1CB5-1C3D-BEA966BF05B6}"/>
              </a:ext>
            </a:extLst>
          </p:cNvPr>
          <p:cNvSpPr txBox="1"/>
          <p:nvPr/>
        </p:nvSpPr>
        <p:spPr>
          <a:xfrm>
            <a:off x="10876122" y="1710216"/>
            <a:ext cx="57594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3200" dirty="0">
                <a:solidFill>
                  <a:schemeClr val="bg1"/>
                </a:solidFill>
                <a:cs typeface="B Titr" panose="00000700000000000000" pitchFamily="2" charset="-78"/>
              </a:rPr>
              <a:t>ارزیابی تجربی: </a:t>
            </a:r>
            <a:r>
              <a:rPr lang="fa-IR" sz="3200" u="sng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نتایج کمی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B3F740-9212-ABD0-8122-158FDFCBACD2}"/>
              </a:ext>
            </a:extLst>
          </p:cNvPr>
          <p:cNvSpPr txBox="1"/>
          <p:nvPr/>
        </p:nvSpPr>
        <p:spPr>
          <a:xfrm>
            <a:off x="11963400" y="3115241"/>
            <a:ext cx="4672208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Tx/>
              <a:tabLst/>
              <a:defRPr/>
            </a:pPr>
            <a:r>
              <a:rPr lang="fa-IR" sz="2800" dirty="0">
                <a:solidFill>
                  <a:srgbClr val="FFFFFF"/>
                </a:solidFill>
                <a:cs typeface="B Nazanin" panose="00000400000000000000" pitchFamily="2" charset="-78"/>
              </a:rPr>
              <a:t>در این جدول چند شاخص مختلف با هم مقایسه شده‌اند:</a:t>
            </a:r>
          </a:p>
          <a:p>
            <a:pPr marR="0" lvl="0" algn="just" rt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Tx/>
              <a:tabLst/>
              <a:defRPr/>
            </a:pPr>
            <a:endParaRPr lang="fa-IR" dirty="0">
              <a:solidFill>
                <a:srgbClr val="FFFFFF"/>
              </a:solidFill>
              <a:cs typeface="B Nazanin" panose="00000400000000000000" pitchFamily="2" charset="-78"/>
            </a:endParaRPr>
          </a:p>
          <a:p>
            <a:pPr marL="457200" marR="0" lvl="0" indent="-45720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a-IR" sz="2800" i="0" u="none" strike="noStrike" kern="1200" cap="none" spc="0" normalizeH="0" baseline="0" noProof="0" dirty="0">
                <a:ln>
                  <a:noFill/>
                </a:ln>
                <a:solidFill>
                  <a:srgbClr val="66FCF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تعداد پارامترها (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66FCF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Params</a:t>
            </a:r>
            <a:r>
              <a:rPr kumimoji="0" lang="fa-IR" sz="2800" i="0" u="none" strike="noStrike" kern="1200" cap="none" spc="0" normalizeH="0" baseline="0" noProof="0" dirty="0">
                <a:ln>
                  <a:noFill/>
                </a:ln>
                <a:solidFill>
                  <a:srgbClr val="66FCF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)</a:t>
            </a:r>
          </a:p>
          <a:p>
            <a:pPr marL="457200" marR="0" lvl="0" indent="-45720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a-IR" sz="2800" i="0" u="none" strike="noStrike" kern="1200" cap="none" spc="0" normalizeH="0" baseline="0" noProof="0" dirty="0">
                <a:ln>
                  <a:noFill/>
                </a:ln>
                <a:solidFill>
                  <a:srgbClr val="66FCF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هزینه محاسباتی (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66FCF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FLOPs</a:t>
            </a:r>
            <a:r>
              <a:rPr kumimoji="0" lang="fa-IR" sz="2800" i="0" u="none" strike="noStrike" kern="1200" cap="none" spc="0" normalizeH="0" baseline="0" noProof="0" dirty="0">
                <a:ln>
                  <a:noFill/>
                </a:ln>
                <a:solidFill>
                  <a:srgbClr val="66FCF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)</a:t>
            </a:r>
          </a:p>
          <a:p>
            <a:pPr marL="457200" marR="0" lvl="0" indent="-45720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a-IR" sz="2800" i="0" u="none" strike="noStrike" kern="1200" cap="none" spc="0" normalizeH="0" baseline="0" noProof="0" dirty="0">
                <a:ln>
                  <a:noFill/>
                </a:ln>
                <a:solidFill>
                  <a:srgbClr val="66FCF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کیفیت بازسازی (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66FCF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PSNR </a:t>
            </a:r>
            <a:r>
              <a:rPr kumimoji="0" lang="fa-IR" sz="2800" i="0" u="none" strike="noStrike" kern="1200" cap="none" spc="0" normalizeH="0" baseline="0" noProof="0" dirty="0">
                <a:ln>
                  <a:noFill/>
                </a:ln>
                <a:solidFill>
                  <a:srgbClr val="66FCF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و 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66FCF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SSIM</a:t>
            </a:r>
            <a:r>
              <a:rPr kumimoji="0" lang="fa-IR" sz="2800" i="0" u="none" strike="noStrike" kern="1200" cap="none" spc="0" normalizeH="0" baseline="0" noProof="0" dirty="0">
                <a:ln>
                  <a:noFill/>
                </a:ln>
                <a:solidFill>
                  <a:srgbClr val="66FCF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27914-52C5-8717-9D00-04E941AD2FAC}"/>
              </a:ext>
            </a:extLst>
          </p:cNvPr>
          <p:cNvSpPr txBox="1"/>
          <p:nvPr/>
        </p:nvSpPr>
        <p:spPr>
          <a:xfrm>
            <a:off x="12184402" y="6865785"/>
            <a:ext cx="4569635" cy="1977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 rtl="1">
              <a:lnSpc>
                <a:spcPct val="150000"/>
              </a:lnSpc>
              <a:buClr>
                <a:srgbClr val="00FFFF"/>
              </a:buClr>
              <a:buFont typeface="Wingdings" panose="05000000000000000000" pitchFamily="2" charset="2"/>
              <a:buChar char="ü"/>
            </a:pPr>
            <a:r>
              <a:rPr lang="fa-IR" sz="2800" i="0" dirty="0">
                <a:solidFill>
                  <a:srgbClr val="FFFFFF"/>
                </a:solidFill>
                <a:effectLst/>
                <a:cs typeface="B Nazanin" panose="00000400000000000000" pitchFamily="2" charset="-78"/>
              </a:rPr>
              <a:t>هدف مقاله فقط افزایش </a:t>
            </a:r>
            <a:r>
              <a:rPr lang="en-US" sz="2800" i="0" dirty="0">
                <a:solidFill>
                  <a:srgbClr val="FFFFFF"/>
                </a:solidFill>
                <a:effectLst/>
                <a:cs typeface="B Nazanin" panose="00000400000000000000" pitchFamily="2" charset="-78"/>
              </a:rPr>
              <a:t>PSNR </a:t>
            </a:r>
            <a:r>
              <a:rPr lang="fa-IR" sz="2800" i="0" dirty="0">
                <a:solidFill>
                  <a:srgbClr val="FFFFFF"/>
                </a:solidFill>
                <a:effectLst/>
                <a:cs typeface="B Nazanin" panose="00000400000000000000" pitchFamily="2" charset="-78"/>
              </a:rPr>
              <a:t>نیست؛ بلکه رسیدن به تعادل مناسب بین </a:t>
            </a:r>
            <a:r>
              <a:rPr lang="fa-IR" sz="2800" i="0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کیفیت</a:t>
            </a:r>
            <a:r>
              <a:rPr lang="fa-IR" sz="2800" i="0" dirty="0">
                <a:solidFill>
                  <a:srgbClr val="FFFFFF"/>
                </a:solidFill>
                <a:effectLst/>
                <a:cs typeface="B Nazanin" panose="00000400000000000000" pitchFamily="2" charset="-78"/>
              </a:rPr>
              <a:t> و </a:t>
            </a:r>
            <a:r>
              <a:rPr lang="fa-IR" sz="2800" i="0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هزینه محاسباتی </a:t>
            </a:r>
            <a:r>
              <a:rPr lang="fa-IR" sz="2800" i="0" dirty="0">
                <a:solidFill>
                  <a:srgbClr val="FFFFFF"/>
                </a:solidFill>
                <a:effectLst/>
                <a:cs typeface="B Nazanin" panose="00000400000000000000" pitchFamily="2" charset="-78"/>
              </a:rPr>
              <a:t>است.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F67F28-55FC-48C9-6DC2-F01E7A270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1" y="2002603"/>
            <a:ext cx="9870867" cy="737226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5177C7F-1711-17AC-9657-350A2B5A3D97}"/>
              </a:ext>
            </a:extLst>
          </p:cNvPr>
          <p:cNvSpPr txBox="1"/>
          <p:nvPr/>
        </p:nvSpPr>
        <p:spPr>
          <a:xfrm>
            <a:off x="14325600" y="327297"/>
            <a:ext cx="28194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ptos" panose="02110004020202020204"/>
                <a:cs typeface="B Titr" panose="00000700000000000000" pitchFamily="2" charset="-78"/>
              </a:rPr>
              <a:t>Efficient S</a:t>
            </a:r>
            <a:r>
              <a:rPr lang="en-US" sz="1600" b="1" dirty="0">
                <a:solidFill>
                  <a:srgbClr val="22C4C9"/>
                </a:solidFill>
                <a:latin typeface=" "/>
                <a:cs typeface="B Titr" panose="00000700000000000000" pitchFamily="2" charset="-78"/>
              </a:rPr>
              <a:t>uper-Resolution</a:t>
            </a:r>
            <a:endParaRPr lang="fa-IR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EBCC0A-6F52-4EB9-E35A-D28483FCCDC1}"/>
              </a:ext>
            </a:extLst>
          </p:cNvPr>
          <p:cNvSpPr txBox="1"/>
          <p:nvPr/>
        </p:nvSpPr>
        <p:spPr>
          <a:xfrm>
            <a:off x="1295400" y="395198"/>
            <a:ext cx="15240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b="1" dirty="0" err="1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IAFMNet</a:t>
            </a:r>
            <a:endParaRPr lang="fa-IR" b="1" dirty="0">
              <a:solidFill>
                <a:srgbClr val="22C4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946FB4-DE2A-2D26-E8FD-4783AB133C7A}"/>
              </a:ext>
            </a:extLst>
          </p:cNvPr>
          <p:cNvSpPr txBox="1"/>
          <p:nvPr/>
        </p:nvSpPr>
        <p:spPr>
          <a:xfrm>
            <a:off x="1257300" y="9693409"/>
            <a:ext cx="14820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Xu, J., Liu, M., Wang, Z., Wu, F., Wu, S., Huang, T., &amp; Dong, W. (2026). </a:t>
            </a:r>
            <a:r>
              <a:rPr lang="en-US" sz="12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IAFMNet</a:t>
            </a:r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Information-Aware Feature Modulation for Efficient Super-Resolution. In Proceedings of the IEEE/CVF Conference on Computer Vision and Pattern Recognition (pp. 30564-30573).</a:t>
            </a:r>
            <a:endParaRPr lang="fa-IR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75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7EF7B0-CEE8-ED28-9CAC-0C277CABC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9"/>
          <a:stretch/>
        </p:blipFill>
        <p:spPr>
          <a:xfrm>
            <a:off x="17221200" y="0"/>
            <a:ext cx="1066800" cy="1283967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FDCEF9E-52AA-E645-60A9-FBCE77C2BEC2}"/>
              </a:ext>
            </a:extLst>
          </p:cNvPr>
          <p:cNvCxnSpPr/>
          <p:nvPr/>
        </p:nvCxnSpPr>
        <p:spPr>
          <a:xfrm>
            <a:off x="1295400" y="800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DD0FAEE-BB0F-FD93-A7A2-518EA49E60F3}"/>
              </a:ext>
            </a:extLst>
          </p:cNvPr>
          <p:cNvCxnSpPr/>
          <p:nvPr/>
        </p:nvCxnSpPr>
        <p:spPr>
          <a:xfrm>
            <a:off x="1257300" y="9563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EDC9040-0519-41E7-76B2-7E99F5C2942B}"/>
              </a:ext>
            </a:extLst>
          </p:cNvPr>
          <p:cNvSpPr txBox="1"/>
          <p:nvPr/>
        </p:nvSpPr>
        <p:spPr>
          <a:xfrm>
            <a:off x="16635608" y="9639300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17</a:t>
            </a:r>
            <a:endParaRPr lang="fa-I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3ACBAD-6D72-65E8-61AA-AFA75D4A278F}"/>
              </a:ext>
            </a:extLst>
          </p:cNvPr>
          <p:cNvSpPr txBox="1"/>
          <p:nvPr/>
        </p:nvSpPr>
        <p:spPr>
          <a:xfrm>
            <a:off x="16176042" y="9648785"/>
            <a:ext cx="585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/ 19</a:t>
            </a:r>
            <a:endParaRPr lang="fa-IR" dirty="0"/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95929C32-8E66-D855-5D04-3DF135953915}"/>
              </a:ext>
            </a:extLst>
          </p:cNvPr>
          <p:cNvSpPr/>
          <p:nvPr/>
        </p:nvSpPr>
        <p:spPr>
          <a:xfrm>
            <a:off x="11699666" y="2781301"/>
            <a:ext cx="5331033" cy="6324597"/>
          </a:xfrm>
          <a:custGeom>
            <a:avLst/>
            <a:gdLst/>
            <a:ahLst/>
            <a:cxnLst/>
            <a:rect l="l" t="t" r="r" b="b"/>
            <a:pathLst>
              <a:path w="1834320" h="1750276">
                <a:moveTo>
                  <a:pt x="56691" y="0"/>
                </a:moveTo>
                <a:lnTo>
                  <a:pt x="1777629" y="0"/>
                </a:lnTo>
                <a:cubicBezTo>
                  <a:pt x="1808939" y="0"/>
                  <a:pt x="1834320" y="25382"/>
                  <a:pt x="1834320" y="56691"/>
                </a:cubicBezTo>
                <a:lnTo>
                  <a:pt x="1834320" y="1693585"/>
                </a:lnTo>
                <a:cubicBezTo>
                  <a:pt x="1834320" y="1708620"/>
                  <a:pt x="1828348" y="1723040"/>
                  <a:pt x="1817716" y="1733672"/>
                </a:cubicBezTo>
                <a:cubicBezTo>
                  <a:pt x="1807084" y="1744303"/>
                  <a:pt x="1792664" y="1750276"/>
                  <a:pt x="1777629" y="1750276"/>
                </a:cubicBezTo>
                <a:lnTo>
                  <a:pt x="56691" y="1750276"/>
                </a:lnTo>
                <a:cubicBezTo>
                  <a:pt x="41656" y="1750276"/>
                  <a:pt x="27236" y="1744303"/>
                  <a:pt x="16605" y="1733672"/>
                </a:cubicBezTo>
                <a:cubicBezTo>
                  <a:pt x="5973" y="1723040"/>
                  <a:pt x="0" y="1708620"/>
                  <a:pt x="0" y="1693585"/>
                </a:cubicBezTo>
                <a:lnTo>
                  <a:pt x="0" y="56691"/>
                </a:lnTo>
                <a:cubicBezTo>
                  <a:pt x="0" y="41656"/>
                  <a:pt x="5973" y="27236"/>
                  <a:pt x="16605" y="16605"/>
                </a:cubicBezTo>
                <a:cubicBezTo>
                  <a:pt x="27236" y="5973"/>
                  <a:pt x="41656" y="0"/>
                  <a:pt x="56691" y="0"/>
                </a:cubicBezTo>
                <a:close/>
              </a:path>
            </a:pathLst>
          </a:custGeom>
          <a:solidFill>
            <a:srgbClr val="202127"/>
          </a:solidFill>
        </p:spPr>
        <p:txBody>
          <a:bodyPr/>
          <a:lstStyle/>
          <a:p>
            <a:endParaRPr lang="fa-IR" dirty="0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92ADD0F-9892-7F6C-578F-0170F1B00198}"/>
              </a:ext>
            </a:extLst>
          </p:cNvPr>
          <p:cNvSpPr txBox="1"/>
          <p:nvPr/>
        </p:nvSpPr>
        <p:spPr>
          <a:xfrm>
            <a:off x="9126255" y="7899545"/>
            <a:ext cx="7351120" cy="63219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387"/>
              </a:lnSpc>
            </a:pPr>
            <a:endParaRPr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CED3EDA-9774-2ECC-DF4F-F30D53E87DA6}"/>
              </a:ext>
            </a:extLst>
          </p:cNvPr>
          <p:cNvCxnSpPr/>
          <p:nvPr/>
        </p:nvCxnSpPr>
        <p:spPr>
          <a:xfrm>
            <a:off x="1257300" y="9563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9E2BEDA-14E6-C4A4-8A98-2AE3D1848B25}"/>
              </a:ext>
            </a:extLst>
          </p:cNvPr>
          <p:cNvCxnSpPr>
            <a:cxnSpLocks/>
          </p:cNvCxnSpPr>
          <p:nvPr/>
        </p:nvCxnSpPr>
        <p:spPr>
          <a:xfrm>
            <a:off x="12065973" y="5943597"/>
            <a:ext cx="4569635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AEF4B74-3104-1CB5-1C3D-BEA966BF05B6}"/>
              </a:ext>
            </a:extLst>
          </p:cNvPr>
          <p:cNvSpPr txBox="1"/>
          <p:nvPr/>
        </p:nvSpPr>
        <p:spPr>
          <a:xfrm>
            <a:off x="10876122" y="1710216"/>
            <a:ext cx="57594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3200" dirty="0">
                <a:solidFill>
                  <a:schemeClr val="bg1"/>
                </a:solidFill>
                <a:cs typeface="B Titr" panose="00000700000000000000" pitchFamily="2" charset="-78"/>
              </a:rPr>
              <a:t>ارزیابی تجربی: </a:t>
            </a:r>
            <a:r>
              <a:rPr lang="fa-IR" sz="3200" u="sng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نتایج کیفی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B3F740-9212-ABD0-8122-158FDFCBACD2}"/>
              </a:ext>
            </a:extLst>
          </p:cNvPr>
          <p:cNvSpPr txBox="1"/>
          <p:nvPr/>
        </p:nvSpPr>
        <p:spPr>
          <a:xfrm>
            <a:off x="12030561" y="3015873"/>
            <a:ext cx="4672208" cy="585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Tx/>
              <a:tabLst/>
              <a:defRPr/>
            </a:pPr>
            <a:r>
              <a:rPr lang="fa-IR" sz="2800" dirty="0">
                <a:solidFill>
                  <a:srgbClr val="FFFFFF"/>
                </a:solidFill>
                <a:cs typeface="B Nazanin" panose="00000400000000000000" pitchFamily="2" charset="-78"/>
              </a:rPr>
              <a:t>اگرچه اختلاف </a:t>
            </a:r>
            <a:r>
              <a:rPr lang="en-US" sz="2800" dirty="0">
                <a:solidFill>
                  <a:srgbClr val="FFFFFF"/>
                </a:solidFill>
                <a:cs typeface="B Nazanin" panose="00000400000000000000" pitchFamily="2" charset="-78"/>
              </a:rPr>
              <a:t> PSNR </a:t>
            </a:r>
            <a:r>
              <a:rPr lang="fa-IR" sz="2800" dirty="0">
                <a:solidFill>
                  <a:srgbClr val="FFFFFF"/>
                </a:solidFill>
                <a:cs typeface="B Nazanin" panose="00000400000000000000" pitchFamily="2" charset="-78"/>
              </a:rPr>
              <a:t>بین مدل‌ها ممکن است تنها چند صدم دسی‌بل باشد، اما از </a:t>
            </a:r>
            <a:r>
              <a:rPr lang="fa-IR" sz="2800" b="1" dirty="0">
                <a:solidFill>
                  <a:srgbClr val="188D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نظر بصری </a:t>
            </a:r>
            <a:r>
              <a:rPr lang="fa-IR" sz="2800" dirty="0">
                <a:solidFill>
                  <a:srgbClr val="FFFFFF"/>
                </a:solidFill>
                <a:cs typeface="B Nazanin" panose="00000400000000000000" pitchFamily="2" charset="-78"/>
              </a:rPr>
              <a:t>تفاوت‌ها کاملاً قابل مشاهده هستند.</a:t>
            </a:r>
          </a:p>
          <a:p>
            <a:pPr marR="0" lvl="0" algn="just" rt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Tx/>
              <a:tabLst/>
              <a:defRPr/>
            </a:pPr>
            <a:endParaRPr lang="fa-IR" sz="2800" dirty="0">
              <a:solidFill>
                <a:srgbClr val="FFFFFF"/>
              </a:solidFill>
              <a:cs typeface="B Nazanin" panose="00000400000000000000" pitchFamily="2" charset="-78"/>
            </a:endParaRPr>
          </a:p>
          <a:p>
            <a:pPr marR="0" lvl="0" algn="just" rt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Tx/>
              <a:tabLst/>
              <a:defRPr/>
            </a:pPr>
            <a:r>
              <a:rPr lang="fa-IR" sz="2800" dirty="0">
                <a:solidFill>
                  <a:srgbClr val="FFFFFF"/>
                </a:solidFill>
                <a:cs typeface="B Nazanin" panose="00000400000000000000" pitchFamily="2" charset="-78"/>
              </a:rPr>
              <a:t>در تصاویر دارای </a:t>
            </a:r>
            <a:r>
              <a:rPr lang="fa-IR" sz="28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الگوهای تکرارشونده، خطوط منظم و بافت‌های پیچیده</a:t>
            </a:r>
            <a:r>
              <a:rPr lang="fa-IR" sz="2800" dirty="0">
                <a:solidFill>
                  <a:srgbClr val="FFFFFF"/>
                </a:solidFill>
                <a:cs typeface="B Nazanin" panose="00000400000000000000" pitchFamily="2" charset="-78"/>
              </a:rPr>
              <a:t>، </a:t>
            </a:r>
            <a:r>
              <a:rPr lang="en-US" sz="2800" dirty="0" err="1">
                <a:solidFill>
                  <a:srgbClr val="FFFFFF"/>
                </a:solidFill>
                <a:cs typeface="B Nazanin" panose="00000400000000000000" pitchFamily="2" charset="-78"/>
              </a:rPr>
              <a:t>IAFMNet</a:t>
            </a:r>
            <a:r>
              <a:rPr lang="en-US" sz="2800" dirty="0">
                <a:solidFill>
                  <a:srgbClr val="FFFFFF"/>
                </a:solidFill>
                <a:cs typeface="B Nazanin" panose="00000400000000000000" pitchFamily="2" charset="-78"/>
              </a:rPr>
              <a:t> </a:t>
            </a:r>
            <a:r>
              <a:rPr lang="fa-IR" sz="2800" dirty="0">
                <a:solidFill>
                  <a:srgbClr val="FFFFFF"/>
                </a:solidFill>
                <a:cs typeface="B Nazanin" panose="00000400000000000000" pitchFamily="2" charset="-78"/>
              </a:rPr>
              <a:t> توانسته جزئیات بیشتری را حفظ کند.</a:t>
            </a:r>
            <a:endParaRPr kumimoji="0" lang="fa-IR" sz="2800" i="0" u="none" strike="noStrike" kern="1200" cap="none" spc="0" normalizeH="0" baseline="0" noProof="0" dirty="0">
              <a:ln>
                <a:noFill/>
              </a:ln>
              <a:solidFill>
                <a:srgbClr val="66FCF1"/>
              </a:solidFill>
              <a:effectLst/>
              <a:uLnTx/>
              <a:uFillTx/>
              <a:latin typeface="Noto Sans Arabic"/>
              <a:cs typeface="B Titr" panose="00000700000000000000" pitchFamily="2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EDFA9C-D78F-1CB9-FEF6-70F99A739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565" y="2859077"/>
            <a:ext cx="10249024" cy="61690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97B368-89C3-F9AB-D499-1CE8CAF5AC1B}"/>
              </a:ext>
            </a:extLst>
          </p:cNvPr>
          <p:cNvSpPr txBox="1"/>
          <p:nvPr/>
        </p:nvSpPr>
        <p:spPr>
          <a:xfrm>
            <a:off x="14325600" y="327297"/>
            <a:ext cx="28194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ptos" panose="02110004020202020204"/>
                <a:cs typeface="B Titr" panose="00000700000000000000" pitchFamily="2" charset="-78"/>
              </a:rPr>
              <a:t>Efficient S</a:t>
            </a:r>
            <a:r>
              <a:rPr lang="en-US" sz="1600" b="1" dirty="0">
                <a:solidFill>
                  <a:srgbClr val="22C4C9"/>
                </a:solidFill>
                <a:latin typeface=" "/>
                <a:cs typeface="B Titr" panose="00000700000000000000" pitchFamily="2" charset="-78"/>
              </a:rPr>
              <a:t>uper-Resolution</a:t>
            </a:r>
            <a:endParaRPr lang="fa-IR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966238-70A4-EB42-DD7E-10B6320AE27E}"/>
              </a:ext>
            </a:extLst>
          </p:cNvPr>
          <p:cNvSpPr txBox="1"/>
          <p:nvPr/>
        </p:nvSpPr>
        <p:spPr>
          <a:xfrm>
            <a:off x="1295400" y="395198"/>
            <a:ext cx="15240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b="1" dirty="0" err="1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IAFMNet</a:t>
            </a:r>
            <a:endParaRPr lang="fa-IR" b="1" dirty="0">
              <a:solidFill>
                <a:srgbClr val="22C4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28972D-57D4-8BDD-9DF8-8E21C1386278}"/>
              </a:ext>
            </a:extLst>
          </p:cNvPr>
          <p:cNvSpPr txBox="1"/>
          <p:nvPr/>
        </p:nvSpPr>
        <p:spPr>
          <a:xfrm>
            <a:off x="1257300" y="9693409"/>
            <a:ext cx="14820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Xu, J., Liu, M., Wang, Z., Wu, F., Wu, S., Huang, T., &amp; Dong, W. (2026). </a:t>
            </a:r>
            <a:r>
              <a:rPr lang="en-US" sz="12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IAFMNet</a:t>
            </a:r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Information-Aware Feature Modulation for Efficient Super-Resolution. In Proceedings of the IEEE/CVF Conference on Computer Vision and Pattern Recognition (pp. 30564-30573).</a:t>
            </a:r>
            <a:endParaRPr lang="fa-IR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196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7EF7B0-CEE8-ED28-9CAC-0C277CABC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9"/>
          <a:stretch/>
        </p:blipFill>
        <p:spPr>
          <a:xfrm>
            <a:off x="17221200" y="0"/>
            <a:ext cx="1066800" cy="1283967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FDCEF9E-52AA-E645-60A9-FBCE77C2BEC2}"/>
              </a:ext>
            </a:extLst>
          </p:cNvPr>
          <p:cNvCxnSpPr/>
          <p:nvPr/>
        </p:nvCxnSpPr>
        <p:spPr>
          <a:xfrm>
            <a:off x="1295400" y="800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DD0FAEE-BB0F-FD93-A7A2-518EA49E60F3}"/>
              </a:ext>
            </a:extLst>
          </p:cNvPr>
          <p:cNvCxnSpPr/>
          <p:nvPr/>
        </p:nvCxnSpPr>
        <p:spPr>
          <a:xfrm>
            <a:off x="1257300" y="9563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EDC9040-0519-41E7-76B2-7E99F5C2942B}"/>
              </a:ext>
            </a:extLst>
          </p:cNvPr>
          <p:cNvSpPr txBox="1"/>
          <p:nvPr/>
        </p:nvSpPr>
        <p:spPr>
          <a:xfrm>
            <a:off x="16635608" y="9639300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18</a:t>
            </a:r>
            <a:endParaRPr lang="fa-I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3ACBAD-6D72-65E8-61AA-AFA75D4A278F}"/>
              </a:ext>
            </a:extLst>
          </p:cNvPr>
          <p:cNvSpPr txBox="1"/>
          <p:nvPr/>
        </p:nvSpPr>
        <p:spPr>
          <a:xfrm>
            <a:off x="16176042" y="9648785"/>
            <a:ext cx="585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/ 19</a:t>
            </a:r>
            <a:endParaRPr lang="fa-I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5D0D17-85B0-462D-01C6-B3B2C5D55AB2}"/>
              </a:ext>
            </a:extLst>
          </p:cNvPr>
          <p:cNvSpPr txBox="1"/>
          <p:nvPr/>
        </p:nvSpPr>
        <p:spPr>
          <a:xfrm>
            <a:off x="8001000" y="2113688"/>
            <a:ext cx="9220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3200" b="1" u="sng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Ablation Study</a:t>
            </a:r>
            <a:endParaRPr lang="fa-IR" sz="3200" b="1" u="sng" dirty="0">
              <a:solidFill>
                <a:srgbClr val="00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8" name="Freeform 13">
            <a:extLst>
              <a:ext uri="{FF2B5EF4-FFF2-40B4-BE49-F238E27FC236}">
                <a16:creationId xmlns:a16="http://schemas.microsoft.com/office/drawing/2014/main" id="{C5F4DCA3-316F-A7F4-2C1C-23A8BA037C74}"/>
              </a:ext>
            </a:extLst>
          </p:cNvPr>
          <p:cNvSpPr/>
          <p:nvPr/>
        </p:nvSpPr>
        <p:spPr>
          <a:xfrm>
            <a:off x="11201400" y="3018904"/>
            <a:ext cx="5638800" cy="6163191"/>
          </a:xfrm>
          <a:custGeom>
            <a:avLst/>
            <a:gdLst/>
            <a:ahLst/>
            <a:cxnLst/>
            <a:rect l="l" t="t" r="r" b="b"/>
            <a:pathLst>
              <a:path w="1733801" h="1189231">
                <a:moveTo>
                  <a:pt x="44690" y="0"/>
                </a:moveTo>
                <a:lnTo>
                  <a:pt x="1689111" y="0"/>
                </a:lnTo>
                <a:cubicBezTo>
                  <a:pt x="1713792" y="0"/>
                  <a:pt x="1733801" y="20008"/>
                  <a:pt x="1733801" y="44690"/>
                </a:cubicBezTo>
                <a:lnTo>
                  <a:pt x="1733801" y="1144541"/>
                </a:lnTo>
                <a:cubicBezTo>
                  <a:pt x="1733801" y="1156394"/>
                  <a:pt x="1729092" y="1167761"/>
                  <a:pt x="1720711" y="1176141"/>
                </a:cubicBezTo>
                <a:cubicBezTo>
                  <a:pt x="1712330" y="1184522"/>
                  <a:pt x="1700963" y="1189231"/>
                  <a:pt x="1689111" y="1189231"/>
                </a:cubicBezTo>
                <a:lnTo>
                  <a:pt x="44690" y="1189231"/>
                </a:lnTo>
                <a:cubicBezTo>
                  <a:pt x="32837" y="1189231"/>
                  <a:pt x="21470" y="1184522"/>
                  <a:pt x="13089" y="1176141"/>
                </a:cubicBezTo>
                <a:cubicBezTo>
                  <a:pt x="4708" y="1167761"/>
                  <a:pt x="0" y="1156394"/>
                  <a:pt x="0" y="1144541"/>
                </a:cubicBezTo>
                <a:lnTo>
                  <a:pt x="0" y="44690"/>
                </a:lnTo>
                <a:cubicBezTo>
                  <a:pt x="0" y="32837"/>
                  <a:pt x="4708" y="21470"/>
                  <a:pt x="13089" y="13089"/>
                </a:cubicBezTo>
                <a:cubicBezTo>
                  <a:pt x="21470" y="4708"/>
                  <a:pt x="32837" y="0"/>
                  <a:pt x="44690" y="0"/>
                </a:cubicBezTo>
                <a:close/>
              </a:path>
            </a:pathLst>
          </a:custGeom>
          <a:solidFill>
            <a:srgbClr val="202127">
              <a:alpha val="97000"/>
            </a:srgbClr>
          </a:solidFill>
          <a:ln w="1905">
            <a:solidFill>
              <a:srgbClr val="00FFFF">
                <a:alpha val="76000"/>
              </a:srgbClr>
            </a:solidFill>
          </a:ln>
          <a:effectLst>
            <a:outerShdw blurRad="38100" dist="50800" algn="tl" rotWithShape="0">
              <a:srgbClr val="00FFFF">
                <a:alpha val="57000"/>
              </a:srgbClr>
            </a:outerShdw>
          </a:effectLst>
        </p:spPr>
        <p:txBody>
          <a:bodyPr/>
          <a:lstStyle/>
          <a:p>
            <a:endParaRPr lang="fa-IR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DD57017-25F9-71FE-9E91-3AB3C2D2F311}"/>
              </a:ext>
            </a:extLst>
          </p:cNvPr>
          <p:cNvCxnSpPr>
            <a:cxnSpLocks/>
          </p:cNvCxnSpPr>
          <p:nvPr/>
        </p:nvCxnSpPr>
        <p:spPr>
          <a:xfrm>
            <a:off x="11734800" y="4000500"/>
            <a:ext cx="4510813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12547BF-5CD6-244E-0DD3-445DB2F16D37}"/>
              </a:ext>
            </a:extLst>
          </p:cNvPr>
          <p:cNvSpPr txBox="1"/>
          <p:nvPr/>
        </p:nvSpPr>
        <p:spPr>
          <a:xfrm>
            <a:off x="11963400" y="3341335"/>
            <a:ext cx="42822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400" dirty="0">
                <a:solidFill>
                  <a:srgbClr val="22C4C9"/>
                </a:solidFill>
                <a:cs typeface="B Titr" panose="00000700000000000000" pitchFamily="2" charset="-78"/>
              </a:rPr>
              <a:t>بررسی آستانه (</a:t>
            </a:r>
            <a:r>
              <a:rPr lang="en-US" sz="2400" dirty="0">
                <a:solidFill>
                  <a:srgbClr val="22C4C9"/>
                </a:solidFill>
                <a:cs typeface="B Titr" panose="00000700000000000000" pitchFamily="2" charset="-78"/>
              </a:rPr>
              <a:t>Threshold</a:t>
            </a:r>
            <a:r>
              <a:rPr lang="fa-IR" sz="2400" dirty="0">
                <a:solidFill>
                  <a:srgbClr val="22C4C9"/>
                </a:solidFill>
                <a:cs typeface="B Titr" panose="00000700000000000000" pitchFamily="2" charset="-78"/>
              </a:rPr>
              <a:t>)</a:t>
            </a:r>
            <a:endParaRPr lang="fa-IR" sz="2400" b="1" dirty="0">
              <a:solidFill>
                <a:srgbClr val="22C4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38538A-0652-F636-363D-049456D66B3F}"/>
              </a:ext>
            </a:extLst>
          </p:cNvPr>
          <p:cNvSpPr txBox="1"/>
          <p:nvPr/>
        </p:nvSpPr>
        <p:spPr>
          <a:xfrm>
            <a:off x="11506200" y="4154722"/>
            <a:ext cx="4986084" cy="5032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400" b="1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در مقاله چند مقدار مختلف بررسی شده است: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400" b="1" dirty="0">
                <a:solidFill>
                  <a:srgbClr val="00FFFF"/>
                </a:solidFill>
                <a:cs typeface="B Nazanin" panose="00000400000000000000" pitchFamily="2" charset="-78"/>
              </a:rPr>
              <a:t>5%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400" b="1" dirty="0">
                <a:solidFill>
                  <a:srgbClr val="00FFFF"/>
                </a:solidFill>
                <a:cs typeface="B Nazanin" panose="00000400000000000000" pitchFamily="2" charset="-78"/>
              </a:rPr>
              <a:t>10%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400" b="1" dirty="0">
                <a:solidFill>
                  <a:srgbClr val="00FFFF"/>
                </a:solidFill>
                <a:cs typeface="B Nazanin" panose="00000400000000000000" pitchFamily="2" charset="-78"/>
              </a:rPr>
              <a:t>20%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400" b="1" dirty="0">
                <a:solidFill>
                  <a:srgbClr val="00FFFF"/>
                </a:solidFill>
                <a:cs typeface="B Nazanin" panose="00000400000000000000" pitchFamily="2" charset="-78"/>
              </a:rPr>
              <a:t>50%</a:t>
            </a:r>
          </a:p>
          <a:p>
            <a:pPr algn="just" rtl="1">
              <a:lnSpc>
                <a:spcPct val="150000"/>
              </a:lnSpc>
            </a:pPr>
            <a:r>
              <a:rPr lang="fa-IR" sz="2400" b="1" dirty="0">
                <a:solidFill>
                  <a:schemeClr val="bg1">
                    <a:lumMod val="95000"/>
                  </a:schemeClr>
                </a:solidFill>
                <a:cs typeface="B Nazanin" panose="00000400000000000000" pitchFamily="2" charset="-78"/>
              </a:rPr>
              <a:t>نتیجه مقاله این است که: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400" b="1" dirty="0">
                <a:solidFill>
                  <a:srgbClr val="00FFFF"/>
                </a:solidFill>
                <a:cs typeface="B Nazanin" panose="00000400000000000000" pitchFamily="2" charset="-78"/>
              </a:rPr>
              <a:t>آستانه ۵٪ بهترین تعادل بین کیفیت بازسازی و هزینه محاسباتی را ایجاد کرده است.</a:t>
            </a:r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6C07AB7C-FD95-98D9-60B5-4BD063D711CD}"/>
              </a:ext>
            </a:extLst>
          </p:cNvPr>
          <p:cNvSpPr/>
          <p:nvPr/>
        </p:nvSpPr>
        <p:spPr>
          <a:xfrm>
            <a:off x="6149533" y="3018904"/>
            <a:ext cx="4518041" cy="6163191"/>
          </a:xfrm>
          <a:custGeom>
            <a:avLst/>
            <a:gdLst/>
            <a:ahLst/>
            <a:cxnLst/>
            <a:rect l="l" t="t" r="r" b="b"/>
            <a:pathLst>
              <a:path w="1733801" h="1189231">
                <a:moveTo>
                  <a:pt x="44690" y="0"/>
                </a:moveTo>
                <a:lnTo>
                  <a:pt x="1689111" y="0"/>
                </a:lnTo>
                <a:cubicBezTo>
                  <a:pt x="1713792" y="0"/>
                  <a:pt x="1733801" y="20008"/>
                  <a:pt x="1733801" y="44690"/>
                </a:cubicBezTo>
                <a:lnTo>
                  <a:pt x="1733801" y="1144541"/>
                </a:lnTo>
                <a:cubicBezTo>
                  <a:pt x="1733801" y="1156394"/>
                  <a:pt x="1729092" y="1167761"/>
                  <a:pt x="1720711" y="1176141"/>
                </a:cubicBezTo>
                <a:cubicBezTo>
                  <a:pt x="1712330" y="1184522"/>
                  <a:pt x="1700963" y="1189231"/>
                  <a:pt x="1689111" y="1189231"/>
                </a:cubicBezTo>
                <a:lnTo>
                  <a:pt x="44690" y="1189231"/>
                </a:lnTo>
                <a:cubicBezTo>
                  <a:pt x="32837" y="1189231"/>
                  <a:pt x="21470" y="1184522"/>
                  <a:pt x="13089" y="1176141"/>
                </a:cubicBezTo>
                <a:cubicBezTo>
                  <a:pt x="4708" y="1167761"/>
                  <a:pt x="0" y="1156394"/>
                  <a:pt x="0" y="1144541"/>
                </a:cubicBezTo>
                <a:lnTo>
                  <a:pt x="0" y="44690"/>
                </a:lnTo>
                <a:cubicBezTo>
                  <a:pt x="0" y="32837"/>
                  <a:pt x="4708" y="21470"/>
                  <a:pt x="13089" y="13089"/>
                </a:cubicBezTo>
                <a:cubicBezTo>
                  <a:pt x="21470" y="4708"/>
                  <a:pt x="32837" y="0"/>
                  <a:pt x="44690" y="0"/>
                </a:cubicBezTo>
                <a:close/>
              </a:path>
            </a:pathLst>
          </a:custGeom>
          <a:solidFill>
            <a:srgbClr val="202127">
              <a:alpha val="97000"/>
            </a:srgbClr>
          </a:solidFill>
          <a:ln w="1905">
            <a:solidFill>
              <a:srgbClr val="00FFFF">
                <a:alpha val="76000"/>
              </a:srgbClr>
            </a:solidFill>
          </a:ln>
          <a:effectLst>
            <a:outerShdw blurRad="38100" dist="50800" algn="tl" rotWithShape="0">
              <a:srgbClr val="00FFFF">
                <a:alpha val="57000"/>
              </a:srgbClr>
            </a:outerShdw>
          </a:effectLst>
        </p:spPr>
        <p:txBody>
          <a:bodyPr/>
          <a:lstStyle/>
          <a:p>
            <a:endParaRPr lang="fa-IR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02B365F-422F-A7D6-BD60-CA3928E45851}"/>
              </a:ext>
            </a:extLst>
          </p:cNvPr>
          <p:cNvCxnSpPr>
            <a:cxnSpLocks/>
          </p:cNvCxnSpPr>
          <p:nvPr/>
        </p:nvCxnSpPr>
        <p:spPr>
          <a:xfrm>
            <a:off x="7010400" y="4000500"/>
            <a:ext cx="3062587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CF3CDB0-5E03-E145-C375-2FD339A3F42D}"/>
              </a:ext>
            </a:extLst>
          </p:cNvPr>
          <p:cNvSpPr txBox="1"/>
          <p:nvPr/>
        </p:nvSpPr>
        <p:spPr>
          <a:xfrm>
            <a:off x="6641900" y="3341335"/>
            <a:ext cx="34310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400" dirty="0">
                <a:solidFill>
                  <a:srgbClr val="22C4C9"/>
                </a:solidFill>
                <a:cs typeface="B Titr" panose="00000700000000000000" pitchFamily="2" charset="-78"/>
              </a:rPr>
              <a:t>بررسی </a:t>
            </a:r>
            <a:r>
              <a:rPr lang="en-US" sz="2400" b="1" dirty="0">
                <a:solidFill>
                  <a:srgbClr val="22C4C9"/>
                </a:solidFill>
                <a:cs typeface="B Titr" panose="00000700000000000000" pitchFamily="2" charset="-78"/>
              </a:rPr>
              <a:t>ARM</a:t>
            </a:r>
            <a:endParaRPr lang="fa-IR" sz="2400" b="1" dirty="0">
              <a:solidFill>
                <a:srgbClr val="22C4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607571-07FD-859F-B887-D821863C8A1A}"/>
              </a:ext>
            </a:extLst>
          </p:cNvPr>
          <p:cNvSpPr txBox="1"/>
          <p:nvPr/>
        </p:nvSpPr>
        <p:spPr>
          <a:xfrm>
            <a:off x="6641900" y="4154722"/>
            <a:ext cx="3677758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200000"/>
              </a:lnSpc>
            </a:pPr>
            <a:r>
              <a:rPr lang="fa-IR" sz="2400" b="1" dirty="0">
                <a:solidFill>
                  <a:srgbClr val="00FFFF"/>
                </a:solidFill>
                <a:cs typeface="B Nazanin" panose="00000400000000000000" pitchFamily="2" charset="-78"/>
              </a:rPr>
              <a:t>حذف </a:t>
            </a:r>
            <a:r>
              <a:rPr lang="en-US" sz="2400" b="1" dirty="0">
                <a:solidFill>
                  <a:srgbClr val="00FFFF"/>
                </a:solidFill>
                <a:cs typeface="B Nazanin" panose="00000400000000000000" pitchFamily="2" charset="-78"/>
              </a:rPr>
              <a:t>ARM</a:t>
            </a:r>
            <a:endParaRPr lang="fa-IR" sz="2400" b="1" dirty="0">
              <a:solidFill>
                <a:srgbClr val="00FFFF"/>
              </a:solidFill>
              <a:cs typeface="B Nazanin" panose="00000400000000000000" pitchFamily="2" charset="-78"/>
            </a:endParaRPr>
          </a:p>
          <a:p>
            <a:pPr algn="just" rtl="1">
              <a:lnSpc>
                <a:spcPct val="200000"/>
              </a:lnSpc>
            </a:pPr>
            <a:r>
              <a:rPr lang="fa-IR" sz="2400" b="1" dirty="0">
                <a:solidFill>
                  <a:schemeClr val="bg1"/>
                </a:solidFill>
                <a:cs typeface="B Nazanin" panose="00000400000000000000" pitchFamily="2" charset="-78"/>
              </a:rPr>
              <a:t>وقتی </a:t>
            </a:r>
            <a:r>
              <a:rPr lang="en-US" sz="2400" b="1" dirty="0">
                <a:solidFill>
                  <a:schemeClr val="bg1"/>
                </a:solidFill>
                <a:cs typeface="B Nazanin" panose="00000400000000000000" pitchFamily="2" charset="-78"/>
              </a:rPr>
              <a:t>ARM </a:t>
            </a:r>
            <a:r>
              <a:rPr lang="fa-IR" sz="2400" b="1" dirty="0">
                <a:solidFill>
                  <a:schemeClr val="bg1"/>
                </a:solidFill>
                <a:cs typeface="B Nazanin" panose="00000400000000000000" pitchFamily="2" charset="-78"/>
              </a:rPr>
              <a:t> حذف می‌شود:</a:t>
            </a:r>
          </a:p>
          <a:p>
            <a:pPr marL="342900" indent="-342900" algn="just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2400" b="1" dirty="0">
                <a:solidFill>
                  <a:srgbClr val="00FFFF"/>
                </a:solidFill>
                <a:cs typeface="B Nazanin" panose="00000400000000000000" pitchFamily="2" charset="-78"/>
              </a:rPr>
              <a:t> کیفیت بازسازی کاهش پیدا می‌کند.</a:t>
            </a:r>
          </a:p>
          <a:p>
            <a:pPr marL="342900" indent="-342900" algn="just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2400" b="1" dirty="0">
                <a:solidFill>
                  <a:srgbClr val="00FFFF"/>
                </a:solidFill>
                <a:cs typeface="B Nazanin" panose="00000400000000000000" pitchFamily="2" charset="-78"/>
              </a:rPr>
              <a:t> این نشان می‌دهد </a:t>
            </a:r>
            <a:r>
              <a:rPr lang="en-US" sz="2400" b="1" dirty="0">
                <a:solidFill>
                  <a:srgbClr val="00FFFF"/>
                </a:solidFill>
                <a:cs typeface="B Nazanin" panose="00000400000000000000" pitchFamily="2" charset="-78"/>
              </a:rPr>
              <a:t> ARM </a:t>
            </a:r>
            <a:r>
              <a:rPr lang="fa-IR" sz="2400" b="1" dirty="0">
                <a:solidFill>
                  <a:srgbClr val="00FFFF"/>
                </a:solidFill>
                <a:cs typeface="B Nazanin" panose="00000400000000000000" pitchFamily="2" charset="-78"/>
              </a:rPr>
              <a:t>واقعاً مؤثر است.</a:t>
            </a:r>
          </a:p>
        </p:txBody>
      </p:sp>
      <p:sp>
        <p:nvSpPr>
          <p:cNvPr id="27" name="Freeform 13">
            <a:extLst>
              <a:ext uri="{FF2B5EF4-FFF2-40B4-BE49-F238E27FC236}">
                <a16:creationId xmlns:a16="http://schemas.microsoft.com/office/drawing/2014/main" id="{DF8348BC-3340-C6F7-4F29-E71BE09DAD0D}"/>
              </a:ext>
            </a:extLst>
          </p:cNvPr>
          <p:cNvSpPr/>
          <p:nvPr/>
        </p:nvSpPr>
        <p:spPr>
          <a:xfrm>
            <a:off x="1107243" y="2984921"/>
            <a:ext cx="4518041" cy="6163191"/>
          </a:xfrm>
          <a:custGeom>
            <a:avLst/>
            <a:gdLst/>
            <a:ahLst/>
            <a:cxnLst/>
            <a:rect l="l" t="t" r="r" b="b"/>
            <a:pathLst>
              <a:path w="1733801" h="1189231">
                <a:moveTo>
                  <a:pt x="44690" y="0"/>
                </a:moveTo>
                <a:lnTo>
                  <a:pt x="1689111" y="0"/>
                </a:lnTo>
                <a:cubicBezTo>
                  <a:pt x="1713792" y="0"/>
                  <a:pt x="1733801" y="20008"/>
                  <a:pt x="1733801" y="44690"/>
                </a:cubicBezTo>
                <a:lnTo>
                  <a:pt x="1733801" y="1144541"/>
                </a:lnTo>
                <a:cubicBezTo>
                  <a:pt x="1733801" y="1156394"/>
                  <a:pt x="1729092" y="1167761"/>
                  <a:pt x="1720711" y="1176141"/>
                </a:cubicBezTo>
                <a:cubicBezTo>
                  <a:pt x="1712330" y="1184522"/>
                  <a:pt x="1700963" y="1189231"/>
                  <a:pt x="1689111" y="1189231"/>
                </a:cubicBezTo>
                <a:lnTo>
                  <a:pt x="44690" y="1189231"/>
                </a:lnTo>
                <a:cubicBezTo>
                  <a:pt x="32837" y="1189231"/>
                  <a:pt x="21470" y="1184522"/>
                  <a:pt x="13089" y="1176141"/>
                </a:cubicBezTo>
                <a:cubicBezTo>
                  <a:pt x="4708" y="1167761"/>
                  <a:pt x="0" y="1156394"/>
                  <a:pt x="0" y="1144541"/>
                </a:cubicBezTo>
                <a:lnTo>
                  <a:pt x="0" y="44690"/>
                </a:lnTo>
                <a:cubicBezTo>
                  <a:pt x="0" y="32837"/>
                  <a:pt x="4708" y="21470"/>
                  <a:pt x="13089" y="13089"/>
                </a:cubicBezTo>
                <a:cubicBezTo>
                  <a:pt x="21470" y="4708"/>
                  <a:pt x="32837" y="0"/>
                  <a:pt x="44690" y="0"/>
                </a:cubicBezTo>
                <a:close/>
              </a:path>
            </a:pathLst>
          </a:custGeom>
          <a:solidFill>
            <a:srgbClr val="202127">
              <a:alpha val="97000"/>
            </a:srgbClr>
          </a:solidFill>
          <a:ln w="1905">
            <a:solidFill>
              <a:srgbClr val="00FFFF">
                <a:alpha val="76000"/>
              </a:srgbClr>
            </a:solidFill>
          </a:ln>
          <a:effectLst>
            <a:outerShdw blurRad="38100" dist="50800" algn="tl" rotWithShape="0">
              <a:srgbClr val="00FFFF">
                <a:alpha val="57000"/>
              </a:srgbClr>
            </a:outerShdw>
          </a:effectLst>
        </p:spPr>
        <p:txBody>
          <a:bodyPr/>
          <a:lstStyle/>
          <a:p>
            <a:endParaRPr lang="fa-IR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0887D46-B430-A04B-5C6F-4288B8D55495}"/>
              </a:ext>
            </a:extLst>
          </p:cNvPr>
          <p:cNvCxnSpPr>
            <a:cxnSpLocks/>
          </p:cNvCxnSpPr>
          <p:nvPr/>
        </p:nvCxnSpPr>
        <p:spPr>
          <a:xfrm>
            <a:off x="1968110" y="3966517"/>
            <a:ext cx="3062587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91CE630-F6A4-DCAB-D49E-53C7B1432065}"/>
              </a:ext>
            </a:extLst>
          </p:cNvPr>
          <p:cNvSpPr txBox="1"/>
          <p:nvPr/>
        </p:nvSpPr>
        <p:spPr>
          <a:xfrm>
            <a:off x="1599610" y="3307352"/>
            <a:ext cx="34310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400" dirty="0">
                <a:solidFill>
                  <a:srgbClr val="22C4C9"/>
                </a:solidFill>
                <a:cs typeface="B Titr" panose="00000700000000000000" pitchFamily="2" charset="-78"/>
              </a:rPr>
              <a:t>بررسی </a:t>
            </a:r>
            <a:r>
              <a:rPr lang="en-US" sz="2400" b="1" dirty="0">
                <a:solidFill>
                  <a:srgbClr val="22C4C9"/>
                </a:solidFill>
                <a:cs typeface="B Titr" panose="00000700000000000000" pitchFamily="2" charset="-78"/>
              </a:rPr>
              <a:t>IGRA</a:t>
            </a:r>
            <a:endParaRPr lang="fa-IR" sz="2400" b="1" dirty="0">
              <a:solidFill>
                <a:srgbClr val="22C4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CE6696-5EC6-8D8A-22F0-AC7C3E9C1C99}"/>
              </a:ext>
            </a:extLst>
          </p:cNvPr>
          <p:cNvSpPr txBox="1"/>
          <p:nvPr/>
        </p:nvSpPr>
        <p:spPr>
          <a:xfrm>
            <a:off x="1599610" y="4120739"/>
            <a:ext cx="367775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200000"/>
              </a:lnSpc>
            </a:pPr>
            <a:r>
              <a:rPr lang="fa-IR" sz="2400" b="1" dirty="0">
                <a:solidFill>
                  <a:srgbClr val="00FFFF"/>
                </a:solidFill>
                <a:cs typeface="B Nazanin" panose="00000400000000000000" pitchFamily="2" charset="-78"/>
              </a:rPr>
              <a:t>حذف </a:t>
            </a:r>
            <a:r>
              <a:rPr lang="en-US" sz="2400" b="1" dirty="0">
                <a:solidFill>
                  <a:srgbClr val="00FFFF"/>
                </a:solidFill>
                <a:cs typeface="B Nazanin" panose="00000400000000000000" pitchFamily="2" charset="-78"/>
              </a:rPr>
              <a:t>IGRA</a:t>
            </a:r>
            <a:endParaRPr lang="fa-IR" sz="2400" b="1" dirty="0">
              <a:solidFill>
                <a:srgbClr val="00FFFF"/>
              </a:solidFill>
              <a:cs typeface="B Nazanin" panose="00000400000000000000" pitchFamily="2" charset="-78"/>
            </a:endParaRPr>
          </a:p>
          <a:p>
            <a:pPr algn="just" rtl="1">
              <a:lnSpc>
                <a:spcPct val="200000"/>
              </a:lnSpc>
            </a:pPr>
            <a:r>
              <a:rPr lang="fa-IR" sz="2400" b="1" dirty="0">
                <a:solidFill>
                  <a:schemeClr val="bg1"/>
                </a:solidFill>
                <a:cs typeface="B Nazanin" panose="00000400000000000000" pitchFamily="2" charset="-78"/>
              </a:rPr>
              <a:t>وقتی </a:t>
            </a:r>
            <a:r>
              <a:rPr lang="en-US" sz="2400" b="1" dirty="0">
                <a:solidFill>
                  <a:schemeClr val="bg1"/>
                </a:solidFill>
                <a:cs typeface="B Nazanin" panose="00000400000000000000" pitchFamily="2" charset="-78"/>
              </a:rPr>
              <a:t> IGRA </a:t>
            </a:r>
            <a:r>
              <a:rPr lang="fa-IR" sz="2400" b="1" dirty="0">
                <a:solidFill>
                  <a:schemeClr val="bg1"/>
                </a:solidFill>
                <a:cs typeface="B Nazanin" panose="00000400000000000000" pitchFamily="2" charset="-78"/>
              </a:rPr>
              <a:t>حذف می‌شود:</a:t>
            </a:r>
          </a:p>
          <a:p>
            <a:pPr marL="342900" indent="-342900" algn="just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2400" b="1" dirty="0">
                <a:solidFill>
                  <a:srgbClr val="00FFFF"/>
                </a:solidFill>
                <a:cs typeface="B Nazanin" panose="00000400000000000000" pitchFamily="2" charset="-78"/>
              </a:rPr>
              <a:t> هزینه محاسباتی افزایش پیدا می‌کند و بخشی از مزیت روش از بین می‌رود.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26D67A-EBC1-CD47-3653-89B16D31E514}"/>
              </a:ext>
            </a:extLst>
          </p:cNvPr>
          <p:cNvSpPr txBox="1"/>
          <p:nvPr/>
        </p:nvSpPr>
        <p:spPr>
          <a:xfrm>
            <a:off x="14325600" y="327297"/>
            <a:ext cx="28194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ptos" panose="02110004020202020204"/>
                <a:cs typeface="B Titr" panose="00000700000000000000" pitchFamily="2" charset="-78"/>
              </a:rPr>
              <a:t>Efficient S</a:t>
            </a:r>
            <a:r>
              <a:rPr lang="en-US" sz="1600" b="1" dirty="0">
                <a:solidFill>
                  <a:srgbClr val="22C4C9"/>
                </a:solidFill>
                <a:latin typeface=" "/>
                <a:cs typeface="B Titr" panose="00000700000000000000" pitchFamily="2" charset="-78"/>
              </a:rPr>
              <a:t>uper-Resolution</a:t>
            </a:r>
            <a:endParaRPr lang="fa-IR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29E7406-D330-086D-0B98-1DBA79B83051}"/>
              </a:ext>
            </a:extLst>
          </p:cNvPr>
          <p:cNvSpPr txBox="1"/>
          <p:nvPr/>
        </p:nvSpPr>
        <p:spPr>
          <a:xfrm>
            <a:off x="1295400" y="395198"/>
            <a:ext cx="15240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b="1" dirty="0" err="1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IAFMNet</a:t>
            </a:r>
            <a:endParaRPr lang="fa-IR" b="1" dirty="0">
              <a:solidFill>
                <a:srgbClr val="22C4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B227CF-0179-4BDE-E380-C2FC8BA0390F}"/>
              </a:ext>
            </a:extLst>
          </p:cNvPr>
          <p:cNvSpPr txBox="1"/>
          <p:nvPr/>
        </p:nvSpPr>
        <p:spPr>
          <a:xfrm>
            <a:off x="1257300" y="9693409"/>
            <a:ext cx="14820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Xu, J., Liu, M., Wang, Z., Wu, F., Wu, S., Huang, T., &amp; Dong, W. (2026). </a:t>
            </a:r>
            <a:r>
              <a:rPr lang="en-US" sz="12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IAFMNet</a:t>
            </a:r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Information-Aware Feature Modulation for Efficient Super-Resolution. In Proceedings of the IEEE/CVF Conference on Computer Vision and Pattern Recognition (pp. 30564-30573).</a:t>
            </a:r>
            <a:endParaRPr lang="fa-IR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038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54083BA-83B3-8E28-49D1-3D0B25D3EB98}"/>
              </a:ext>
            </a:extLst>
          </p:cNvPr>
          <p:cNvSpPr/>
          <p:nvPr/>
        </p:nvSpPr>
        <p:spPr>
          <a:xfrm>
            <a:off x="1257300" y="3174259"/>
            <a:ext cx="4858335" cy="5894857"/>
          </a:xfrm>
          <a:prstGeom prst="roundRect">
            <a:avLst>
              <a:gd name="adj" fmla="val 10713"/>
            </a:avLst>
          </a:prstGeom>
          <a:solidFill>
            <a:srgbClr val="85FFFF">
              <a:alpha val="1000"/>
            </a:srgbClr>
          </a:solidFill>
          <a:ln w="6350" cap="rnd">
            <a:solidFill>
              <a:srgbClr val="22C4C9">
                <a:alpha val="31000"/>
              </a:srgbClr>
            </a:solidFill>
            <a:prstDash val="solid"/>
            <a:round/>
          </a:ln>
          <a:effectLst>
            <a:glow rad="25400">
              <a:schemeClr val="accent5">
                <a:satMod val="175000"/>
                <a:alpha val="8000"/>
              </a:schemeClr>
            </a:glow>
          </a:effectLst>
        </p:spPr>
        <p:txBody>
          <a:bodyPr rtlCol="1" anchor="ctr"/>
          <a:lstStyle/>
          <a:p>
            <a:pPr algn="ctr"/>
            <a:endParaRPr lang="fa-IR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D988BD6-DCD7-286B-5B4A-3F444FB24339}"/>
              </a:ext>
            </a:extLst>
          </p:cNvPr>
          <p:cNvSpPr/>
          <p:nvPr/>
        </p:nvSpPr>
        <p:spPr>
          <a:xfrm>
            <a:off x="6668673" y="3164775"/>
            <a:ext cx="4539838" cy="5904341"/>
          </a:xfrm>
          <a:prstGeom prst="roundRect">
            <a:avLst>
              <a:gd name="adj" fmla="val 10713"/>
            </a:avLst>
          </a:prstGeom>
          <a:solidFill>
            <a:srgbClr val="85FFFF">
              <a:alpha val="1000"/>
            </a:srgbClr>
          </a:solidFill>
          <a:ln w="6350" cap="rnd">
            <a:solidFill>
              <a:srgbClr val="22C4C9">
                <a:alpha val="31000"/>
              </a:srgbClr>
            </a:solidFill>
            <a:prstDash val="solid"/>
            <a:round/>
          </a:ln>
          <a:effectLst>
            <a:glow rad="25400">
              <a:schemeClr val="accent5">
                <a:satMod val="175000"/>
                <a:alpha val="8000"/>
              </a:schemeClr>
            </a:glow>
          </a:effectLst>
        </p:spPr>
        <p:txBody>
          <a:bodyPr rtlCol="1" anchor="ctr"/>
          <a:lstStyle/>
          <a:p>
            <a:pPr algn="ctr"/>
            <a:endParaRPr lang="fa-IR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69E67E7-0E30-D907-ECF3-1075ABB17AAA}"/>
              </a:ext>
            </a:extLst>
          </p:cNvPr>
          <p:cNvSpPr/>
          <p:nvPr/>
        </p:nvSpPr>
        <p:spPr>
          <a:xfrm>
            <a:off x="11668076" y="3174259"/>
            <a:ext cx="4967532" cy="5904341"/>
          </a:xfrm>
          <a:prstGeom prst="roundRect">
            <a:avLst>
              <a:gd name="adj" fmla="val 10713"/>
            </a:avLst>
          </a:prstGeom>
          <a:solidFill>
            <a:srgbClr val="85FFFF">
              <a:alpha val="1000"/>
            </a:srgbClr>
          </a:solidFill>
          <a:ln w="6350" cap="rnd">
            <a:solidFill>
              <a:srgbClr val="22C4C9">
                <a:alpha val="31000"/>
              </a:srgbClr>
            </a:solidFill>
            <a:prstDash val="solid"/>
            <a:round/>
          </a:ln>
          <a:effectLst>
            <a:glow rad="25400">
              <a:schemeClr val="accent5">
                <a:satMod val="175000"/>
                <a:alpha val="8000"/>
              </a:schemeClr>
            </a:glow>
          </a:effectLst>
        </p:spPr>
        <p:txBody>
          <a:bodyPr rtlCol="1" anchor="ctr"/>
          <a:lstStyle/>
          <a:p>
            <a:pPr algn="ctr"/>
            <a:endParaRPr lang="fa-IR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7EF7B0-CEE8-ED28-9CAC-0C277CABC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9"/>
          <a:stretch/>
        </p:blipFill>
        <p:spPr>
          <a:xfrm>
            <a:off x="17221200" y="0"/>
            <a:ext cx="1066800" cy="1283967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FDCEF9E-52AA-E645-60A9-FBCE77C2BEC2}"/>
              </a:ext>
            </a:extLst>
          </p:cNvPr>
          <p:cNvCxnSpPr/>
          <p:nvPr/>
        </p:nvCxnSpPr>
        <p:spPr>
          <a:xfrm>
            <a:off x="1295400" y="800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EDC9040-0519-41E7-76B2-7E99F5C2942B}"/>
              </a:ext>
            </a:extLst>
          </p:cNvPr>
          <p:cNvSpPr txBox="1"/>
          <p:nvPr/>
        </p:nvSpPr>
        <p:spPr>
          <a:xfrm>
            <a:off x="16635608" y="9639300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dirty="0">
                <a:solidFill>
                  <a:srgbClr val="66FCF1"/>
                </a:solidFill>
                <a:latin typeface="Inter"/>
              </a:rPr>
              <a:t>19</a:t>
            </a:r>
            <a:endParaRPr lang="fa-I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3ACBAD-6D72-65E8-61AA-AFA75D4A278F}"/>
              </a:ext>
            </a:extLst>
          </p:cNvPr>
          <p:cNvSpPr txBox="1"/>
          <p:nvPr/>
        </p:nvSpPr>
        <p:spPr>
          <a:xfrm>
            <a:off x="16176042" y="9648785"/>
            <a:ext cx="585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66FCF1"/>
                </a:solidFill>
                <a:effectLst/>
                <a:latin typeface="Inter"/>
              </a:rPr>
              <a:t>/ 19</a:t>
            </a:r>
            <a:endParaRPr lang="fa-I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5D0D17-85B0-462D-01C6-B3B2C5D55AB2}"/>
              </a:ext>
            </a:extLst>
          </p:cNvPr>
          <p:cNvSpPr txBox="1"/>
          <p:nvPr/>
        </p:nvSpPr>
        <p:spPr>
          <a:xfrm>
            <a:off x="11506200" y="2095500"/>
            <a:ext cx="5715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3200" dirty="0">
                <a:solidFill>
                  <a:schemeClr val="bg1"/>
                </a:solidFill>
                <a:cs typeface="B Titr" panose="00000700000000000000" pitchFamily="2" charset="-78"/>
              </a:rPr>
              <a:t>جمع‌بندی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DF0114-B897-2CAC-C928-A8332B2C4A44}"/>
              </a:ext>
            </a:extLst>
          </p:cNvPr>
          <p:cNvSpPr txBox="1"/>
          <p:nvPr/>
        </p:nvSpPr>
        <p:spPr>
          <a:xfrm>
            <a:off x="12014546" y="3975674"/>
            <a:ext cx="4161496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می‌توان به جای افزایش مداوم اندازه شبکه، از </a:t>
            </a:r>
            <a:r>
              <a:rPr kumimoji="0" lang="fa-IR" sz="2000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Noto Sans Arabic"/>
                <a:cs typeface="B Titr" panose="00000700000000000000" pitchFamily="2" charset="-78"/>
              </a:rPr>
              <a:t>اطلاعات موجود </a:t>
            </a:r>
            <a:r>
              <a:rPr kumimoji="0" lang="fa-IR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در تصویر برای تخصیص هوشمند منابع محاسباتی استفاده کرد.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4D2060C-2AAC-0222-0862-58BA0826A163}"/>
              </a:ext>
            </a:extLst>
          </p:cNvPr>
          <p:cNvCxnSpPr>
            <a:cxnSpLocks/>
          </p:cNvCxnSpPr>
          <p:nvPr/>
        </p:nvCxnSpPr>
        <p:spPr>
          <a:xfrm flipV="1">
            <a:off x="11430000" y="5984405"/>
            <a:ext cx="0" cy="319778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AFCF073-146C-A51A-80B7-F70DBFC3DC56}"/>
              </a:ext>
            </a:extLst>
          </p:cNvPr>
          <p:cNvSpPr txBox="1"/>
          <p:nvPr/>
        </p:nvSpPr>
        <p:spPr>
          <a:xfrm>
            <a:off x="6980779" y="3861981"/>
            <a:ext cx="3756848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i="0" u="none" strike="noStrike" kern="1200" cap="none" spc="0" normalizeH="0" baseline="0" noProof="0" dirty="0">
                <a:ln>
                  <a:noFill/>
                </a:ln>
                <a:solidFill>
                  <a:srgbClr val="66FCF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این نقشه در دو بخش مختلف شبکه استفاده می‌شود: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8650E7-DFF6-A298-7A12-6ACBD2EC4892}"/>
              </a:ext>
            </a:extLst>
          </p:cNvPr>
          <p:cNvSpPr txBox="1"/>
          <p:nvPr/>
        </p:nvSpPr>
        <p:spPr>
          <a:xfrm>
            <a:off x="1652392" y="3975674"/>
            <a:ext cx="4108871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نتایج تجربی نیز نشان می‌دهد که</a:t>
            </a:r>
          </a:p>
          <a:p>
            <a:pPr marL="0" marR="0" lvl="0" indent="0" algn="ct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 این راهکار توانسته با </a:t>
            </a:r>
            <a:r>
              <a:rPr kumimoji="0" lang="fa-IR" sz="2000" b="1" i="0" u="sng" strike="noStrike" kern="1200" cap="none" spc="0" normalizeH="0" baseline="0" noProof="0" dirty="0">
                <a:ln>
                  <a:noFill/>
                </a:ln>
                <a:solidFill>
                  <a:srgbClr val="188D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Noto Sans Arabic"/>
                <a:cs typeface="B Titr" panose="00000700000000000000" pitchFamily="2" charset="-78"/>
              </a:rPr>
              <a:t>تعداد پارامتر و هزینه محاسباتی کمتر، عملکردی رقابتی </a:t>
            </a:r>
            <a:r>
              <a:rPr kumimoji="0" lang="fa-IR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و در برخی موارد بهتر از روش‌های مرجع ارائه دهد.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8D0FA82-020A-D208-3C79-758242DCD92C}"/>
              </a:ext>
            </a:extLst>
          </p:cNvPr>
          <p:cNvCxnSpPr>
            <a:cxnSpLocks/>
          </p:cNvCxnSpPr>
          <p:nvPr/>
        </p:nvCxnSpPr>
        <p:spPr>
          <a:xfrm flipV="1">
            <a:off x="6400800" y="5944916"/>
            <a:ext cx="0" cy="319778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D4CF8E9-38F3-37DB-F404-5F29A194543A}"/>
              </a:ext>
            </a:extLst>
          </p:cNvPr>
          <p:cNvCxnSpPr/>
          <p:nvPr/>
        </p:nvCxnSpPr>
        <p:spPr>
          <a:xfrm>
            <a:off x="1257300" y="9563100"/>
            <a:ext cx="15773400" cy="0"/>
          </a:xfrm>
          <a:prstGeom prst="line">
            <a:avLst/>
          </a:prstGeom>
          <a:ln w="3175"/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71EFFA9-4C27-0CA9-F873-748E9999123E}"/>
              </a:ext>
            </a:extLst>
          </p:cNvPr>
          <p:cNvSpPr txBox="1"/>
          <p:nvPr/>
        </p:nvSpPr>
        <p:spPr>
          <a:xfrm>
            <a:off x="12014546" y="6144440"/>
            <a:ext cx="4161496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نوآوری اصلی مقاله تولید یک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Noto Sans Arabic"/>
                <a:cs typeface="B Titr" panose="00000700000000000000" pitchFamily="2" charset="-78"/>
              </a:rPr>
              <a:t>Information Density Map </a:t>
            </a:r>
            <a:r>
              <a:rPr kumimoji="0" lang="fa-IR" sz="2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Noto Sans Arabic"/>
                <a:cs typeface="B Titr" panose="00000700000000000000" pitchFamily="2" charset="-78"/>
              </a:rPr>
              <a:t> </a:t>
            </a:r>
            <a:r>
              <a:rPr kumimoji="0" lang="fa-IR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به صورت بدون نظارت است که مشخص می‌کند </a:t>
            </a:r>
            <a:r>
              <a:rPr kumimoji="0" lang="fa-IR" sz="200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کدام نواحی تصویر اطلاعات بیشتری</a:t>
            </a:r>
            <a:r>
              <a:rPr kumimoji="0" lang="fa-IR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 دارند.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28F257-FA41-BB55-AAE9-F68A8611A27F}"/>
              </a:ext>
            </a:extLst>
          </p:cNvPr>
          <p:cNvSpPr txBox="1"/>
          <p:nvPr/>
        </p:nvSpPr>
        <p:spPr>
          <a:xfrm>
            <a:off x="6953839" y="5282665"/>
            <a:ext cx="3756848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در</a:t>
            </a:r>
            <a:r>
              <a:rPr kumimoji="0" lang="fa-IR" sz="2000" i="0" u="none" strike="noStrike" kern="1200" cap="none" spc="0" normalizeH="0" baseline="0" noProof="0" dirty="0">
                <a:ln>
                  <a:noFill/>
                </a:ln>
                <a:solidFill>
                  <a:srgbClr val="66FCF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FC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Noto Sans Arabic"/>
                <a:cs typeface="B Titr" panose="00000700000000000000" pitchFamily="2" charset="-78"/>
              </a:rPr>
              <a:t>IGRA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66FCF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 </a:t>
            </a:r>
            <a:r>
              <a:rPr kumimoji="0" lang="fa-IR" sz="2000" i="0" u="none" strike="noStrike" kern="1200" cap="none" spc="0" normalizeH="0" baseline="0" noProof="0" dirty="0">
                <a:ln>
                  <a:noFill/>
                </a:ln>
                <a:solidFill>
                  <a:srgbClr val="66FCF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 </a:t>
            </a:r>
          </a:p>
          <a:p>
            <a:pPr marL="0" marR="0" lvl="0" indent="0" algn="ct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برای انتخاب نواحی مهم جهت انجام کانولوشن اسپارس و</a:t>
            </a:r>
          </a:p>
          <a:p>
            <a:pPr marL="0" marR="0" lvl="0" indent="0" algn="ct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i="0" u="none" strike="noStrike" kern="1200" cap="none" spc="0" normalizeH="0" baseline="0" noProof="0" dirty="0">
                <a:ln>
                  <a:noFill/>
                </a:ln>
                <a:solidFill>
                  <a:srgbClr val="66FCF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 </a:t>
            </a:r>
            <a:r>
              <a:rPr kumimoji="0" lang="fa-IR" sz="20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در</a:t>
            </a:r>
            <a:r>
              <a:rPr kumimoji="0" lang="fa-IR" sz="2000" i="0" u="none" strike="noStrike" kern="1200" cap="none" spc="0" normalizeH="0" baseline="0" noProof="0" dirty="0">
                <a:ln>
                  <a:noFill/>
                </a:ln>
                <a:solidFill>
                  <a:srgbClr val="66FCF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FC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Noto Sans Arabic"/>
                <a:cs typeface="B Titr" panose="00000700000000000000" pitchFamily="2" charset="-78"/>
              </a:rPr>
              <a:t>ARM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66FCF1"/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 </a:t>
            </a:r>
            <a:endParaRPr kumimoji="0" lang="fa-IR" sz="2000" i="0" u="none" strike="noStrike" kern="1200" cap="none" spc="0" normalizeH="0" baseline="0" noProof="0" dirty="0">
              <a:ln>
                <a:noFill/>
              </a:ln>
              <a:solidFill>
                <a:srgbClr val="66FCF1"/>
              </a:solidFill>
              <a:effectLst/>
              <a:uLnTx/>
              <a:uFillTx/>
              <a:latin typeface="Noto Sans Arabic"/>
              <a:cs typeface="B Titr" panose="00000700000000000000" pitchFamily="2" charset="-78"/>
            </a:endParaRPr>
          </a:p>
          <a:p>
            <a:pPr marL="0" marR="0" lvl="0" indent="0" algn="ctr" defTabSz="914400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0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Noto Sans Arabic"/>
                <a:cs typeface="B Titr" panose="00000700000000000000" pitchFamily="2" charset="-78"/>
              </a:rPr>
              <a:t>برای تعدیل تطبیقی ویژگی‌ها.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5DB10D-266F-FDED-1E11-E2FB665BD96C}"/>
              </a:ext>
            </a:extLst>
          </p:cNvPr>
          <p:cNvSpPr txBox="1"/>
          <p:nvPr/>
        </p:nvSpPr>
        <p:spPr>
          <a:xfrm>
            <a:off x="14325600" y="327297"/>
            <a:ext cx="28194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Aptos" panose="02110004020202020204"/>
                <a:cs typeface="B Titr" panose="00000700000000000000" pitchFamily="2" charset="-78"/>
              </a:rPr>
              <a:t>Efficient S</a:t>
            </a:r>
            <a:r>
              <a:rPr lang="en-US" sz="1600" b="1" dirty="0">
                <a:solidFill>
                  <a:srgbClr val="22C4C9"/>
                </a:solidFill>
                <a:latin typeface=" "/>
                <a:cs typeface="B Titr" panose="00000700000000000000" pitchFamily="2" charset="-78"/>
              </a:rPr>
              <a:t>uper-Resolution</a:t>
            </a:r>
            <a:endParaRPr lang="fa-IR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9F0201-905E-7E48-A1D1-A22EF2226B54}"/>
              </a:ext>
            </a:extLst>
          </p:cNvPr>
          <p:cNvSpPr txBox="1"/>
          <p:nvPr/>
        </p:nvSpPr>
        <p:spPr>
          <a:xfrm>
            <a:off x="1295400" y="395198"/>
            <a:ext cx="15240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b="1" dirty="0" err="1">
                <a:solidFill>
                  <a:srgbClr val="22C4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IAFMNet</a:t>
            </a:r>
            <a:endParaRPr lang="fa-IR" b="1" dirty="0">
              <a:solidFill>
                <a:srgbClr val="22C4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613F41-645F-4DA7-95FB-7891DA687704}"/>
              </a:ext>
            </a:extLst>
          </p:cNvPr>
          <p:cNvSpPr txBox="1"/>
          <p:nvPr/>
        </p:nvSpPr>
        <p:spPr>
          <a:xfrm>
            <a:off x="1257300" y="9693409"/>
            <a:ext cx="14820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Xu, J., Liu, M., Wang, Z., Wu, F., Wu, S., Huang, T., &amp; Dong, W. (2026). </a:t>
            </a:r>
            <a:r>
              <a:rPr lang="en-US" sz="12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IAFMNet</a:t>
            </a:r>
            <a:r>
              <a:rPr lang="en-US" sz="1200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Information-Aware Feature Modulation for Efficient Super-Resolution. In Proceedings of the IEEE/CVF Conference on Computer Vision and Pattern Recognition (pp. 30564-30573).</a:t>
            </a:r>
            <a:endParaRPr lang="fa-IR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290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A80E02-67F5-18E9-53F2-DBEF81EB22A8}"/>
              </a:ext>
            </a:extLst>
          </p:cNvPr>
          <p:cNvSpPr txBox="1"/>
          <p:nvPr/>
        </p:nvSpPr>
        <p:spPr>
          <a:xfrm>
            <a:off x="4572000" y="4305300"/>
            <a:ext cx="91440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200000"/>
              </a:lnSpc>
            </a:pPr>
            <a:r>
              <a:rPr lang="fa-IR" sz="4000" dirty="0">
                <a:solidFill>
                  <a:srgbClr val="00FFFF"/>
                </a:solidFill>
                <a:cs typeface="B Titr" panose="00000700000000000000" pitchFamily="2" charset="-78"/>
              </a:rPr>
              <a:t>با تشکر از توجه شما</a:t>
            </a:r>
          </a:p>
          <a:p>
            <a:pPr algn="ctr" rtl="1">
              <a:lnSpc>
                <a:spcPct val="200000"/>
              </a:lnSpc>
            </a:pPr>
            <a:r>
              <a:rPr lang="fa-IR" sz="4000" dirty="0">
                <a:solidFill>
                  <a:srgbClr val="00FFFF"/>
                </a:solidFill>
                <a:cs typeface="B Titr" panose="00000700000000000000" pitchFamily="2" charset="-78"/>
              </a:rPr>
              <a:t>پرسش و پاسخ</a:t>
            </a:r>
            <a:endParaRPr lang="en-US" sz="4000" dirty="0">
              <a:solidFill>
                <a:srgbClr val="00FFFF"/>
              </a:solidFill>
              <a:cs typeface="B Titr" panose="00000700000000000000" pitchFamily="2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42FBEE-BC55-F077-28CC-B0810931535B}"/>
              </a:ext>
            </a:extLst>
          </p:cNvPr>
          <p:cNvCxnSpPr>
            <a:cxnSpLocks/>
          </p:cNvCxnSpPr>
          <p:nvPr/>
        </p:nvCxnSpPr>
        <p:spPr>
          <a:xfrm>
            <a:off x="838200" y="1638300"/>
            <a:ext cx="7086600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9EF082-C2F4-1AF5-7DBF-6797C801FFD8}"/>
              </a:ext>
            </a:extLst>
          </p:cNvPr>
          <p:cNvCxnSpPr>
            <a:cxnSpLocks/>
          </p:cNvCxnSpPr>
          <p:nvPr/>
        </p:nvCxnSpPr>
        <p:spPr>
          <a:xfrm>
            <a:off x="10172700" y="1638300"/>
            <a:ext cx="7086600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781ED0D-B86A-5786-FAFC-F2D9993640B3}"/>
              </a:ext>
            </a:extLst>
          </p:cNvPr>
          <p:cNvSpPr/>
          <p:nvPr/>
        </p:nvSpPr>
        <p:spPr>
          <a:xfrm>
            <a:off x="838200" y="1790700"/>
            <a:ext cx="16535400" cy="7848599"/>
          </a:xfrm>
          <a:prstGeom prst="roundRect">
            <a:avLst>
              <a:gd name="adj" fmla="val 1887"/>
            </a:avLst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87FF647-809F-6115-E80F-8C473630EF2A}"/>
              </a:ext>
            </a:extLst>
          </p:cNvPr>
          <p:cNvCxnSpPr>
            <a:cxnSpLocks/>
          </p:cNvCxnSpPr>
          <p:nvPr/>
        </p:nvCxnSpPr>
        <p:spPr>
          <a:xfrm>
            <a:off x="7239000" y="1790700"/>
            <a:ext cx="3202675" cy="0"/>
          </a:xfrm>
          <a:prstGeom prst="line">
            <a:avLst/>
          </a:prstGeom>
          <a:ln>
            <a:solidFill>
              <a:srgbClr val="141519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3F1F27E-8283-53D3-6635-40164FE1E2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440" y="190500"/>
            <a:ext cx="2713793" cy="256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831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3614</TotalTime>
  <Words>2615</Words>
  <Application>Microsoft Office PowerPoint</Application>
  <PresentationFormat>Custom</PresentationFormat>
  <Paragraphs>304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 </vt:lpstr>
      <vt:lpstr>Aptos</vt:lpstr>
      <vt:lpstr>Arial</vt:lpstr>
      <vt:lpstr>Arial MT Pro Bold</vt:lpstr>
      <vt:lpstr>B Nazanin</vt:lpstr>
      <vt:lpstr>B Titr</vt:lpstr>
      <vt:lpstr>Calibri</vt:lpstr>
      <vt:lpstr>Inter</vt:lpstr>
      <vt:lpstr>Montserrat</vt:lpstr>
      <vt:lpstr>Montserrat Bold</vt:lpstr>
      <vt:lpstr>Noto Sans Arabic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mahbubeh karimi</cp:lastModifiedBy>
  <cp:revision>338</cp:revision>
  <dcterms:created xsi:type="dcterms:W3CDTF">2006-08-16T00:00:00Z</dcterms:created>
  <dcterms:modified xsi:type="dcterms:W3CDTF">2026-07-31T20:39:01Z</dcterms:modified>
  <dc:identifier>DAHLmfp7VQY</dc:identifier>
</cp:coreProperties>
</file>